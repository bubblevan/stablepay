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5">
  <p:sldMasterIdLst>
    <p:sldMasterId id="2147483648" r:id="rId1"/>
    <p:sldMasterId id="2147483676" r:id="rId2"/>
  </p:sldMasterIdLst>
  <p:notesMasterIdLst>
    <p:notesMasterId r:id="rId23"/>
  </p:notesMasterIdLst>
  <p:sldIdLst>
    <p:sldId id="259" r:id="rId3"/>
    <p:sldId id="1799" r:id="rId4"/>
    <p:sldId id="333" r:id="rId5"/>
    <p:sldId id="1798" r:id="rId6"/>
    <p:sldId id="1801" r:id="rId7"/>
    <p:sldId id="1789" r:id="rId8"/>
    <p:sldId id="1782" r:id="rId9"/>
    <p:sldId id="1803" r:id="rId10"/>
    <p:sldId id="1804" r:id="rId11"/>
    <p:sldId id="1805" r:id="rId12"/>
    <p:sldId id="1806" r:id="rId13"/>
    <p:sldId id="1807" r:id="rId14"/>
    <p:sldId id="1808" r:id="rId15"/>
    <p:sldId id="1809" r:id="rId16"/>
    <p:sldId id="1810" r:id="rId17"/>
    <p:sldId id="1811" r:id="rId18"/>
    <p:sldId id="1812" r:id="rId19"/>
    <p:sldId id="1813" r:id="rId20"/>
    <p:sldId id="1814" r:id="rId21"/>
    <p:sldId id="1815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2" userDrawn="1">
          <p15:clr>
            <a:srgbClr val="A4A3A4"/>
          </p15:clr>
        </p15:guide>
        <p15:guide id="2" pos="69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 Biyan" initials="GB" lastIdx="1" clrIdx="0"/>
  <p:cmAuthor id="2" name="WPS" initials="W" lastIdx="0" clrIdx="1"/>
  <p:cmAuthor id="3" name="作者" initials="A" lastIdx="0" clrIdx="2"/>
  <p:cmAuthor id="4" name="WPS_1679281038" initials="W" lastIdx="0" clrIdx="3"/>
  <p:cmAuthor id="5" name="路 子豪" initials="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2300"/>
    <a:srgbClr val="F84D4D"/>
    <a:srgbClr val="035D4D"/>
    <a:srgbClr val="CEE6C0"/>
    <a:srgbClr val="262626"/>
    <a:srgbClr val="A02300"/>
    <a:srgbClr val="02468E"/>
    <a:srgbClr val="C82B00"/>
    <a:srgbClr val="FA6666"/>
    <a:srgbClr val="F9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85446" autoAdjust="0"/>
  </p:normalViewPr>
  <p:slideViewPr>
    <p:cSldViewPr snapToGrid="0" showGuides="1">
      <p:cViewPr>
        <p:scale>
          <a:sx n="75" d="100"/>
          <a:sy n="75" d="100"/>
        </p:scale>
        <p:origin x="747" y="233"/>
      </p:cViewPr>
      <p:guideLst>
        <p:guide orient="horz" pos="3372"/>
        <p:guide pos="6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4FDE9-8F51-4230-A725-30CE20208BF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3777-BDB0-4081-B476-439F93D399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我的汇报主要分为四部分：研究背景、技术方案、结果分析以及结论与展望。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D7C0-D2EC-4F78-A71F-0993C46EB1B1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4D2D-2CA3-4DA2-960D-ACCD54CD11B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43FC-A3D2-4518-BE7A-C3F813165DC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7724-71C7-4D24-A8B2-7B1AB51B0FB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6820-6768-483F-A616-75E641EEA21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EF73-CE81-465E-A193-2D15779B4B9A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" name="TextBox 7"/>
          <p:cNvSpPr txBox="1"/>
          <p:nvPr userDrawn="1"/>
        </p:nvSpPr>
        <p:spPr>
          <a:xfrm>
            <a:off x="7797800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3" name="TextBox 6"/>
          <p:cNvSpPr txBox="1"/>
          <p:nvPr userDrawn="1"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" name="TextBox 9"/>
          <p:cNvSpPr txBox="1"/>
          <p:nvPr userDrawn="1"/>
        </p:nvSpPr>
        <p:spPr>
          <a:xfrm>
            <a:off x="94996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19" name="组合 18"/>
          <p:cNvGrpSpPr/>
          <p:nvPr userDrawn="1"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0" name="箭头: 五边形 19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7CD-47D9-4FC4-B8A4-623AAFF35AF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1B48-CEAD-4F1C-AE71-CB7229355321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A2BA-4249-4F82-847B-D81ACA07A93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89CC-024E-42E9-86B3-397BF2D2E2E5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682171" y="1526793"/>
            <a:ext cx="6047631" cy="40466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60400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841069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60400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3841069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2200" y="1825116"/>
            <a:ext cx="5731862" cy="39225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0380" y="2155760"/>
            <a:ext cx="3493085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7997864" y="2155760"/>
            <a:ext cx="3513066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567543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06686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27088" y="1815250"/>
            <a:ext cx="5584149" cy="371286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25543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82794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68292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79904" y="1901468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42363" y="1895930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793560" y="1644454"/>
            <a:ext cx="4604880" cy="2584487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2171" y="1770744"/>
            <a:ext cx="5776686" cy="3758837"/>
          </a:xfrm>
          <a:custGeom>
            <a:avLst/>
            <a:gdLst>
              <a:gd name="connsiteX0" fmla="*/ 0 w 5776686"/>
              <a:gd name="connsiteY0" fmla="*/ 0 h 3758837"/>
              <a:gd name="connsiteX1" fmla="*/ 5776686 w 5776686"/>
              <a:gd name="connsiteY1" fmla="*/ 0 h 3758837"/>
              <a:gd name="connsiteX2" fmla="*/ 5776686 w 5776686"/>
              <a:gd name="connsiteY2" fmla="*/ 3758837 h 3758837"/>
              <a:gd name="connsiteX3" fmla="*/ 0 w 5776686"/>
              <a:gd name="connsiteY3" fmla="*/ 3758837 h 37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6686" h="3758837">
                <a:moveTo>
                  <a:pt x="0" y="0"/>
                </a:moveTo>
                <a:lnTo>
                  <a:pt x="5776686" y="0"/>
                </a:lnTo>
                <a:lnTo>
                  <a:pt x="5776686" y="3758837"/>
                </a:lnTo>
                <a:lnTo>
                  <a:pt x="0" y="3758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17635" y="1035591"/>
            <a:ext cx="10556729" cy="3240588"/>
          </a:xfrm>
          <a:custGeom>
            <a:avLst/>
            <a:gdLst>
              <a:gd name="connsiteX0" fmla="*/ 0 w 10874375"/>
              <a:gd name="connsiteY0" fmla="*/ 0 h 3462946"/>
              <a:gd name="connsiteX1" fmla="*/ 10874375 w 10874375"/>
              <a:gd name="connsiteY1" fmla="*/ 0 h 3462946"/>
              <a:gd name="connsiteX2" fmla="*/ 10874375 w 10874375"/>
              <a:gd name="connsiteY2" fmla="*/ 3462946 h 3462946"/>
              <a:gd name="connsiteX3" fmla="*/ 0 w 10874375"/>
              <a:gd name="connsiteY3" fmla="*/ 3462946 h 346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4375" h="3462946">
                <a:moveTo>
                  <a:pt x="0" y="0"/>
                </a:moveTo>
                <a:lnTo>
                  <a:pt x="10874375" y="0"/>
                </a:lnTo>
                <a:lnTo>
                  <a:pt x="10874375" y="3462946"/>
                </a:lnTo>
                <a:lnTo>
                  <a:pt x="0" y="3462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144298" y="1327793"/>
            <a:ext cx="1903405" cy="1903405"/>
          </a:xfrm>
          <a:custGeom>
            <a:avLst/>
            <a:gdLst>
              <a:gd name="connsiteX0" fmla="*/ 800318 w 1600636"/>
              <a:gd name="connsiteY0" fmla="*/ 0 h 1600636"/>
              <a:gd name="connsiteX1" fmla="*/ 1600636 w 1600636"/>
              <a:gd name="connsiteY1" fmla="*/ 800318 h 1600636"/>
              <a:gd name="connsiteX2" fmla="*/ 800318 w 1600636"/>
              <a:gd name="connsiteY2" fmla="*/ 1600636 h 1600636"/>
              <a:gd name="connsiteX3" fmla="*/ 0 w 1600636"/>
              <a:gd name="connsiteY3" fmla="*/ 800318 h 1600636"/>
              <a:gd name="connsiteX4" fmla="*/ 800318 w 1600636"/>
              <a:gd name="connsiteY4" fmla="*/ 0 h 16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636" h="1600636">
                <a:moveTo>
                  <a:pt x="800318" y="0"/>
                </a:moveTo>
                <a:cubicBezTo>
                  <a:pt x="1242321" y="0"/>
                  <a:pt x="1600636" y="358315"/>
                  <a:pt x="1600636" y="800318"/>
                </a:cubicBezTo>
                <a:cubicBezTo>
                  <a:pt x="1600636" y="1242321"/>
                  <a:pt x="1242321" y="1600636"/>
                  <a:pt x="800318" y="1600636"/>
                </a:cubicBezTo>
                <a:cubicBezTo>
                  <a:pt x="358315" y="1600636"/>
                  <a:pt x="0" y="1242321"/>
                  <a:pt x="0" y="800318"/>
                </a:cubicBezTo>
                <a:cubicBezTo>
                  <a:pt x="0" y="358315"/>
                  <a:pt x="358315" y="0"/>
                  <a:pt x="8003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534731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286725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9038718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782737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91218" y="1273462"/>
            <a:ext cx="6811938" cy="2441929"/>
          </a:xfrm>
          <a:custGeom>
            <a:avLst/>
            <a:gdLst>
              <a:gd name="connsiteX0" fmla="*/ 0 w 10828469"/>
              <a:gd name="connsiteY0" fmla="*/ 0 h 2441929"/>
              <a:gd name="connsiteX1" fmla="*/ 10828469 w 10828469"/>
              <a:gd name="connsiteY1" fmla="*/ 0 h 2441929"/>
              <a:gd name="connsiteX2" fmla="*/ 10828469 w 10828469"/>
              <a:gd name="connsiteY2" fmla="*/ 2441929 h 2441929"/>
              <a:gd name="connsiteX3" fmla="*/ 0 w 10828469"/>
              <a:gd name="connsiteY3" fmla="*/ 2441929 h 244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8469" h="2441929">
                <a:moveTo>
                  <a:pt x="0" y="0"/>
                </a:moveTo>
                <a:lnTo>
                  <a:pt x="10828469" y="0"/>
                </a:lnTo>
                <a:lnTo>
                  <a:pt x="10828469" y="2441929"/>
                </a:lnTo>
                <a:lnTo>
                  <a:pt x="0" y="24419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>
          <a:xfrm>
            <a:off x="50038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>
          <a:xfrm>
            <a:off x="93472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>
          <a:xfrm>
            <a:off x="71755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>
          <a:xfrm>
            <a:off x="28321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6604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9744" y="1127592"/>
            <a:ext cx="4553385" cy="5038264"/>
          </a:xfrm>
          <a:custGeom>
            <a:avLst/>
            <a:gdLst>
              <a:gd name="connsiteX0" fmla="*/ 0 w 4553385"/>
              <a:gd name="connsiteY0" fmla="*/ 0 h 5038264"/>
              <a:gd name="connsiteX1" fmla="*/ 4553385 w 4553385"/>
              <a:gd name="connsiteY1" fmla="*/ 0 h 5038264"/>
              <a:gd name="connsiteX2" fmla="*/ 4553385 w 4553385"/>
              <a:gd name="connsiteY2" fmla="*/ 5038264 h 5038264"/>
              <a:gd name="connsiteX3" fmla="*/ 0 w 4553385"/>
              <a:gd name="connsiteY3" fmla="*/ 5038264 h 503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3385" h="5038264">
                <a:moveTo>
                  <a:pt x="0" y="0"/>
                </a:moveTo>
                <a:lnTo>
                  <a:pt x="4553385" y="0"/>
                </a:lnTo>
                <a:lnTo>
                  <a:pt x="4553385" y="5038264"/>
                </a:lnTo>
                <a:lnTo>
                  <a:pt x="0" y="50382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313569" y="1151227"/>
            <a:ext cx="2397593" cy="1708088"/>
          </a:xfrm>
          <a:custGeom>
            <a:avLst/>
            <a:gdLst>
              <a:gd name="connsiteX0" fmla="*/ 0 w 2397593"/>
              <a:gd name="connsiteY0" fmla="*/ 0 h 1497361"/>
              <a:gd name="connsiteX1" fmla="*/ 2397593 w 2397593"/>
              <a:gd name="connsiteY1" fmla="*/ 0 h 1497361"/>
              <a:gd name="connsiteX2" fmla="*/ 2397593 w 2397593"/>
              <a:gd name="connsiteY2" fmla="*/ 1497361 h 1497361"/>
              <a:gd name="connsiteX3" fmla="*/ 0 w 2397593"/>
              <a:gd name="connsiteY3" fmla="*/ 1497361 h 149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593" h="1497361">
                <a:moveTo>
                  <a:pt x="0" y="0"/>
                </a:moveTo>
                <a:lnTo>
                  <a:pt x="2397593" y="0"/>
                </a:lnTo>
                <a:lnTo>
                  <a:pt x="2397593" y="1497361"/>
                </a:lnTo>
                <a:lnTo>
                  <a:pt x="0" y="1497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99839" y="1151227"/>
            <a:ext cx="2418113" cy="3173178"/>
          </a:xfrm>
          <a:custGeom>
            <a:avLst/>
            <a:gdLst>
              <a:gd name="connsiteX0" fmla="*/ 0 w 2418113"/>
              <a:gd name="connsiteY0" fmla="*/ 0 h 3063575"/>
              <a:gd name="connsiteX1" fmla="*/ 2418113 w 2418113"/>
              <a:gd name="connsiteY1" fmla="*/ 0 h 3063575"/>
              <a:gd name="connsiteX2" fmla="*/ 2418113 w 2418113"/>
              <a:gd name="connsiteY2" fmla="*/ 3063575 h 3063575"/>
              <a:gd name="connsiteX3" fmla="*/ 0 w 2418113"/>
              <a:gd name="connsiteY3" fmla="*/ 3063575 h 30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5">
                <a:moveTo>
                  <a:pt x="0" y="0"/>
                </a:moveTo>
                <a:lnTo>
                  <a:pt x="2418113" y="0"/>
                </a:lnTo>
                <a:lnTo>
                  <a:pt x="2418113" y="3063575"/>
                </a:lnTo>
                <a:lnTo>
                  <a:pt x="0" y="3063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07883" y="4572000"/>
            <a:ext cx="2410673" cy="1579425"/>
          </a:xfrm>
          <a:custGeom>
            <a:avLst/>
            <a:gdLst>
              <a:gd name="connsiteX0" fmla="*/ 0 w 2410673"/>
              <a:gd name="connsiteY0" fmla="*/ 0 h 1517855"/>
              <a:gd name="connsiteX1" fmla="*/ 2410673 w 2410673"/>
              <a:gd name="connsiteY1" fmla="*/ 0 h 1517855"/>
              <a:gd name="connsiteX2" fmla="*/ 2410673 w 2410673"/>
              <a:gd name="connsiteY2" fmla="*/ 1517855 h 1517855"/>
              <a:gd name="connsiteX3" fmla="*/ 0 w 2410673"/>
              <a:gd name="connsiteY3" fmla="*/ 1517855 h 15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673" h="1517855">
                <a:moveTo>
                  <a:pt x="0" y="0"/>
                </a:moveTo>
                <a:lnTo>
                  <a:pt x="2410673" y="0"/>
                </a:lnTo>
                <a:lnTo>
                  <a:pt x="2410673" y="1517855"/>
                </a:lnTo>
                <a:lnTo>
                  <a:pt x="0" y="1517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313569" y="3097382"/>
            <a:ext cx="2397594" cy="3063574"/>
          </a:xfrm>
          <a:custGeom>
            <a:avLst/>
            <a:gdLst>
              <a:gd name="connsiteX0" fmla="*/ 0 w 2418113"/>
              <a:gd name="connsiteY0" fmla="*/ 0 h 3063574"/>
              <a:gd name="connsiteX1" fmla="*/ 2418113 w 2418113"/>
              <a:gd name="connsiteY1" fmla="*/ 0 h 3063574"/>
              <a:gd name="connsiteX2" fmla="*/ 2418113 w 2418113"/>
              <a:gd name="connsiteY2" fmla="*/ 3063574 h 3063574"/>
              <a:gd name="connsiteX3" fmla="*/ 0 w 2418113"/>
              <a:gd name="connsiteY3" fmla="*/ 3063574 h 30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4">
                <a:moveTo>
                  <a:pt x="0" y="0"/>
                </a:moveTo>
                <a:lnTo>
                  <a:pt x="2418113" y="0"/>
                </a:lnTo>
                <a:lnTo>
                  <a:pt x="2418113" y="3063574"/>
                </a:lnTo>
                <a:lnTo>
                  <a:pt x="0" y="30635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03032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72720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833345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5203032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8572720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33345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7657" y="926059"/>
            <a:ext cx="10900229" cy="4670056"/>
          </a:xfrm>
          <a:custGeom>
            <a:avLst/>
            <a:gdLst>
              <a:gd name="connsiteX0" fmla="*/ 0 w 10900229"/>
              <a:gd name="connsiteY0" fmla="*/ 0 h 4670056"/>
              <a:gd name="connsiteX1" fmla="*/ 10900229 w 10900229"/>
              <a:gd name="connsiteY1" fmla="*/ 0 h 4670056"/>
              <a:gd name="connsiteX2" fmla="*/ 10900229 w 10900229"/>
              <a:gd name="connsiteY2" fmla="*/ 4670056 h 4670056"/>
              <a:gd name="connsiteX3" fmla="*/ 0 w 10900229"/>
              <a:gd name="connsiteY3" fmla="*/ 4670056 h 467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00229" h="4670056">
                <a:moveTo>
                  <a:pt x="0" y="0"/>
                </a:moveTo>
                <a:lnTo>
                  <a:pt x="10900229" y="0"/>
                </a:lnTo>
                <a:lnTo>
                  <a:pt x="10900229" y="4670056"/>
                </a:lnTo>
                <a:lnTo>
                  <a:pt x="0" y="467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0"/>
          </p:nvPr>
        </p:nvSpPr>
        <p:spPr>
          <a:xfrm>
            <a:off x="1154243" y="2437107"/>
            <a:ext cx="4141657" cy="2368446"/>
          </a:xfrm>
          <a:custGeom>
            <a:avLst/>
            <a:gdLst>
              <a:gd name="connsiteX0" fmla="*/ 0 w 3703496"/>
              <a:gd name="connsiteY0" fmla="*/ 0 h 2368446"/>
              <a:gd name="connsiteX1" fmla="*/ 3703496 w 3703496"/>
              <a:gd name="connsiteY1" fmla="*/ 0 h 2368446"/>
              <a:gd name="connsiteX2" fmla="*/ 3703496 w 3703496"/>
              <a:gd name="connsiteY2" fmla="*/ 2368446 h 2368446"/>
              <a:gd name="connsiteX3" fmla="*/ 0 w 3703496"/>
              <a:gd name="connsiteY3" fmla="*/ 2368446 h 236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3496" h="2368446">
                <a:moveTo>
                  <a:pt x="0" y="0"/>
                </a:moveTo>
                <a:lnTo>
                  <a:pt x="3703496" y="0"/>
                </a:lnTo>
                <a:lnTo>
                  <a:pt x="3703496" y="2368446"/>
                </a:lnTo>
                <a:lnTo>
                  <a:pt x="0" y="23684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5485632" y="1686925"/>
            <a:ext cx="5724510" cy="3821111"/>
          </a:xfrm>
          <a:custGeom>
            <a:avLst/>
            <a:gdLst>
              <a:gd name="connsiteX0" fmla="*/ 0 w 5724510"/>
              <a:gd name="connsiteY0" fmla="*/ 0 h 3821111"/>
              <a:gd name="connsiteX1" fmla="*/ 5724510 w 5724510"/>
              <a:gd name="connsiteY1" fmla="*/ 0 h 3821111"/>
              <a:gd name="connsiteX2" fmla="*/ 5724510 w 5724510"/>
              <a:gd name="connsiteY2" fmla="*/ 3821111 h 3821111"/>
              <a:gd name="connsiteX3" fmla="*/ 0 w 5724510"/>
              <a:gd name="connsiteY3" fmla="*/ 3821111 h 38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510" h="3821111">
                <a:moveTo>
                  <a:pt x="0" y="0"/>
                </a:moveTo>
                <a:lnTo>
                  <a:pt x="5724510" y="0"/>
                </a:lnTo>
                <a:lnTo>
                  <a:pt x="5724510" y="3821111"/>
                </a:lnTo>
                <a:lnTo>
                  <a:pt x="0" y="382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54773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201725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21558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547730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9"/>
          </p:nvPr>
        </p:nvSpPr>
        <p:spPr>
          <a:xfrm>
            <a:off x="4460264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13537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7806991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7806991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7"/>
          </p:nvPr>
        </p:nvSpPr>
        <p:spPr>
          <a:xfrm>
            <a:off x="4460264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8"/>
          </p:nvPr>
        </p:nvSpPr>
        <p:spPr>
          <a:xfrm>
            <a:off x="1113537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806991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20"/>
          </p:nvPr>
        </p:nvSpPr>
        <p:spPr>
          <a:xfrm>
            <a:off x="1113537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1342154" y="2487065"/>
            <a:ext cx="3867489" cy="2443108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899109" y="356802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4023" y="3943899"/>
            <a:ext cx="1876507" cy="139741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2"/>
          </p:nvPr>
        </p:nvSpPr>
        <p:spPr>
          <a:xfrm>
            <a:off x="1363097" y="2641600"/>
            <a:ext cx="3947091" cy="2279650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71361" y="4290054"/>
            <a:ext cx="1900089" cy="142494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707481" y="386228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734988" y="3873705"/>
            <a:ext cx="2713564" cy="1597935"/>
          </a:xfrm>
          <a:custGeom>
            <a:avLst/>
            <a:gdLst>
              <a:gd name="connsiteX0" fmla="*/ 0 w 2713564"/>
              <a:gd name="connsiteY0" fmla="*/ 0 h 1597935"/>
              <a:gd name="connsiteX1" fmla="*/ 2713564 w 2713564"/>
              <a:gd name="connsiteY1" fmla="*/ 0 h 1597935"/>
              <a:gd name="connsiteX2" fmla="*/ 2713564 w 2713564"/>
              <a:gd name="connsiteY2" fmla="*/ 1597935 h 1597935"/>
              <a:gd name="connsiteX3" fmla="*/ 0 w 2713564"/>
              <a:gd name="connsiteY3" fmla="*/ 1597935 h 159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64" h="1597935">
                <a:moveTo>
                  <a:pt x="0" y="0"/>
                </a:moveTo>
                <a:lnTo>
                  <a:pt x="2713564" y="0"/>
                </a:lnTo>
                <a:lnTo>
                  <a:pt x="2713564" y="1597935"/>
                </a:lnTo>
                <a:lnTo>
                  <a:pt x="0" y="15979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536006" y="3134995"/>
            <a:ext cx="3339734" cy="1876612"/>
          </a:xfrm>
          <a:custGeom>
            <a:avLst/>
            <a:gdLst>
              <a:gd name="connsiteX0" fmla="*/ 0 w 3339734"/>
              <a:gd name="connsiteY0" fmla="*/ 0 h 1876612"/>
              <a:gd name="connsiteX1" fmla="*/ 3339734 w 3339734"/>
              <a:gd name="connsiteY1" fmla="*/ 0 h 1876612"/>
              <a:gd name="connsiteX2" fmla="*/ 3339734 w 3339734"/>
              <a:gd name="connsiteY2" fmla="*/ 1876612 h 1876612"/>
              <a:gd name="connsiteX3" fmla="*/ 0 w 3339734"/>
              <a:gd name="connsiteY3" fmla="*/ 1876612 h 187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9734" h="1876612">
                <a:moveTo>
                  <a:pt x="0" y="0"/>
                </a:moveTo>
                <a:lnTo>
                  <a:pt x="3339734" y="0"/>
                </a:lnTo>
                <a:lnTo>
                  <a:pt x="3339734" y="1876612"/>
                </a:lnTo>
                <a:lnTo>
                  <a:pt x="0" y="1876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164588" y="5517557"/>
            <a:ext cx="220846" cy="274631"/>
          </a:xfrm>
          <a:custGeom>
            <a:avLst/>
            <a:gdLst>
              <a:gd name="connsiteX0" fmla="*/ 0 w 220846"/>
              <a:gd name="connsiteY0" fmla="*/ 0 h 274631"/>
              <a:gd name="connsiteX1" fmla="*/ 220846 w 220846"/>
              <a:gd name="connsiteY1" fmla="*/ 0 h 274631"/>
              <a:gd name="connsiteX2" fmla="*/ 220846 w 220846"/>
              <a:gd name="connsiteY2" fmla="*/ 274631 h 274631"/>
              <a:gd name="connsiteX3" fmla="*/ 0 w 220846"/>
              <a:gd name="connsiteY3" fmla="*/ 274631 h 2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846" h="274631">
                <a:moveTo>
                  <a:pt x="0" y="0"/>
                </a:moveTo>
                <a:lnTo>
                  <a:pt x="220846" y="0"/>
                </a:lnTo>
                <a:lnTo>
                  <a:pt x="220846" y="274631"/>
                </a:lnTo>
                <a:lnTo>
                  <a:pt x="0" y="2746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5"/>
          </p:nvPr>
        </p:nvSpPr>
        <p:spPr>
          <a:xfrm>
            <a:off x="8495376" y="4934790"/>
            <a:ext cx="506818" cy="893045"/>
          </a:xfrm>
          <a:custGeom>
            <a:avLst/>
            <a:gdLst>
              <a:gd name="connsiteX0" fmla="*/ 0 w 506818"/>
              <a:gd name="connsiteY0" fmla="*/ 0 h 893045"/>
              <a:gd name="connsiteX1" fmla="*/ 506818 w 506818"/>
              <a:gd name="connsiteY1" fmla="*/ 0 h 893045"/>
              <a:gd name="connsiteX2" fmla="*/ 506818 w 506818"/>
              <a:gd name="connsiteY2" fmla="*/ 893045 h 893045"/>
              <a:gd name="connsiteX3" fmla="*/ 0 w 506818"/>
              <a:gd name="connsiteY3" fmla="*/ 893045 h 8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818" h="893045">
                <a:moveTo>
                  <a:pt x="0" y="0"/>
                </a:moveTo>
                <a:lnTo>
                  <a:pt x="506818" y="0"/>
                </a:lnTo>
                <a:lnTo>
                  <a:pt x="506818" y="893045"/>
                </a:lnTo>
                <a:lnTo>
                  <a:pt x="0" y="893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4"/>
          </p:nvPr>
        </p:nvSpPr>
        <p:spPr>
          <a:xfrm>
            <a:off x="7447394" y="4339593"/>
            <a:ext cx="1087644" cy="1452596"/>
          </a:xfrm>
          <a:custGeom>
            <a:avLst/>
            <a:gdLst>
              <a:gd name="connsiteX0" fmla="*/ 0 w 1087644"/>
              <a:gd name="connsiteY0" fmla="*/ 0 h 1452596"/>
              <a:gd name="connsiteX1" fmla="*/ 1087644 w 1087644"/>
              <a:gd name="connsiteY1" fmla="*/ 0 h 1452596"/>
              <a:gd name="connsiteX2" fmla="*/ 1087644 w 1087644"/>
              <a:gd name="connsiteY2" fmla="*/ 1452596 h 1452596"/>
              <a:gd name="connsiteX3" fmla="*/ 0 w 1087644"/>
              <a:gd name="connsiteY3" fmla="*/ 1452596 h 14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644" h="1452596">
                <a:moveTo>
                  <a:pt x="0" y="0"/>
                </a:moveTo>
                <a:lnTo>
                  <a:pt x="1087644" y="0"/>
                </a:lnTo>
                <a:lnTo>
                  <a:pt x="1087644" y="1452596"/>
                </a:lnTo>
                <a:lnTo>
                  <a:pt x="0" y="14525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2696096" y="4426890"/>
            <a:ext cx="2127445" cy="1351064"/>
          </a:xfrm>
          <a:custGeom>
            <a:avLst/>
            <a:gdLst>
              <a:gd name="connsiteX0" fmla="*/ 0 w 2127445"/>
              <a:gd name="connsiteY0" fmla="*/ 0 h 1351064"/>
              <a:gd name="connsiteX1" fmla="*/ 2127445 w 2127445"/>
              <a:gd name="connsiteY1" fmla="*/ 0 h 1351064"/>
              <a:gd name="connsiteX2" fmla="*/ 2127445 w 2127445"/>
              <a:gd name="connsiteY2" fmla="*/ 1351064 h 1351064"/>
              <a:gd name="connsiteX3" fmla="*/ 0 w 2127445"/>
              <a:gd name="connsiteY3" fmla="*/ 1351064 h 13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445" h="1351064">
                <a:moveTo>
                  <a:pt x="0" y="0"/>
                </a:moveTo>
                <a:lnTo>
                  <a:pt x="2127445" y="0"/>
                </a:lnTo>
                <a:lnTo>
                  <a:pt x="2127445" y="1351064"/>
                </a:lnTo>
                <a:lnTo>
                  <a:pt x="0" y="13510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71600" y="1383505"/>
            <a:ext cx="3206754" cy="4641634"/>
          </a:xfrm>
          <a:custGeom>
            <a:avLst/>
            <a:gdLst>
              <a:gd name="connsiteX0" fmla="*/ 0 w 3206754"/>
              <a:gd name="connsiteY0" fmla="*/ 0 h 4641634"/>
              <a:gd name="connsiteX1" fmla="*/ 3206754 w 3206754"/>
              <a:gd name="connsiteY1" fmla="*/ 0 h 4641634"/>
              <a:gd name="connsiteX2" fmla="*/ 3206754 w 3206754"/>
              <a:gd name="connsiteY2" fmla="*/ 4641634 h 4641634"/>
              <a:gd name="connsiteX3" fmla="*/ 0 w 3206754"/>
              <a:gd name="connsiteY3" fmla="*/ 4641634 h 464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754" h="4641634">
                <a:moveTo>
                  <a:pt x="0" y="0"/>
                </a:moveTo>
                <a:lnTo>
                  <a:pt x="3206754" y="0"/>
                </a:lnTo>
                <a:lnTo>
                  <a:pt x="3206754" y="4641634"/>
                </a:lnTo>
                <a:lnTo>
                  <a:pt x="0" y="46416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3291965" y="1736725"/>
            <a:ext cx="1372840" cy="1372112"/>
          </a:xfrm>
          <a:custGeom>
            <a:avLst/>
            <a:gdLst>
              <a:gd name="connsiteX0" fmla="*/ 679198 w 1372840"/>
              <a:gd name="connsiteY0" fmla="*/ 0 h 1372112"/>
              <a:gd name="connsiteX1" fmla="*/ 693642 w 1372840"/>
              <a:gd name="connsiteY1" fmla="*/ 0 h 1372112"/>
              <a:gd name="connsiteX2" fmla="*/ 824758 w 1372840"/>
              <a:gd name="connsiteY2" fmla="*/ 13218 h 1372112"/>
              <a:gd name="connsiteX3" fmla="*/ 1372840 w 1372840"/>
              <a:gd name="connsiteY3" fmla="*/ 685692 h 1372112"/>
              <a:gd name="connsiteX4" fmla="*/ 686420 w 1372840"/>
              <a:gd name="connsiteY4" fmla="*/ 1372112 h 1372112"/>
              <a:gd name="connsiteX5" fmla="*/ 0 w 1372840"/>
              <a:gd name="connsiteY5" fmla="*/ 685692 h 1372112"/>
              <a:gd name="connsiteX6" fmla="*/ 548083 w 1372840"/>
              <a:gd name="connsiteY6" fmla="*/ 13218 h 137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840" h="1372112">
                <a:moveTo>
                  <a:pt x="679198" y="0"/>
                </a:moveTo>
                <a:lnTo>
                  <a:pt x="693642" y="0"/>
                </a:lnTo>
                <a:lnTo>
                  <a:pt x="824758" y="13218"/>
                </a:lnTo>
                <a:cubicBezTo>
                  <a:pt x="1137548" y="77224"/>
                  <a:pt x="1372840" y="353980"/>
                  <a:pt x="1372840" y="685692"/>
                </a:cubicBezTo>
                <a:cubicBezTo>
                  <a:pt x="1372840" y="1064791"/>
                  <a:pt x="1065519" y="1372112"/>
                  <a:pt x="686420" y="1372112"/>
                </a:cubicBezTo>
                <a:cubicBezTo>
                  <a:pt x="307321" y="1372112"/>
                  <a:pt x="0" y="1064791"/>
                  <a:pt x="0" y="685692"/>
                </a:cubicBezTo>
                <a:cubicBezTo>
                  <a:pt x="0" y="353980"/>
                  <a:pt x="235293" y="77224"/>
                  <a:pt x="548083" y="132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3"/>
          </p:nvPr>
        </p:nvSpPr>
        <p:spPr>
          <a:xfrm>
            <a:off x="5185679" y="1512096"/>
            <a:ext cx="1820642" cy="1820642"/>
          </a:xfrm>
          <a:custGeom>
            <a:avLst/>
            <a:gdLst>
              <a:gd name="connsiteX0" fmla="*/ 910321 w 1820642"/>
              <a:gd name="connsiteY0" fmla="*/ 0 h 1820642"/>
              <a:gd name="connsiteX1" fmla="*/ 1820642 w 1820642"/>
              <a:gd name="connsiteY1" fmla="*/ 910321 h 1820642"/>
              <a:gd name="connsiteX2" fmla="*/ 910321 w 1820642"/>
              <a:gd name="connsiteY2" fmla="*/ 1820642 h 1820642"/>
              <a:gd name="connsiteX3" fmla="*/ 0 w 1820642"/>
              <a:gd name="connsiteY3" fmla="*/ 910321 h 1820642"/>
              <a:gd name="connsiteX4" fmla="*/ 910321 w 1820642"/>
              <a:gd name="connsiteY4" fmla="*/ 0 h 182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0642" h="1820642">
                <a:moveTo>
                  <a:pt x="910321" y="0"/>
                </a:moveTo>
                <a:cubicBezTo>
                  <a:pt x="1413077" y="0"/>
                  <a:pt x="1820642" y="407565"/>
                  <a:pt x="1820642" y="910321"/>
                </a:cubicBezTo>
                <a:cubicBezTo>
                  <a:pt x="1820642" y="1413077"/>
                  <a:pt x="1413077" y="1820642"/>
                  <a:pt x="910321" y="1820642"/>
                </a:cubicBezTo>
                <a:cubicBezTo>
                  <a:pt x="407565" y="1820642"/>
                  <a:pt x="0" y="1413077"/>
                  <a:pt x="0" y="910321"/>
                </a:cubicBezTo>
                <a:cubicBezTo>
                  <a:pt x="0" y="407565"/>
                  <a:pt x="407565" y="0"/>
                  <a:pt x="9103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4"/>
          </p:nvPr>
        </p:nvSpPr>
        <p:spPr>
          <a:xfrm>
            <a:off x="7527196" y="1735997"/>
            <a:ext cx="1372840" cy="1372840"/>
          </a:xfrm>
          <a:custGeom>
            <a:avLst/>
            <a:gdLst>
              <a:gd name="connsiteX0" fmla="*/ 686420 w 1372840"/>
              <a:gd name="connsiteY0" fmla="*/ 0 h 1372840"/>
              <a:gd name="connsiteX1" fmla="*/ 1372840 w 1372840"/>
              <a:gd name="connsiteY1" fmla="*/ 686420 h 1372840"/>
              <a:gd name="connsiteX2" fmla="*/ 686420 w 1372840"/>
              <a:gd name="connsiteY2" fmla="*/ 1372840 h 1372840"/>
              <a:gd name="connsiteX3" fmla="*/ 0 w 1372840"/>
              <a:gd name="connsiteY3" fmla="*/ 686420 h 1372840"/>
              <a:gd name="connsiteX4" fmla="*/ 686420 w 1372840"/>
              <a:gd name="connsiteY4" fmla="*/ 0 h 13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840" h="1372840">
                <a:moveTo>
                  <a:pt x="686420" y="0"/>
                </a:moveTo>
                <a:cubicBezTo>
                  <a:pt x="1065519" y="0"/>
                  <a:pt x="1372840" y="307321"/>
                  <a:pt x="1372840" y="686420"/>
                </a:cubicBezTo>
                <a:cubicBezTo>
                  <a:pt x="1372840" y="1065519"/>
                  <a:pt x="1065519" y="1372840"/>
                  <a:pt x="686420" y="1372840"/>
                </a:cubicBezTo>
                <a:cubicBezTo>
                  <a:pt x="307321" y="1372840"/>
                  <a:pt x="0" y="1065519"/>
                  <a:pt x="0" y="686420"/>
                </a:cubicBezTo>
                <a:cubicBezTo>
                  <a:pt x="0" y="307321"/>
                  <a:pt x="307321" y="0"/>
                  <a:pt x="6864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5"/>
          </p:nvPr>
        </p:nvSpPr>
        <p:spPr>
          <a:xfrm>
            <a:off x="9630771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1387047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9E12-90AA-4790-BC12-98F68239B599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314" y="-25400"/>
            <a:ext cx="12257314" cy="69088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ZJU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" y="90805"/>
            <a:ext cx="1976120" cy="5257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3379470" y="90805"/>
            <a:ext cx="1445260" cy="670560"/>
          </a:xfrm>
          <a:prstGeom prst="rect">
            <a:avLst/>
          </a:prstGeom>
        </p:spPr>
      </p:pic>
      <p:sp>
        <p:nvSpPr>
          <p:cNvPr id="9" name="文本占位符 4"/>
          <p:cNvSpPr>
            <a:spLocks noGrp="1"/>
          </p:cNvSpPr>
          <p:nvPr/>
        </p:nvSpPr>
        <p:spPr>
          <a:xfrm>
            <a:off x="376555" y="1300480"/>
            <a:ext cx="6273165" cy="273558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/>
              <a:t> </a:t>
            </a:r>
            <a:endParaRPr lang="zh-CN" altLang="en-US" dirty="0"/>
          </a:p>
        </p:txBody>
      </p:sp>
      <p:sp>
        <p:nvSpPr>
          <p:cNvPr id="2" name="文本框 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36880" y="1452880"/>
            <a:ext cx="6272530" cy="24561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64565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tabLst>
                <a:tab pos="4029710" algn="l"/>
              </a:tabLst>
            </a:pPr>
            <a:r>
              <a:rPr lang="en-US" altLang="zh-CN" sz="4265" b="1">
                <a:solidFill>
                  <a:srgbClr val="C00000"/>
                </a:solidFill>
                <a:sym typeface="Calibri" panose="020F0502020204030204" pitchFamily="34" charset="0"/>
              </a:rPr>
              <a:t>Stablepay Agentic Payment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11" name="Freeform 105"/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06"/>
            <p:cNvSpPr/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/>
            <p:cNvSpPr/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/>
            <p:cNvSpPr/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/>
            <p:cNvSpPr/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/>
            <p:cNvSpPr/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/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/>
            <p:cNvSpPr/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/>
            <p:cNvSpPr/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/>
            <p:cNvSpPr/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/>
            <p:cNvSpPr/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/>
            <p:cNvSpPr/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/>
            <p:cNvSpPr/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/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/>
            <p:cNvSpPr/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/>
            <p:cNvSpPr/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/>
            <p:cNvSpPr/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/>
            <p:cNvSpPr/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/>
            <p:cNvSpPr/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/>
            <p:cNvSpPr/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/>
            <p:cNvSpPr/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/>
            <p:cNvSpPr/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/>
            <p:cNvSpPr/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/>
            <p:cNvSpPr/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/>
            <p:cNvSpPr/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/>
            <p:cNvSpPr/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/>
            <p:cNvSpPr/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/>
            <p:cNvSpPr/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/>
            <p:cNvSpPr/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/>
            <p:cNvSpPr/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/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15315" y="477520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0" y="0"/>
            <a:ext cx="4008438" cy="6858000"/>
          </a:xfrm>
          <a:prstGeom prst="rect">
            <a:avLst/>
          </a:prstGeom>
          <a:solidFill>
            <a:srgbClr val="A123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817245" y="2586038"/>
            <a:ext cx="2374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3200">
                <a:solidFill>
                  <a:schemeClr val="bg1"/>
                </a:solidFill>
                <a:latin typeface="Times New Roman" panose="02020603050405020304" pitchFamily="18" charset="0"/>
                <a:ea typeface="Adobe 宋体 Std L" pitchFamily="2" charset="-122"/>
                <a:cs typeface="Times New Roman" panose="02020603050405020304" pitchFamily="18" charset="0"/>
                <a:sym typeface="微软简中圆" charset="0"/>
              </a:rPr>
              <a:t>Contents Page</a:t>
            </a:r>
          </a:p>
        </p:txBody>
      </p:sp>
      <p:sp>
        <p:nvSpPr>
          <p:cNvPr id="4100" name="文本框 52"/>
          <p:cNvSpPr>
            <a:spLocks noChangeArrowheads="1"/>
          </p:cNvSpPr>
          <p:nvPr/>
        </p:nvSpPr>
        <p:spPr bwMode="auto">
          <a:xfrm>
            <a:off x="817245" y="1700213"/>
            <a:ext cx="23749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5000" b="1">
                <a:solidFill>
                  <a:schemeClr val="bg1"/>
                </a:solidFill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10" name="TextBox 6"/>
          <p:cNvSpPr>
            <a:spLocks noChangeArrowheads="1"/>
          </p:cNvSpPr>
          <p:nvPr/>
        </p:nvSpPr>
        <p:spPr bwMode="auto">
          <a:xfrm>
            <a:off x="5750116" y="1237900"/>
            <a:ext cx="513486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项目背景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技术方案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最终成果</a:t>
            </a: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结论和展望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</a:t>
            </a: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矩形 1046"/>
          <p:cNvSpPr/>
          <p:nvPr/>
        </p:nvSpPr>
        <p:spPr>
          <a:xfrm>
            <a:off x="531495" y="4471670"/>
            <a:ext cx="10389870" cy="49149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marR="0" lvl="0" indent="-28575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Agent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从对话工具升级为自主消费主体时，如何重构适配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生态的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支付底层逻辑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048" name="矩形: 圆角 1047"/>
          <p:cNvSpPr/>
          <p:nvPr/>
        </p:nvSpPr>
        <p:spPr>
          <a:xfrm>
            <a:off x="1407160" y="5732780"/>
            <a:ext cx="1429385" cy="3454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购买数字资源</a:t>
            </a:r>
          </a:p>
        </p:txBody>
      </p:sp>
      <p:sp>
        <p:nvSpPr>
          <p:cNvPr id="1049" name="矩形: 圆角 1048"/>
          <p:cNvSpPr/>
          <p:nvPr/>
        </p:nvSpPr>
        <p:spPr>
          <a:xfrm>
            <a:off x="3252373" y="52155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账户体系复杂</a:t>
            </a:r>
          </a:p>
        </p:txBody>
      </p:sp>
      <p:sp>
        <p:nvSpPr>
          <p:cNvPr id="1050" name="矩形: 圆角 1049"/>
          <p:cNvSpPr/>
          <p:nvPr/>
        </p:nvSpPr>
        <p:spPr>
          <a:xfrm>
            <a:off x="3257958" y="57339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结算滞后</a:t>
            </a:r>
          </a:p>
        </p:txBody>
      </p:sp>
      <p:cxnSp>
        <p:nvCxnSpPr>
          <p:cNvPr id="1051" name="连接符: 肘形 1050"/>
          <p:cNvCxnSpPr>
            <a:stCxn id="1048" idx="3"/>
            <a:endCxn id="1049" idx="1"/>
          </p:cNvCxnSpPr>
          <p:nvPr/>
        </p:nvCxnSpPr>
        <p:spPr>
          <a:xfrm flipV="1">
            <a:off x="2836545" y="5387975"/>
            <a:ext cx="415925" cy="517525"/>
          </a:xfrm>
          <a:prstGeom prst="bentConnector3">
            <a:avLst>
              <a:gd name="adj1" fmla="val 50076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2" name="连接符: 肘形 1051"/>
          <p:cNvCxnSpPr>
            <a:stCxn id="1048" idx="3"/>
            <a:endCxn id="1050" idx="1"/>
          </p:cNvCxnSpPr>
          <p:nvPr/>
        </p:nvCxnSpPr>
        <p:spPr>
          <a:xfrm>
            <a:off x="2836545" y="5905500"/>
            <a:ext cx="421640" cy="1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4" name="矩形: 圆角 1053"/>
          <p:cNvSpPr/>
          <p:nvPr/>
        </p:nvSpPr>
        <p:spPr>
          <a:xfrm>
            <a:off x="3258468" y="6268092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出金困难</a:t>
            </a:r>
          </a:p>
        </p:txBody>
      </p:sp>
      <p:cxnSp>
        <p:nvCxnSpPr>
          <p:cNvPr id="1055" name="连接符: 肘形 1054"/>
          <p:cNvCxnSpPr>
            <a:stCxn id="1048" idx="3"/>
            <a:endCxn id="1054" idx="1"/>
          </p:cNvCxnSpPr>
          <p:nvPr/>
        </p:nvCxnSpPr>
        <p:spPr>
          <a:xfrm>
            <a:off x="2836545" y="5905500"/>
            <a:ext cx="421640" cy="53530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1" name="椭圆 1060"/>
          <p:cNvSpPr/>
          <p:nvPr/>
        </p:nvSpPr>
        <p:spPr>
          <a:xfrm>
            <a:off x="6673850" y="5078856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</a:p>
        </p:txBody>
      </p:sp>
      <p:sp>
        <p:nvSpPr>
          <p:cNvPr id="1062" name="椭圆 1061"/>
          <p:cNvSpPr/>
          <p:nvPr/>
        </p:nvSpPr>
        <p:spPr>
          <a:xfrm>
            <a:off x="6673850" y="6046477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USDC</a:t>
            </a:r>
          </a:p>
        </p:txBody>
      </p:sp>
      <p:sp>
        <p:nvSpPr>
          <p:cNvPr id="1063" name="椭圆 1062"/>
          <p:cNvSpPr/>
          <p:nvPr/>
        </p:nvSpPr>
        <p:spPr>
          <a:xfrm>
            <a:off x="6674270" y="5590786"/>
            <a:ext cx="633600" cy="63360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x402</a:t>
            </a:r>
          </a:p>
        </p:txBody>
      </p:sp>
      <p:sp>
        <p:nvSpPr>
          <p:cNvPr id="1064" name="椭圆 1063"/>
          <p:cNvSpPr/>
          <p:nvPr/>
        </p:nvSpPr>
        <p:spPr>
          <a:xfrm>
            <a:off x="8660130" y="5386705"/>
            <a:ext cx="1026795" cy="100965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Agentic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Payment</a:t>
            </a:r>
          </a:p>
        </p:txBody>
      </p:sp>
      <p:cxnSp>
        <p:nvCxnSpPr>
          <p:cNvPr id="1066" name="直接箭头连接符 1065"/>
          <p:cNvCxnSpPr>
            <a:stCxn id="1061" idx="6"/>
            <a:endCxn id="1064" idx="1"/>
          </p:cNvCxnSpPr>
          <p:nvPr/>
        </p:nvCxnSpPr>
        <p:spPr>
          <a:xfrm>
            <a:off x="7307450" y="5395656"/>
            <a:ext cx="1503045" cy="13906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7" name="直接箭头连接符 1066"/>
          <p:cNvCxnSpPr>
            <a:stCxn id="1062" idx="6"/>
            <a:endCxn id="1064" idx="3"/>
          </p:cNvCxnSpPr>
          <p:nvPr/>
        </p:nvCxnSpPr>
        <p:spPr>
          <a:xfrm flipV="1">
            <a:off x="7307450" y="6248342"/>
            <a:ext cx="1503045" cy="11493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8" name="直接箭头连接符 1067"/>
          <p:cNvCxnSpPr>
            <a:stCxn id="1063" idx="6"/>
            <a:endCxn id="1064" idx="2"/>
          </p:cNvCxnSpPr>
          <p:nvPr/>
        </p:nvCxnSpPr>
        <p:spPr>
          <a:xfrm flipV="1">
            <a:off x="7308505" y="5891711"/>
            <a:ext cx="1351915" cy="1587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0" name="箭头: 右 1069"/>
          <p:cNvSpPr/>
          <p:nvPr/>
        </p:nvSpPr>
        <p:spPr>
          <a:xfrm>
            <a:off x="4996815" y="5762625"/>
            <a:ext cx="1275715" cy="276860"/>
          </a:xfrm>
          <a:prstGeom prst="rightArrow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思源黑体 CN ExtraLight"/>
              <a:cs typeface="+mn-cs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4948592" y="5403972"/>
            <a:ext cx="1233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Stablepay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  <p:grpSp>
        <p:nvGrpSpPr>
          <p:cNvPr id="1081" name="组合 1080"/>
          <p:cNvGrpSpPr/>
          <p:nvPr/>
        </p:nvGrpSpPr>
        <p:grpSpPr>
          <a:xfrm>
            <a:off x="1007745" y="1560195"/>
            <a:ext cx="9374505" cy="1005205"/>
            <a:chOff x="675130" y="1499483"/>
            <a:chExt cx="8453109" cy="760446"/>
          </a:xfrm>
        </p:grpSpPr>
        <p:sp>
          <p:nvSpPr>
            <p:cNvPr id="1073" name="矩形: 圆角 1072"/>
            <p:cNvSpPr/>
            <p:nvPr/>
          </p:nvSpPr>
          <p:spPr>
            <a:xfrm>
              <a:off x="675130" y="1499483"/>
              <a:ext cx="8453109" cy="760446"/>
            </a:xfrm>
            <a:prstGeom prst="roundRect">
              <a:avLst/>
            </a:prstGeom>
            <a:solidFill>
              <a:srgbClr val="CEE6C0"/>
            </a:solidFill>
            <a:ln>
              <a:solidFill>
                <a:srgbClr val="E2F0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文本框 1073"/>
            <p:cNvSpPr txBox="1"/>
            <p:nvPr/>
          </p:nvSpPr>
          <p:spPr>
            <a:xfrm>
              <a:off x="783349" y="1499963"/>
              <a:ext cx="8299083" cy="719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传统金融支付体系完全围绕人类身份设计，依赖银行开户、人工</a:t>
              </a:r>
              <a:r>
                <a:rPr lang="en-US" altLang="zh-CN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KYC、</a:t>
              </a: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绑卡验证等流程，存在账户体系复杂、资金托管风险高、跨境支付费率高、结算滞后、出金困难等诸多痛点。</a:t>
              </a:r>
            </a:p>
          </p:txBody>
        </p:sp>
      </p:grpSp>
      <p:sp>
        <p:nvSpPr>
          <p:cNvPr id="1077" name="文本框 1076"/>
          <p:cNvSpPr txBox="1"/>
          <p:nvPr/>
        </p:nvSpPr>
        <p:spPr>
          <a:xfrm>
            <a:off x="1079500" y="2922270"/>
            <a:ext cx="9302115" cy="922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新型智能执行主体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，无身份证、无银行账户，可自主替人类完成采购、工具调用、付费订阅等操作，行业亟需一套适配</a:t>
            </a: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去中心化、无人化支付体系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80" name="powerpoint template design by DAJU_PPT正版来源小红书大橘PPT微信DAJU_PPT请勿抄袭搬运！盗版必究！-5"/>
          <p:cNvSpPr/>
          <p:nvPr/>
        </p:nvSpPr>
        <p:spPr>
          <a:xfrm>
            <a:off x="621519" y="1541301"/>
            <a:ext cx="309177" cy="2159605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83" name="箭头: 下 1082"/>
          <p:cNvSpPr/>
          <p:nvPr/>
        </p:nvSpPr>
        <p:spPr>
          <a:xfrm>
            <a:off x="5418214" y="3915191"/>
            <a:ext cx="432000" cy="519254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48592" y="5993887"/>
            <a:ext cx="1252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Facilitator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技术概念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"/>
          <p:cNvSpPr/>
          <p:nvPr>
            <p:custDataLst>
              <p:tags r:id="rId1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27" name="弧形 85"/>
          <p:cNvSpPr/>
          <p:nvPr>
            <p:custDataLst>
              <p:tags r:id="rId3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" name="椭圆"/>
          <p:cNvSpPr/>
          <p:nvPr>
            <p:custDataLst>
              <p:tags r:id="rId4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8" name="弧形 85"/>
          <p:cNvSpPr/>
          <p:nvPr>
            <p:custDataLst>
              <p:tags r:id="rId6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89305" y="1710690"/>
            <a:ext cx="459359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区别于传统人工支付模式，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专为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AI Agent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打造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的自动化支付体系，无需人工干预、无需人类身份校验，支持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自主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发起交易、校验订单、完成结算。</a:t>
            </a: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Agentic Payment</a:t>
            </a: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x402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协议</a:t>
            </a: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6732270" y="1710690"/>
            <a:ext cx="509016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依托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Solana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公链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USDC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稳定币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开展交易，解决传统跨境支付汇率波动、清算周期长、跨境受限问题，实现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秒级链上结算、低成本资金流转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 Skill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轻量化付费场景。</a:t>
            </a: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稳定币</a:t>
            </a: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1744980" y="5715000"/>
            <a:ext cx="8338185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HTTP 402 Payment Required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迭代的轻量化智能支付协议，为本项目核心通信标准。可实现自动化支付拦截、交易校验、状态回调，适配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工具按需付费、小额高频的交易场景。</a:t>
            </a:r>
          </a:p>
        </p:txBody>
      </p:sp>
      <p:sp>
        <p:nvSpPr>
          <p:cNvPr id="53" name="椭圆"/>
          <p:cNvSpPr/>
          <p:nvPr>
            <p:custDataLst>
              <p:tags r:id="rId14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15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52" name="弧形 85"/>
          <p:cNvSpPr/>
          <p:nvPr>
            <p:custDataLst>
              <p:tags r:id="rId16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7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672080" cy="9525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项目定位与切入点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1F7AF-302C-1351-9397-8D0FBD062707}"/>
              </a:ext>
            </a:extLst>
          </p:cNvPr>
          <p:cNvSpPr/>
          <p:nvPr/>
        </p:nvSpPr>
        <p:spPr>
          <a:xfrm>
            <a:off x="609600" y="1543050"/>
            <a:ext cx="12954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项目定位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4615FC8-8CBA-1A0B-8689-EDA33F5EB32C}"/>
              </a:ext>
            </a:extLst>
          </p:cNvPr>
          <p:cNvSpPr/>
          <p:nvPr/>
        </p:nvSpPr>
        <p:spPr>
          <a:xfrm>
            <a:off x="4953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0EA0D4-9F7D-5182-3269-8441B330A067}"/>
              </a:ext>
            </a:extLst>
          </p:cNvPr>
          <p:cNvSpPr txBox="1"/>
          <p:nvPr/>
        </p:nvSpPr>
        <p:spPr>
          <a:xfrm>
            <a:off x="704850" y="2095500"/>
            <a:ext cx="2724150" cy="184665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提供一套可自主发起、可验证、可结算的稳定币支付底座，让支付不再依赖人类身份、银行卡和人工确认流程。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8D130E-CFD0-BCEC-B0B6-5E2333840332}"/>
              </a:ext>
            </a:extLst>
          </p:cNvPr>
          <p:cNvSpPr/>
          <p:nvPr/>
        </p:nvSpPr>
        <p:spPr>
          <a:xfrm>
            <a:off x="4362450" y="1543050"/>
            <a:ext cx="14287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第一切入场景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0FF98B-912C-86A2-AFE2-1E1533F78889}"/>
              </a:ext>
            </a:extLst>
          </p:cNvPr>
          <p:cNvSpPr/>
          <p:nvPr/>
        </p:nvSpPr>
        <p:spPr>
          <a:xfrm>
            <a:off x="424815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C3178D-56D3-4F87-095F-C84D632BC885}"/>
              </a:ext>
            </a:extLst>
          </p:cNvPr>
          <p:cNvSpPr txBox="1"/>
          <p:nvPr/>
        </p:nvSpPr>
        <p:spPr>
          <a:xfrm>
            <a:off x="4457700" y="2095500"/>
            <a:ext cx="2724150" cy="1554272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ClawHub / OpenClaw 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市场切入，解决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作者希望获得报酬、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需要自动购买工具和能力的问题。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F1ACB7-49C8-B6AB-46E1-DB741BEB3866}"/>
              </a:ext>
            </a:extLst>
          </p:cNvPr>
          <p:cNvSpPr/>
          <p:nvPr/>
        </p:nvSpPr>
        <p:spPr>
          <a:xfrm>
            <a:off x="7962900" y="1543050"/>
            <a:ext cx="13906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生态扩展方向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C09C0B-74F4-BC2C-7205-0472075FF121}"/>
              </a:ext>
            </a:extLst>
          </p:cNvPr>
          <p:cNvSpPr/>
          <p:nvPr/>
        </p:nvSpPr>
        <p:spPr>
          <a:xfrm>
            <a:off x="78486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1E2D0-F7E6-74D3-5FDE-B2ECD78C0758}"/>
              </a:ext>
            </a:extLst>
          </p:cNvPr>
          <p:cNvSpPr txBox="1"/>
          <p:nvPr/>
        </p:nvSpPr>
        <p:spPr>
          <a:xfrm>
            <a:off x="8058150" y="2095500"/>
            <a:ext cx="2724150" cy="1208023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双轨支持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OpenClaw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插件与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MCP SDK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，后端从服务单一宿主升级为服务整个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生态。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87E693-A3F4-EA9F-6447-7EAA441CC8C1}"/>
              </a:ext>
            </a:extLst>
          </p:cNvPr>
          <p:cNvSpPr txBox="1"/>
          <p:nvPr/>
        </p:nvSpPr>
        <p:spPr>
          <a:xfrm>
            <a:off x="762000" y="4000500"/>
            <a:ext cx="10668000" cy="65402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我们的目标不是再做一个收银台，而是把 </a:t>
            </a:r>
            <a:r>
              <a:rPr lang="en-US" altLang="zh-CN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</a:t>
            </a:r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如何支付 抽象成一套底层逻辑：谁可以付、何时可以付、付完如何验证与复用。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B4F0C3-BDF0-D161-92B7-7559346D2205}"/>
              </a:ext>
            </a:extLst>
          </p:cNvPr>
          <p:cNvSpPr txBox="1"/>
          <p:nvPr/>
        </p:nvSpPr>
        <p:spPr>
          <a:xfrm>
            <a:off x="857250" y="5219700"/>
            <a:ext cx="1028700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一句话总结：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希望成为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Web3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时代面向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PayPal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级支付基础设施。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6634480" y="2194153"/>
            <a:ext cx="5400738" cy="1010108"/>
          </a:xfrm>
          <a:prstGeom prst="round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研究现状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5383" y="1374025"/>
            <a:ext cx="11322051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/>
              <a:t>对于长期预后优化治疗方案以及连续性决策支持，</a:t>
            </a:r>
            <a:r>
              <a:rPr lang="zh-CN" altLang="en-US" sz="1600" b="1">
                <a:solidFill>
                  <a:srgbClr val="C00000"/>
                </a:solidFill>
              </a:rPr>
              <a:t>强化学习</a:t>
            </a:r>
            <a:r>
              <a:rPr lang="zh-CN" altLang="en-US" sz="1600" b="1"/>
              <a:t>提供了一个可行的方案：强化学习根据当前患者状态决定下一步的行动，并逐步递进，根据连续性的状态、行动、奖励来针对最终的长期预后目标，训练一个行动策略，从而在每一步的诊疗过程中提供优化的建议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5776" y="4228882"/>
            <a:ext cx="5348424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基于强化学习的</a:t>
            </a: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ICU</a:t>
            </a: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脓毒症患者治疗方案优化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6" y="2378679"/>
            <a:ext cx="5410906" cy="175768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6" y="4702660"/>
            <a:ext cx="5410906" cy="137070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4" name="矩形 13"/>
          <p:cNvSpPr/>
          <p:nvPr/>
        </p:nvSpPr>
        <p:spPr>
          <a:xfrm>
            <a:off x="650131" y="6263118"/>
            <a:ext cx="4221502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T2DM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治疗方案建议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14024" y="2246866"/>
            <a:ext cx="5187302" cy="95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/>
              <a:t>强化学习目前在临床上的应用包括为慢性疾病和重症监护患者提供</a:t>
            </a:r>
            <a:r>
              <a:rPr lang="zh-CN" altLang="en-US" sz="1600" b="1"/>
              <a:t>动态治疗方案</a:t>
            </a:r>
            <a:r>
              <a:rPr lang="zh-CN" altLang="en-US" sz="1600"/>
              <a:t>，以及基于患者的疾病史、体征、症状等信息进行</a:t>
            </a:r>
            <a:r>
              <a:rPr lang="zh-CN" altLang="en-US" sz="1600" b="1"/>
              <a:t>自动化医学诊断</a:t>
            </a:r>
            <a:r>
              <a:rPr lang="zh-CN" altLang="en-US" sz="1600"/>
              <a:t>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634480" y="3642428"/>
            <a:ext cx="166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研究缺陷：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741198" y="4168702"/>
            <a:ext cx="5294020" cy="2390463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目前临床研究主要为针对</a:t>
            </a:r>
            <a:r>
              <a:rPr lang="zh-CN" altLang="en-US" b="1">
                <a:solidFill>
                  <a:srgbClr val="C00000"/>
                </a:solidFill>
              </a:rPr>
              <a:t>单一疾病的动态治疗方案优化</a:t>
            </a:r>
            <a:r>
              <a:rPr lang="zh-CN" altLang="en-US"/>
              <a:t>，决策空间较小，状态空间单一。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强化学习</a:t>
            </a:r>
            <a:r>
              <a:rPr lang="zh-CN" altLang="en-US" b="1">
                <a:solidFill>
                  <a:srgbClr val="C00000"/>
                </a:solidFill>
              </a:rPr>
              <a:t>缺乏可解释性</a:t>
            </a:r>
            <a:r>
              <a:rPr lang="zh-CN" altLang="en-US"/>
              <a:t>，目前主流的强化学习往往与深度神经网络相结合，作为一个黑盒模型，接受一组数据作为输入，并直接输出一个难以解释的策略。</a:t>
            </a:r>
            <a:endParaRPr lang="en-US" altLang="zh-CN"/>
          </a:p>
        </p:txBody>
      </p:sp>
      <p:sp>
        <p:nvSpPr>
          <p:cNvPr id="20" name="左大括号 19"/>
          <p:cNvSpPr/>
          <p:nvPr/>
        </p:nvSpPr>
        <p:spPr>
          <a:xfrm rot="10800000">
            <a:off x="6236986" y="2272806"/>
            <a:ext cx="288766" cy="3990312"/>
          </a:xfrm>
          <a:prstGeom prst="leftBrace">
            <a:avLst>
              <a:gd name="adj1" fmla="val 8333"/>
              <a:gd name="adj2" fmla="val 85639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核心技术方案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65FB8E-EB6F-1395-AC36-51B7FB3E3D3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638300"/>
            <a:ext cx="5638800" cy="2571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D596E75-3933-7A5D-9B14-D9AF07B5F957}"/>
              </a:ext>
            </a:extLst>
          </p:cNvPr>
          <p:cNvSpPr txBox="1"/>
          <p:nvPr/>
        </p:nvSpPr>
        <p:spPr>
          <a:xfrm>
            <a:off x="819150" y="1219200"/>
            <a:ext cx="6858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我们把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支付拆成「本地身份与策略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云端编排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链上结算」三层，让它既能自主执行，又不会失控。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F0B77A-F397-C177-B24F-4CA7DA0020E0}"/>
              </a:ext>
            </a:extLst>
          </p:cNvPr>
          <p:cNvSpPr/>
          <p:nvPr/>
        </p:nvSpPr>
        <p:spPr>
          <a:xfrm>
            <a:off x="6572250" y="1676400"/>
            <a:ext cx="1714500" cy="2419350"/>
          </a:xfrm>
          <a:prstGeom prst="roundRect">
            <a:avLst/>
          </a:prstGeom>
          <a:solidFill>
            <a:srgbClr val="E5F0F6">
              <a:alpha val="97000"/>
            </a:srgbClr>
          </a:solidFill>
          <a:ln w="9525">
            <a:solidFill>
              <a:srgbClr val="BDD5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5C8544-723F-5E38-250A-B541E453F94F}"/>
              </a:ext>
            </a:extLst>
          </p:cNvPr>
          <p:cNvSpPr txBox="1"/>
          <p:nvPr/>
        </p:nvSpPr>
        <p:spPr>
          <a:xfrm>
            <a:off x="6724650" y="1695450"/>
            <a:ext cx="1409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D40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三层设计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E3B4D5-F0A5-C81E-8E9A-9EFF65FC207E}"/>
              </a:ext>
            </a:extLst>
          </p:cNvPr>
          <p:cNvSpPr txBox="1"/>
          <p:nvPr/>
        </p:nvSpPr>
        <p:spPr>
          <a:xfrm>
            <a:off x="6724650" y="201930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客户端层
本地钱包、</a:t>
            </a:r>
            <a:r>
              <a:rPr lang="en-US" altLang="zh-CN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、额度策略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26BE75-C1D1-435E-525B-F441EDD6ECB8}"/>
              </a:ext>
            </a:extLst>
          </p:cNvPr>
          <p:cNvSpPr txBox="1"/>
          <p:nvPr/>
        </p:nvSpPr>
        <p:spPr>
          <a:xfrm>
            <a:off x="6724650" y="268605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服务层
网关、支付、验证、查询协作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A7E719-83F8-D4A3-63E6-B43F9F136495}"/>
              </a:ext>
            </a:extLst>
          </p:cNvPr>
          <p:cNvSpPr txBox="1"/>
          <p:nvPr/>
        </p:nvSpPr>
        <p:spPr>
          <a:xfrm>
            <a:off x="6724650" y="335280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结算层
</a:t>
            </a:r>
            <a:r>
              <a:rPr lang="en-US" altLang="zh-CN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Solana + USDC </a:t>
            </a:r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完成最终转账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E2E52D-1206-FA7A-9E95-38DB11B6E769}"/>
              </a:ext>
            </a:extLst>
          </p:cNvPr>
          <p:cNvSpPr txBox="1"/>
          <p:nvPr/>
        </p:nvSpPr>
        <p:spPr>
          <a:xfrm>
            <a:off x="800100" y="4305300"/>
            <a:ext cx="58293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设计目标不是炫技，而是让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的每一笔支付都「能做、敢做、查得清」。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后端微服务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886A44-434D-4D1C-A52F-E7A54C7C0A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28750"/>
            <a:ext cx="7543800" cy="2667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B930CD7-F0AB-880E-69ED-A2C2C2990DEC}"/>
              </a:ext>
            </a:extLst>
          </p:cNvPr>
          <p:cNvSpPr txBox="1"/>
          <p:nvPr/>
        </p:nvSpPr>
        <p:spPr>
          <a:xfrm>
            <a:off x="800100" y="1200150"/>
            <a:ext cx="7334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后端不是一个「大接口」，而是把身份、支付、查询、验单拆成独立服务，再用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 Gateway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和消息队列把它们组织起来。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246979-7D4A-F774-B0E6-BB8B5FED0A96}"/>
              </a:ext>
            </a:extLst>
          </p:cNvPr>
          <p:cNvSpPr/>
          <p:nvPr/>
        </p:nvSpPr>
        <p:spPr>
          <a:xfrm>
            <a:off x="781050" y="4000500"/>
            <a:ext cx="20002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47F743-F8FD-D1E8-AF8F-6DDE2E03B60F}"/>
              </a:ext>
            </a:extLst>
          </p:cNvPr>
          <p:cNvSpPr txBox="1"/>
          <p:nvPr/>
        </p:nvSpPr>
        <p:spPr>
          <a:xfrm>
            <a:off x="895350" y="4076700"/>
            <a:ext cx="1771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同步调用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03986E-C84D-D285-1DA4-4D0A9010E584}"/>
              </a:ext>
            </a:extLst>
          </p:cNvPr>
          <p:cNvSpPr txBox="1"/>
          <p:nvPr/>
        </p:nvSpPr>
        <p:spPr>
          <a:xfrm>
            <a:off x="895350" y="4314825"/>
            <a:ext cx="17716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网关分发后，关键链路通过 </a:t>
            </a:r>
            <a:r>
              <a:rPr lang="en-US" altLang="zh-CN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Kitex RPC </a:t>
            </a:r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快速完成。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955B74B-295D-CECD-AD92-D8916E31AC71}"/>
              </a:ext>
            </a:extLst>
          </p:cNvPr>
          <p:cNvSpPr/>
          <p:nvPr/>
        </p:nvSpPr>
        <p:spPr>
          <a:xfrm>
            <a:off x="2990850" y="4000500"/>
            <a:ext cx="23431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F52E39-2953-647A-76F4-2C024537A22F}"/>
              </a:ext>
            </a:extLst>
          </p:cNvPr>
          <p:cNvSpPr txBox="1"/>
          <p:nvPr/>
        </p:nvSpPr>
        <p:spPr>
          <a:xfrm>
            <a:off x="3105150" y="407670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异步解耦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8BFAED-A944-A157-14EB-4A1C16601C79}"/>
              </a:ext>
            </a:extLst>
          </p:cNvPr>
          <p:cNvSpPr txBox="1"/>
          <p:nvPr/>
        </p:nvSpPr>
        <p:spPr>
          <a:xfrm>
            <a:off x="3105150" y="431482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支付成功后发布事件，验证服务异步落购买记录。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B9B50CF-DB6C-3E93-08C6-A593BA555C99}"/>
              </a:ext>
            </a:extLst>
          </p:cNvPr>
          <p:cNvSpPr/>
          <p:nvPr/>
        </p:nvSpPr>
        <p:spPr>
          <a:xfrm>
            <a:off x="5543550" y="4000500"/>
            <a:ext cx="23431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5C1631-AFA4-330F-9667-76A4E22F233F}"/>
              </a:ext>
            </a:extLst>
          </p:cNvPr>
          <p:cNvSpPr txBox="1"/>
          <p:nvPr/>
        </p:nvSpPr>
        <p:spPr>
          <a:xfrm>
            <a:off x="5657850" y="407670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工程价值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CF79E8-86E6-544C-355C-B614CDF22B07}"/>
              </a:ext>
            </a:extLst>
          </p:cNvPr>
          <p:cNvSpPr txBox="1"/>
          <p:nvPr/>
        </p:nvSpPr>
        <p:spPr>
          <a:xfrm>
            <a:off x="5657850" y="431482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单个服务职责更清晰，也更适合后续扩容与迭代。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 Gateway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642B876-F207-F2C6-CB80-99F0A48E5B7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543050"/>
            <a:ext cx="4495800" cy="27813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DC6D303-A624-C324-9B10-600676596CDE}"/>
              </a:ext>
            </a:extLst>
          </p:cNvPr>
          <p:cNvSpPr txBox="1"/>
          <p:nvPr/>
        </p:nvSpPr>
        <p:spPr>
          <a:xfrm>
            <a:off x="819150" y="1200150"/>
            <a:ext cx="723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 Gateway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是整套系统的「总门厅」：所有外部请求先到这里，再决定谁能进、怎么进、该发往哪个服务。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FDD479B-F71C-504F-F607-BB1338E8482C}"/>
              </a:ext>
            </a:extLst>
          </p:cNvPr>
          <p:cNvSpPr/>
          <p:nvPr/>
        </p:nvSpPr>
        <p:spPr>
          <a:xfrm>
            <a:off x="5410200" y="1619250"/>
            <a:ext cx="2876550" cy="2628900"/>
          </a:xfrm>
          <a:prstGeom prst="roundRect">
            <a:avLst/>
          </a:prstGeom>
          <a:solidFill>
            <a:srgbClr val="E5F0F6">
              <a:alpha val="98000"/>
            </a:srgbClr>
          </a:solidFill>
          <a:ln w="10477">
            <a:solidFill>
              <a:srgbClr val="B6D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4EFA1-A95D-DAD2-DFDB-3A5E43F30F9A}"/>
              </a:ext>
            </a:extLst>
          </p:cNvPr>
          <p:cNvSpPr txBox="1"/>
          <p:nvPr/>
        </p:nvSpPr>
        <p:spPr>
          <a:xfrm>
            <a:off x="5600700" y="1638300"/>
            <a:ext cx="2495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D40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它主要做四件事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780CEB-0669-FDAB-DAA7-6468D98102ED}"/>
              </a:ext>
            </a:extLst>
          </p:cNvPr>
          <p:cNvSpPr txBox="1"/>
          <p:nvPr/>
        </p:nvSpPr>
        <p:spPr>
          <a:xfrm>
            <a:off x="5619750" y="201930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统一入口
把不同接口都收口到同一扇门前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EEBF02-CC25-5686-CEC9-460500515F25}"/>
              </a:ext>
            </a:extLst>
          </p:cNvPr>
          <p:cNvSpPr txBox="1"/>
          <p:nvPr/>
        </p:nvSpPr>
        <p:spPr>
          <a:xfrm>
            <a:off x="5619750" y="253365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鉴权验签
确认请求确实来自对应 </a:t>
            </a:r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endParaRPr lang="zh-CN" altLang="en-US" sz="1400">
              <a:solidFill>
                <a:srgbClr val="4B4B4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D8D67-975F-73BC-2C58-0FDE04BFA3EF}"/>
              </a:ext>
            </a:extLst>
          </p:cNvPr>
          <p:cNvSpPr txBox="1"/>
          <p:nvPr/>
        </p:nvSpPr>
        <p:spPr>
          <a:xfrm>
            <a:off x="5619750" y="304800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防重放与限流
拦住重复请求和异常流量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FBC56B-C537-2D75-A392-CAB94B15A415}"/>
              </a:ext>
            </a:extLst>
          </p:cNvPr>
          <p:cNvSpPr txBox="1"/>
          <p:nvPr/>
        </p:nvSpPr>
        <p:spPr>
          <a:xfrm>
            <a:off x="5619750" y="356235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路由分发
把支付、查询、验证请求发到正确服务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655669-1423-3EB0-60F0-536D7E5EFB91}"/>
              </a:ext>
            </a:extLst>
          </p:cNvPr>
          <p:cNvSpPr txBox="1"/>
          <p:nvPr/>
        </p:nvSpPr>
        <p:spPr>
          <a:xfrm>
            <a:off x="704850" y="4362450"/>
            <a:ext cx="7524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从代码实现上，它把鉴权、限流、可用性保护做成中间件链，因此后续加新接口也能复用同一套安全框架。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DID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333946-80BF-770D-A955-54E5EC65143E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3E85DF-E530-5C73-176E-4C86765B65AB}"/>
              </a:ext>
            </a:extLst>
          </p:cNvPr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生成并管理去中心化身份，是整套系统最底层、最基础的身份能力提供者。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0D37BB-6B3F-4662-33F6-006EDEE13BCF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2E83F0-4B7C-5A96-8B50-E704F6211FC8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5203D-7E9C-2984-96EF-98169707C25D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30428D-6DC2-C349-546E-420AB2C652C8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Ed25519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密钥对并拼装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did:solana:&lt;pubkey&gt;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身份标识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提供身份注册、查询、验签、状态管理等基础能力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所有支付请求都可先由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服务完成签名校验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681519-8C82-9A9D-FD0C-B0F50B062ACF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87B620-39F4-2798-40E7-6C2DEE61884A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自身不依赖其他业务服务，避免微服务循环依赖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签名内容强制绑定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timestamp + nonce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，抵御重放攻击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身份状态机支持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active / disabled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，便于风控与封禁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Payment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0EBCB6-1391-7B6E-3E73-78CD352E183B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8B7C4-4F6B-32CE-74D7-69843C14938A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是支付链路核心，负责处理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x402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协议、协调链上转账，并保证交易可重试、不可重复扣款。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2A8F3-35CC-237A-2CA4-C323F49C25C3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AC98E1A-F9E6-AF3A-1039-CE14805B6E45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37F38-684B-A7F7-DDEE-17006A76BEAE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AB240B-207A-D79D-8C37-79B55A8EC8BD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处理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HTTP 402 Payment Required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的支付请求与状态流转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同步调用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验签、调用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执行链上结算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支付成功后发布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，驱动后续验证与记账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DE76F-00AB-AE3D-DF97-1DBC2F0D112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664EB-A908-5AC5-6B93-7F637AEA5D70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COLA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分层架构组织业务，清晰拆分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domain / application / infrastructure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幂等键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Nonce 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数据库约束三重防护，避免重复支付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采用同步支付执行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异步购买记录落库的最终一致性设计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Blockchain Adapter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E0D267-6E6F-8CC5-DE52-085B504B2392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CB133E-0AFF-DBF3-0B8A-4F23EE12B1F0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把业务支付语义翻译成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链上动作，是系统与真实稳定币网络交互的执行层。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86FFDE-540A-1F2C-6734-2D46FA570CF8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4A90B8C-4DE5-2700-E418-07A4E51F0D47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1DD6A6-F505-1D00-E651-1864A77069F9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EEF76F-2676-C0BF-1DE8-EBED2C746AAB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USDC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，负责余额查询、转账构建、交易状态确认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支持客户端部分签名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热钱包补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，以及纯托管转账双模式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根据补贴比例计算平台需要承担的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 Gas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ECE60C-C84F-B51F-5A1E-CD4771E691ED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14EBAD-3022-0635-D17C-D65DFF6A8087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通过接口倒置把链上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、交易构建、热钱包签名全部抽象成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gateway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三阶段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base64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交易审计日志可精确定位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source ATA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dest ATA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出问题时能直接从日志反查到具体交易构建阶段，便于审计和排障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Verification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6896C-A44F-36E7-BE93-34F1BB416E25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DD3A33-AA42-BFB5-FFAB-56F3C733C1DD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Verification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负责把链上支付转化为平台已购买的可信证明，同时承担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验证与新用户激励发放。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C1C9696-F9E7-1CC5-587B-CF17D6C9E5DE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AF987DE-D3DA-6072-452E-844C73BB1E08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FACEEA-3CC0-2DF6-C310-0391DF178CCD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A914BE-7E40-E586-00E4-6E2234E19C78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订阅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的购买关系写入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purchase_records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对外提供单次验证、批量验证、购买证明查询等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能力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实现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推文绑定验证与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 USDC onboarding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奖励发放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8D287-4323-1655-4398-CDCE30B23F8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7BDA64-8D5C-BB23-AD54-20E228582F68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写库失败返回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ConsumeRetryLater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，让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RocketMQ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自动重投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限制同一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账号不可重复绑定不同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，防止薅奖励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奖励单号采用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x-reward-&lt;tweetID&gt;-&lt;timestamp&gt;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，天然带可溯源信息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733336-A140-68D3-F91B-B61F671775CE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BAB39-A013-8611-669F-D3F27C7D512B}"/>
              </a:ext>
            </a:extLst>
          </p:cNvPr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Query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面向用户和商家提供余额、交易、收益与销售查询，是支付能力产品化后的可视化出口。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773B42-CDF8-7514-BD59-E0CA376EEE59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2ECF05B-F2E7-5394-8539-3816FEE9DEEF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9C1B44-259B-9653-BF2E-3D00A7CF9381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8C1B70-DDED-7E45-75B7-F9280DBCBB47}"/>
              </a:ext>
            </a:extLst>
          </p:cNvPr>
          <p:cNvSpPr txBox="1"/>
          <p:nvPr/>
        </p:nvSpPr>
        <p:spPr>
          <a:xfrm>
            <a:off x="819150" y="3257550"/>
            <a:ext cx="4400550" cy="1977464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GetBalanceSummary / ListTransactions / GetRevenueSummary / ListSales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同时服务买家侧余额查询和商家侧收益、销售明细查询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支持内部交易同步接口，作为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消费后的幂等写入入口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CDA1D6-7F5A-0BCD-8BCF-6902665CDFB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321342-A374-B250-C39C-8D9060F12792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链上余额与本地账本交叉验证，既看得见链上资金，也看得见业务流水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链上查询失败时余额字段自动降级为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，但不阻断其他查询接口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趋势统计、分页查询、结构化日志已经具备进一步产品化基础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77C115-E985-029A-71A2-D513B5C0C219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我们把多微服务系统真正部署到云端，形成从本地开发、镜像构建、集群运行到公网访问的完整交付链路。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C18ADF-0025-EAF1-6655-4920999E5A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14450"/>
            <a:ext cx="8001000" cy="24765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E5E38F6-1938-AD01-E449-53F98FE1D04C}"/>
              </a:ext>
            </a:extLst>
          </p:cNvPr>
          <p:cNvSpPr/>
          <p:nvPr/>
        </p:nvSpPr>
        <p:spPr>
          <a:xfrm>
            <a:off x="666750" y="3943350"/>
            <a:ext cx="161925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553281-8B2F-5F11-91A6-21A52A9F94D7}"/>
              </a:ext>
            </a:extLst>
          </p:cNvPr>
          <p:cNvSpPr txBox="1"/>
          <p:nvPr/>
        </p:nvSpPr>
        <p:spPr>
          <a:xfrm>
            <a:off x="781050" y="4019550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容器编排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D20BCC-2D7B-B6E3-5FEE-7A6E3CFC01FA}"/>
              </a:ext>
            </a:extLst>
          </p:cNvPr>
          <p:cNvSpPr txBox="1"/>
          <p:nvPr/>
        </p:nvSpPr>
        <p:spPr>
          <a:xfrm>
            <a:off x="781050" y="4229100"/>
            <a:ext cx="1390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统一承载业务服务与中间件运行。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20D6D1-2639-BCF3-5203-ADF804C1DD98}"/>
              </a:ext>
            </a:extLst>
          </p:cNvPr>
          <p:cNvSpPr/>
          <p:nvPr/>
        </p:nvSpPr>
        <p:spPr>
          <a:xfrm>
            <a:off x="2476500" y="3943350"/>
            <a:ext cx="161925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1B0AFC-D6C0-D598-A3A4-9B175E9E27E3}"/>
              </a:ext>
            </a:extLst>
          </p:cNvPr>
          <p:cNvSpPr txBox="1"/>
          <p:nvPr/>
        </p:nvSpPr>
        <p:spPr>
          <a:xfrm>
            <a:off x="2590800" y="4019550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ACR </a:t>
            </a:r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镜像仓库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98C9CA1-EB9E-2889-E155-FEE4CDA65ACE}"/>
              </a:ext>
            </a:extLst>
          </p:cNvPr>
          <p:cNvSpPr txBox="1"/>
          <p:nvPr/>
        </p:nvSpPr>
        <p:spPr>
          <a:xfrm>
            <a:off x="2590800" y="4229100"/>
            <a:ext cx="1390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镜像统一托管，发布入口标准化。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172BD5-4799-D1EA-4178-F789FD1105C5}"/>
              </a:ext>
            </a:extLst>
          </p:cNvPr>
          <p:cNvSpPr/>
          <p:nvPr/>
        </p:nvSpPr>
        <p:spPr>
          <a:xfrm>
            <a:off x="4286250" y="3943350"/>
            <a:ext cx="161925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A3247A-7948-0C24-8907-C057CC5D745E}"/>
              </a:ext>
            </a:extLst>
          </p:cNvPr>
          <p:cNvSpPr txBox="1"/>
          <p:nvPr/>
        </p:nvSpPr>
        <p:spPr>
          <a:xfrm>
            <a:off x="4400550" y="4019550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消息与存储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A2BAED-21E7-CF77-F70E-BD061DF77D1F}"/>
              </a:ext>
            </a:extLst>
          </p:cNvPr>
          <p:cNvSpPr txBox="1"/>
          <p:nvPr/>
        </p:nvSpPr>
        <p:spPr>
          <a:xfrm>
            <a:off x="4400550" y="4229100"/>
            <a:ext cx="1390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RocketMQ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MySQL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Redis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共同支撑交易链路。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ECE718C-21EF-53D9-527D-A6912C469A9A}"/>
              </a:ext>
            </a:extLst>
          </p:cNvPr>
          <p:cNvSpPr/>
          <p:nvPr/>
        </p:nvSpPr>
        <p:spPr>
          <a:xfrm>
            <a:off x="6096000" y="3943350"/>
            <a:ext cx="161925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D32601-3DC1-3E1C-E3CC-CBF73E4F4FAA}"/>
              </a:ext>
            </a:extLst>
          </p:cNvPr>
          <p:cNvSpPr txBox="1"/>
          <p:nvPr/>
        </p:nvSpPr>
        <p:spPr>
          <a:xfrm>
            <a:off x="6210300" y="4019550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公网接入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D5583B-CEA8-61CE-903A-8A156FBBB6D3}"/>
              </a:ext>
            </a:extLst>
          </p:cNvPr>
          <p:cNvSpPr txBox="1"/>
          <p:nvPr/>
        </p:nvSpPr>
        <p:spPr>
          <a:xfrm>
            <a:off x="6210300" y="4229100"/>
            <a:ext cx="1390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ALB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统一承接外部访问与域名流量。</a:t>
            </a:r>
          </a:p>
        </p:txBody>
      </p:sp>
    </p:spTree>
    <p:extLst>
      <p:ext uri="{BB962C8B-B14F-4D97-AF65-F5344CB8AC3E}">
        <p14:creationId xmlns:p14="http://schemas.microsoft.com/office/powerpoint/2010/main" val="2638524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5CF2C4-1B2A-8803-FD84-3FC6469E3AD0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这一页重点不是“用了什么云服务”，而是我们把发布流程自动化，并补上了实际运维中的关键短板。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BE69D2A-20ED-3458-5A35-A279FFDA569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33500"/>
            <a:ext cx="8001000" cy="2362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8EEAFB-2304-3EAE-9825-CB16AA070C19}"/>
              </a:ext>
            </a:extLst>
          </p:cNvPr>
          <p:cNvSpPr/>
          <p:nvPr/>
        </p:nvSpPr>
        <p:spPr>
          <a:xfrm>
            <a:off x="800100" y="3829050"/>
            <a:ext cx="1905000" cy="6286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A16531-23C3-A6C4-7485-4D975113C8A6}"/>
              </a:ext>
            </a:extLst>
          </p:cNvPr>
          <p:cNvSpPr txBox="1"/>
          <p:nvPr/>
        </p:nvSpPr>
        <p:spPr>
          <a:xfrm>
            <a:off x="914400" y="3905250"/>
            <a:ext cx="1676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无人值守发布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4D4BC0-F33E-A3A0-196E-E1ED93469CAB}"/>
              </a:ext>
            </a:extLst>
          </p:cNvPr>
          <p:cNvSpPr txBox="1"/>
          <p:nvPr/>
        </p:nvSpPr>
        <p:spPr>
          <a:xfrm>
            <a:off x="914400" y="4114800"/>
            <a:ext cx="1676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把代码提交、构建、推送、部署串成标准化流水线。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8736552-C168-2AC7-3EA3-305E11EC1CD4}"/>
              </a:ext>
            </a:extLst>
          </p:cNvPr>
          <p:cNvSpPr/>
          <p:nvPr/>
        </p:nvSpPr>
        <p:spPr>
          <a:xfrm>
            <a:off x="3009900" y="3829050"/>
            <a:ext cx="2095500" cy="6286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A6C030-B76C-22D9-B70F-CDF1B8AAEFCC}"/>
              </a:ext>
            </a:extLst>
          </p:cNvPr>
          <p:cNvSpPr txBox="1"/>
          <p:nvPr/>
        </p:nvSpPr>
        <p:spPr>
          <a:xfrm>
            <a:off x="3124200" y="3905250"/>
            <a:ext cx="1866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Topic </a:t>
            </a:r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自动初始化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F55F40-8833-D4CA-816E-7C389B9EE5EB}"/>
              </a:ext>
            </a:extLst>
          </p:cNvPr>
          <p:cNvSpPr txBox="1"/>
          <p:nvPr/>
        </p:nvSpPr>
        <p:spPr>
          <a:xfrm>
            <a:off x="3124200" y="4114800"/>
            <a:ext cx="1866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 </a:t>
            </a:r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Job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根治 </a:t>
            </a:r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RocketMQ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重启后主题丢失的经典运维坑。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AE05479-3D6D-09B9-0A93-EFF5402886EC}"/>
              </a:ext>
            </a:extLst>
          </p:cNvPr>
          <p:cNvSpPr/>
          <p:nvPr/>
        </p:nvSpPr>
        <p:spPr>
          <a:xfrm>
            <a:off x="5391150" y="3829050"/>
            <a:ext cx="2095500" cy="6286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F92A59-F4D7-A12E-D4EF-6DB47AF89BBB}"/>
              </a:ext>
            </a:extLst>
          </p:cNvPr>
          <p:cNvSpPr txBox="1"/>
          <p:nvPr/>
        </p:nvSpPr>
        <p:spPr>
          <a:xfrm>
            <a:off x="5505450" y="3905250"/>
            <a:ext cx="1866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分钟级止损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4B4448-CA79-83E4-B7AA-10BF77A62A17}"/>
              </a:ext>
            </a:extLst>
          </p:cNvPr>
          <p:cNvSpPr txBox="1"/>
          <p:nvPr/>
        </p:nvSpPr>
        <p:spPr>
          <a:xfrm>
            <a:off x="5505450" y="4114800"/>
            <a:ext cx="1866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保留一键回滚能力，让异常版本快速撤回。</a:t>
            </a:r>
          </a:p>
        </p:txBody>
      </p:sp>
    </p:spTree>
    <p:extLst>
      <p:ext uri="{BB962C8B-B14F-4D97-AF65-F5344CB8AC3E}">
        <p14:creationId xmlns:p14="http://schemas.microsoft.com/office/powerpoint/2010/main" val="231388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5A351B-806E-7EBC-41DD-40094E5DB598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这一页先预留给你放真实截图，建议展示 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集群全景、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Pod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状态、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Ingress/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域名接入结果。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94517C-3EB2-DE1F-1F5B-C69AAB2ADD36}"/>
              </a:ext>
            </a:extLst>
          </p:cNvPr>
          <p:cNvSpPr/>
          <p:nvPr/>
        </p:nvSpPr>
        <p:spPr>
          <a:xfrm>
            <a:off x="647700" y="1466850"/>
            <a:ext cx="3429000" cy="2381250"/>
          </a:xfrm>
          <a:prstGeom prst="roundRect">
            <a:avLst/>
          </a:prstGeom>
          <a:solidFill>
            <a:srgbClr val="EEF5F8"/>
          </a:solidFill>
          <a:ln w="11430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9691918-B047-A36B-8795-2BCE4418E45C}"/>
              </a:ext>
            </a:extLst>
          </p:cNvPr>
          <p:cNvSpPr/>
          <p:nvPr/>
        </p:nvSpPr>
        <p:spPr>
          <a:xfrm>
            <a:off x="4495800" y="1466850"/>
            <a:ext cx="3429000" cy="2381250"/>
          </a:xfrm>
          <a:prstGeom prst="roundRect">
            <a:avLst/>
          </a:prstGeom>
          <a:solidFill>
            <a:srgbClr val="EEF5F8"/>
          </a:solidFill>
          <a:ln w="11430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4FA904-0315-D9EE-3C60-3013EEA85157}"/>
              </a:ext>
            </a:extLst>
          </p:cNvPr>
          <p:cNvSpPr txBox="1"/>
          <p:nvPr/>
        </p:nvSpPr>
        <p:spPr>
          <a:xfrm>
            <a:off x="1143000" y="2457450"/>
            <a:ext cx="2438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集群 </a:t>
            </a:r>
            <a:r>
              <a:rPr lang="en-US" altLang="zh-CN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Pod </a:t>
            </a:r>
            <a:r>
              <a:rPr lang="zh-CN" altLang="en-US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运行截图占位区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C5D681-B524-9DDE-B92E-C53E42447A97}"/>
              </a:ext>
            </a:extLst>
          </p:cNvPr>
          <p:cNvSpPr txBox="1"/>
          <p:nvPr/>
        </p:nvSpPr>
        <p:spPr>
          <a:xfrm>
            <a:off x="5010150" y="2457450"/>
            <a:ext cx="24003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Ingress / </a:t>
            </a:r>
            <a:r>
              <a:rPr lang="zh-CN" altLang="en-US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域名访问 </a:t>
            </a:r>
            <a:r>
              <a:rPr lang="en-US" altLang="zh-CN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日志截图占位区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005F85-0EE4-2B64-9542-AF89F98466DA}"/>
              </a:ext>
            </a:extLst>
          </p:cNvPr>
          <p:cNvSpPr txBox="1"/>
          <p:nvPr/>
        </p:nvSpPr>
        <p:spPr>
          <a:xfrm>
            <a:off x="876300" y="4000500"/>
            <a:ext cx="6819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建议截图优先级：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Pod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全绿运行 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服务与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Ingress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已暴露 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域名可访问或滚动更新成功。</a:t>
            </a:r>
          </a:p>
        </p:txBody>
      </p:sp>
    </p:spTree>
    <p:extLst>
      <p:ext uri="{BB962C8B-B14F-4D97-AF65-F5344CB8AC3E}">
        <p14:creationId xmlns:p14="http://schemas.microsoft.com/office/powerpoint/2010/main" val="2554819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665942-EDC5-E8E3-3AA7-4A209C885A4D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我们没有把支付客户端绑定在单一宿主上，而是规划成从 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OpenClaw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走向 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CLI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的双轨制升级路径。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635BA64-E69C-075C-388B-85DF6DBB71F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295400"/>
            <a:ext cx="7886700" cy="27622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19F828F-015B-BE4E-CB9F-8651438088D0}"/>
              </a:ext>
            </a:extLst>
          </p:cNvPr>
          <p:cNvSpPr txBox="1"/>
          <p:nvPr/>
        </p:nvSpPr>
        <p:spPr>
          <a:xfrm>
            <a:off x="857250" y="4114800"/>
            <a:ext cx="6667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产品定位从“服务一个宿主”升级为“服务整个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生态”，这决定了后续扩展空间。</a:t>
            </a:r>
          </a:p>
        </p:txBody>
      </p:sp>
    </p:spTree>
    <p:extLst>
      <p:ext uri="{BB962C8B-B14F-4D97-AF65-F5344CB8AC3E}">
        <p14:creationId xmlns:p14="http://schemas.microsoft.com/office/powerpoint/2010/main" val="406349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060D9D-B455-350A-3DAB-FF979FDE7498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客户端不是若干零散工具，而是一条完整的使用路径：从本地身份初始化，到验证、配置、再到自主支付。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CF7531-284D-97F1-C8E7-4F4CDA34E0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295400"/>
            <a:ext cx="8039100" cy="27241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AE56EA8-8997-B828-8118-CDE9958F679A}"/>
              </a:ext>
            </a:extLst>
          </p:cNvPr>
          <p:cNvSpPr/>
          <p:nvPr/>
        </p:nvSpPr>
        <p:spPr>
          <a:xfrm>
            <a:off x="857250" y="4038600"/>
            <a:ext cx="171450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062E0C-8A31-D703-992E-501E3850104D}"/>
              </a:ext>
            </a:extLst>
          </p:cNvPr>
          <p:cNvSpPr txBox="1"/>
          <p:nvPr/>
        </p:nvSpPr>
        <p:spPr>
          <a:xfrm>
            <a:off x="971550" y="4114800"/>
            <a:ext cx="1485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身份能力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9BBF58-F45B-796E-4D74-51B5339417AE}"/>
              </a:ext>
            </a:extLst>
          </p:cNvPr>
          <p:cNvSpPr txBox="1"/>
          <p:nvPr/>
        </p:nvSpPr>
        <p:spPr>
          <a:xfrm>
            <a:off x="971550" y="4324350"/>
            <a:ext cx="1485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本地钱包、</a:t>
            </a:r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注册、签名与身份管理。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458A504-79FE-BF24-7755-BB2CE59920D0}"/>
              </a:ext>
            </a:extLst>
          </p:cNvPr>
          <p:cNvSpPr/>
          <p:nvPr/>
        </p:nvSpPr>
        <p:spPr>
          <a:xfrm>
            <a:off x="2971800" y="4038600"/>
            <a:ext cx="171450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8E4391-FD0B-8F2F-775A-02017A0C0FB8}"/>
              </a:ext>
            </a:extLst>
          </p:cNvPr>
          <p:cNvSpPr txBox="1"/>
          <p:nvPr/>
        </p:nvSpPr>
        <p:spPr>
          <a:xfrm>
            <a:off x="3086100" y="4114800"/>
            <a:ext cx="1485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支付能力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7FCB45-5896-5DC7-6167-FE796318BC72}"/>
              </a:ext>
            </a:extLst>
          </p:cNvPr>
          <p:cNvSpPr txBox="1"/>
          <p:nvPr/>
        </p:nvSpPr>
        <p:spPr>
          <a:xfrm>
            <a:off x="3086100" y="4324350"/>
            <a:ext cx="1485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策略构建、余额查询、支付执行与账单结果。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6A0253-3EBA-FBB1-99E9-D66B9270A28C}"/>
              </a:ext>
            </a:extLst>
          </p:cNvPr>
          <p:cNvSpPr/>
          <p:nvPr/>
        </p:nvSpPr>
        <p:spPr>
          <a:xfrm>
            <a:off x="5086350" y="4038600"/>
            <a:ext cx="1714500" cy="55245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98C607-5F3C-157E-1C89-4913475E7137}"/>
              </a:ext>
            </a:extLst>
          </p:cNvPr>
          <p:cNvSpPr txBox="1"/>
          <p:nvPr/>
        </p:nvSpPr>
        <p:spPr>
          <a:xfrm>
            <a:off x="5200650" y="4114800"/>
            <a:ext cx="1485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验证与商家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81C4DD-B6FB-25E5-A803-678BC0081973}"/>
              </a:ext>
            </a:extLst>
          </p:cNvPr>
          <p:cNvSpPr txBox="1"/>
          <p:nvPr/>
        </p:nvSpPr>
        <p:spPr>
          <a:xfrm>
            <a:off x="5200650" y="4324350"/>
            <a:ext cx="1485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zh-CN" altLang="en-US" sz="1150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验证、商家接入、销售与收益查询。</a:t>
            </a:r>
          </a:p>
        </p:txBody>
      </p:sp>
    </p:spTree>
    <p:extLst>
      <p:ext uri="{BB962C8B-B14F-4D97-AF65-F5344CB8AC3E}">
        <p14:creationId xmlns:p14="http://schemas.microsoft.com/office/powerpoint/2010/main" val="1078317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9C3CA7-1C9B-F38B-FDA4-DA1EE8A8EAFB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自主支付最关键的问题不是“能不能付”，而是“能不能在可控边界内放心地付”。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25983CA-5A68-2AE8-EC37-D96191BEF217}"/>
              </a:ext>
            </a:extLst>
          </p:cNvPr>
          <p:cNvSpPr/>
          <p:nvPr/>
        </p:nvSpPr>
        <p:spPr>
          <a:xfrm>
            <a:off x="571500" y="1524000"/>
            <a:ext cx="3429000" cy="2667000"/>
          </a:xfrm>
          <a:prstGeom prst="roundRect">
            <a:avLst/>
          </a:prstGeom>
          <a:solidFill>
            <a:srgbClr val="DCEEF7"/>
          </a:solidFill>
          <a:ln w="10477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A31272B-3AFD-5557-84D3-97E9B49A6882}"/>
              </a:ext>
            </a:extLst>
          </p:cNvPr>
          <p:cNvSpPr/>
          <p:nvPr/>
        </p:nvSpPr>
        <p:spPr>
          <a:xfrm>
            <a:off x="4476750" y="1524000"/>
            <a:ext cx="3429000" cy="2667000"/>
          </a:xfrm>
          <a:prstGeom prst="roundRect">
            <a:avLst/>
          </a:prstGeom>
          <a:solidFill>
            <a:srgbClr val="FBF5EE"/>
          </a:solidFill>
          <a:ln w="10477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E6B81C-96C5-4BA2-4AA8-A2FA9494166A}"/>
              </a:ext>
            </a:extLst>
          </p:cNvPr>
          <p:cNvSpPr txBox="1"/>
          <p:nvPr/>
        </p:nvSpPr>
        <p:spPr>
          <a:xfrm>
            <a:off x="781050" y="1695450"/>
            <a:ext cx="1428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2D40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安全防护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65AFBA-509F-50FD-0C96-2D0B58E83FA7}"/>
              </a:ext>
            </a:extLst>
          </p:cNvPr>
          <p:cNvSpPr txBox="1"/>
          <p:nvPr/>
        </p:nvSpPr>
        <p:spPr>
          <a:xfrm>
            <a:off x="781050" y="2038350"/>
            <a:ext cx="2857500" cy="1314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失败状态显式返回
杜绝 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LLM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把“有返回”误判成“支付成功”。
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大额支付强制二次确认
超过自动阈值必须人工确认，限制资金风险。
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本地密钥 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AES-256-GCM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加密
把钱包与本地状态保护在用户设备上。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BBE653-AA84-4EE9-E8B7-005198C84D9C}"/>
              </a:ext>
            </a:extLst>
          </p:cNvPr>
          <p:cNvSpPr txBox="1"/>
          <p:nvPr/>
        </p:nvSpPr>
        <p:spPr>
          <a:xfrm>
            <a:off x="4686300" y="1695450"/>
            <a:ext cx="1619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674A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质量保障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B25005-4451-0EF3-BCF0-3A8ABE6DCD73}"/>
              </a:ext>
            </a:extLst>
          </p:cNvPr>
          <p:cNvSpPr txBox="1"/>
          <p:nvPr/>
        </p:nvSpPr>
        <p:spPr>
          <a:xfrm>
            <a:off x="4686300" y="2038350"/>
            <a:ext cx="2857500" cy="1314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doctor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先诊断再支付
在执行前识别缺失条件，降低错误路径。
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onboard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状态机可恢复
支持中断后继续，减少用户重复操作。
</a:t>
            </a:r>
            <a:r>
              <a:rPr lang="en-US" altLang="zh-CN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eval + trace </a:t>
            </a:r>
            <a:r>
              <a:rPr lang="zh-CN" altLang="en-US" sz="14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留痕
工具选择、参数填写、任务完成率都可以追踪评估。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C95BF5-3F81-3771-E3AC-9B759D52E950}"/>
              </a:ext>
            </a:extLst>
          </p:cNvPr>
          <p:cNvSpPr txBox="1"/>
          <p:nvPr/>
        </p:nvSpPr>
        <p:spPr>
          <a:xfrm>
            <a:off x="819150" y="4305300"/>
            <a:ext cx="66103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我们的目标不是让 </a:t>
            </a:r>
            <a:r>
              <a:rPr lang="en-US" altLang="zh-CN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拥有无限支付权限，而是让它在规则、审计和确认机制下安全完成任务。</a:t>
            </a:r>
          </a:p>
        </p:txBody>
      </p:sp>
    </p:spTree>
    <p:extLst>
      <p:ext uri="{BB962C8B-B14F-4D97-AF65-F5344CB8AC3E}">
        <p14:creationId xmlns:p14="http://schemas.microsoft.com/office/powerpoint/2010/main" val="4044988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847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6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体母版">
  <a:themeElements>
    <a:clrScheme name="我给母校送模板配色1">
      <a:dk1>
        <a:sysClr val="windowText" lastClr="000000"/>
      </a:dk1>
      <a:lt1>
        <a:sysClr val="window" lastClr="FFFFFF"/>
      </a:lt1>
      <a:dk2>
        <a:srgbClr val="7F7F7F"/>
      </a:dk2>
      <a:lt2>
        <a:srgbClr val="FAFAFC"/>
      </a:lt2>
      <a:accent1>
        <a:srgbClr val="36456E"/>
      </a:accent1>
      <a:accent2>
        <a:srgbClr val="1D75AB"/>
      </a:accent2>
      <a:accent3>
        <a:srgbClr val="0EAEC4"/>
      </a:accent3>
      <a:accent4>
        <a:srgbClr val="EF5F2D"/>
      </a:accent4>
      <a:accent5>
        <a:srgbClr val="FBD533"/>
      </a:accent5>
      <a:accent6>
        <a:srgbClr val="D35AD2"/>
      </a:accent6>
      <a:hlink>
        <a:srgbClr val="7030A0"/>
      </a:hlink>
      <a:folHlink>
        <a:srgbClr val="FF0000"/>
      </a:folHlink>
    </a:clrScheme>
    <a:fontScheme name="我给母校送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8370</Words>
  <Application>Microsoft Office PowerPoint</Application>
  <PresentationFormat>宽屏</PresentationFormat>
  <Paragraphs>483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Microsoft YaHei UI</vt:lpstr>
      <vt:lpstr>MicrosoftYaHei</vt:lpstr>
      <vt:lpstr>等线</vt:lpstr>
      <vt:lpstr>思源黑体 CN ExtraLight</vt:lpstr>
      <vt:lpstr>微软雅黑</vt:lpstr>
      <vt:lpstr>Arial</vt:lpstr>
      <vt:lpstr>Britannic Bold</vt:lpstr>
      <vt:lpstr>Calibri</vt:lpstr>
      <vt:lpstr>Segoe UI</vt:lpstr>
      <vt:lpstr>Times New Roman</vt:lpstr>
      <vt:lpstr>Wingdings</vt:lpstr>
      <vt:lpstr>Office 主题​​</vt:lpstr>
      <vt:lpstr>主体母版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 Biyan</dc:creator>
  <cp:lastModifiedBy>boen bao</cp:lastModifiedBy>
  <cp:revision>504</cp:revision>
  <dcterms:created xsi:type="dcterms:W3CDTF">2024-01-10T19:24:00Z</dcterms:created>
  <dcterms:modified xsi:type="dcterms:W3CDTF">2026-07-08T14:03:12Z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2052-12.1.0.26375</vt:lpwstr>
  </property>
</Properties>
</file>