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bookmarkIdSeed="5">
  <p:sldMasterIdLst>
    <p:sldMasterId id="2147483648" r:id="rId1"/>
    <p:sldMasterId id="2147483676" r:id="rId2"/>
  </p:sldMasterIdLst>
  <p:notesMasterIdLst>
    <p:notesMasterId r:id="rId17"/>
  </p:notesMasterIdLst>
  <p:sldIdLst>
    <p:sldId id="259" r:id="rId3"/>
    <p:sldId id="1799" r:id="rId4"/>
    <p:sldId id="333" r:id="rId5"/>
    <p:sldId id="1798" r:id="rId6"/>
    <p:sldId id="1801" r:id="rId7"/>
    <p:sldId id="1789" r:id="rId8"/>
    <p:sldId id="1782" r:id="rId9"/>
    <p:sldId id="1803" r:id="rId10"/>
    <p:sldId id="1804" r:id="rId11"/>
    <p:sldId id="1805" r:id="rId12"/>
    <p:sldId id="1806" r:id="rId13"/>
    <p:sldId id="1807" r:id="rId14"/>
    <p:sldId id="1808" r:id="rId15"/>
    <p:sldId id="1809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72" userDrawn="1">
          <p15:clr>
            <a:srgbClr val="A4A3A4"/>
          </p15:clr>
        </p15:guide>
        <p15:guide id="2" pos="693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 Biyan" initials="GB" lastIdx="1" clrIdx="0"/>
  <p:cmAuthor id="2" name="WPS" initials="W" lastIdx="0" clrIdx="1"/>
  <p:cmAuthor id="3" name="作者" initials="A" lastIdx="0" clrIdx="2"/>
  <p:cmAuthor id="4" name="WPS_1679281038" initials="W" lastIdx="0" clrIdx="3"/>
  <p:cmAuthor id="5" name="路 子豪" initials="路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2300"/>
    <a:srgbClr val="F84D4D"/>
    <a:srgbClr val="035D4D"/>
    <a:srgbClr val="CEE6C0"/>
    <a:srgbClr val="262626"/>
    <a:srgbClr val="A02300"/>
    <a:srgbClr val="02468E"/>
    <a:srgbClr val="C82B00"/>
    <a:srgbClr val="FA6666"/>
    <a:srgbClr val="F9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1" autoAdjust="0"/>
    <p:restoredTop sz="85446" autoAdjust="0"/>
  </p:normalViewPr>
  <p:slideViewPr>
    <p:cSldViewPr snapToGrid="0" showGuides="1">
      <p:cViewPr>
        <p:scale>
          <a:sx n="75" d="100"/>
          <a:sy n="75" d="100"/>
        </p:scale>
        <p:origin x="747" y="233"/>
      </p:cViewPr>
      <p:guideLst>
        <p:guide orient="horz" pos="3372"/>
        <p:guide pos="69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4FDE9-8F51-4230-A725-30CE20208BF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23777-BDB0-4081-B476-439F93D3998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我的汇报主要分为四部分：研究背景、技术方案、结果分析以及结论与展望。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研究尺度单一</a:t>
            </a:r>
            <a:r>
              <a:rPr lang="zh-CN" altLang="en-US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，缺乏动态研究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200" kern="10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研究尺度上宏观（区域、总体规划）尺度居多，缺乏中微观（详细规划）尺度精细化研究，导致研究应用与实际规划工作存在一定脱节。</a:t>
            </a:r>
            <a:endParaRPr lang="en-US" altLang="zh-CN" sz="1200" kern="10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更加直观、可视化、科学制定 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0" i="0">
                <a:solidFill>
                  <a:srgbClr val="4C4C4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生态状况</a:t>
            </a:r>
            <a:endParaRPr lang="en-US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当前我国发展面临的问题可以概括为两个方面：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、生态资源环境消耗难以支撑持续发展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一方面，我国战略性资源、能源的人均保有量远低于世界平均水平；另一方面，我国的全要素生产率伴随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GDP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的提升不增反降，生态环境的承载能力几近极限。延续既有发展模式不仅无法在中国国土上实现“中国梦”，甚至会成为“全人类的悲剧和灾难”（</a:t>
            </a:r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2011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年奥巴马在白宫接受澳大利亚电视采访时讲话）。双重压力倒逼我国的发展方式从粗放型向集约型、从外延型向内涵型、从资源消耗型向创新驱动型转变。</a:t>
            </a:r>
          </a:p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latin typeface="MicrosoftYaHei"/>
              </a:rPr>
              <a:t>2</a:t>
            </a:r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、不平衡不充分发展难以满足人民需要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latin typeface="MicrosoftYaHei"/>
              </a:rPr>
              <a:t>我国的城镇化已进入快速发展的中后期，但区域差距、城乡差距并未明显缩小，部分领域甚至逐步扩大。经济增速和结构发生深刻变化，经济质量、效率、动力亟待变革；以“工业园区、房地产”为代表的空间产品跟不上人民日益增长的美好生活需要，呈现普遍性的空间供给“过剩”和资本循环“断路”，而在“良好生态环境”这种最普惠民生福祉上，空间供给能力却是逐渐下降的</a:t>
            </a:r>
          </a:p>
          <a:p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随着社会经济的发展，生态系统和自然资源经历着持续利用、退化和破坏的过程。为减少人类活动对生态系统带来的危害，生态系统服务理论逐渐成为生态保护政策的核心</a:t>
            </a:r>
            <a:r>
              <a:rPr lang="en-US" altLang="zh-CN"/>
              <a:t>[</a:t>
            </a:r>
            <a:r>
              <a:rPr lang="en-US" altLang="zh-CN" u="none" strike="noStrike">
                <a:solidFill>
                  <a:srgbClr val="2F8BD6"/>
                </a:solidFill>
                <a:effectLst/>
              </a:rPr>
              <a:t>64</a:t>
            </a:r>
            <a:r>
              <a:rPr lang="en-US" altLang="zh-CN"/>
              <a:t>]</a:t>
            </a:r>
            <a:r>
              <a:rPr lang="zh-CN" alt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b="0" i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识别政策保护的目标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确定政策保护的区域   </a:t>
            </a:r>
            <a:r>
              <a:rPr lang="en-US" altLang="zh-CN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b="0" i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明确政策保护的受益者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0" i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23777-BDB0-4081-B476-439F93D39985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D7C0-D2EC-4F78-A71F-0993C46EB1B1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74D2D-2CA3-4DA2-960D-ACCD54CD11BE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43FC-A3D2-4518-BE7A-C3F813165DC2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B7724-71C7-4D24-A8B2-7B1AB51B0FBB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46820-6768-483F-A616-75E641EEA21E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EF73-CE81-465E-A193-2D15779B4B9A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413-1498-498D-ADFE-25C0D54EF81B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TextBox 6"/>
          <p:cNvSpPr txBox="1"/>
          <p:nvPr userDrawn="1"/>
        </p:nvSpPr>
        <p:spPr>
          <a:xfrm>
            <a:off x="609600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10" name="TextBox 7"/>
          <p:cNvSpPr txBox="1"/>
          <p:nvPr userDrawn="1"/>
        </p:nvSpPr>
        <p:spPr>
          <a:xfrm>
            <a:off x="7797800" y="215904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最终成果</a:t>
            </a: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2" name="直接连接符 11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3" name="TextBox 6"/>
          <p:cNvSpPr txBox="1"/>
          <p:nvPr userDrawn="1"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5" name="TextBox 9"/>
          <p:cNvSpPr txBox="1"/>
          <p:nvPr userDrawn="1"/>
        </p:nvSpPr>
        <p:spPr>
          <a:xfrm>
            <a:off x="949960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grpSp>
        <p:nvGrpSpPr>
          <p:cNvPr id="19" name="组合 18"/>
          <p:cNvGrpSpPr/>
          <p:nvPr userDrawn="1"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0" name="箭头: 五边形 19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21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pic>
        <p:nvPicPr>
          <p:cNvPr id="1026" name="Picture 2" descr="合作伙伴 - 同方环境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8" y="-211866"/>
            <a:ext cx="2331531" cy="124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9413-1498-498D-ADFE-25C0D54EF81B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026" name="Picture 2" descr="合作伙伴 - 同方环境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8" y="-211866"/>
            <a:ext cx="2331531" cy="124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77CD-47D9-4FC4-B8A4-623AAFF35AF3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F1B48-CEAD-4F1C-AE71-CB7229355321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8A2BA-4249-4F82-847B-D81ACA07A930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89CC-024E-42E9-86B3-397BF2D2E2E5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图片占位符 17"/>
          <p:cNvSpPr>
            <a:spLocks noGrp="1"/>
          </p:cNvSpPr>
          <p:nvPr>
            <p:ph type="pic" sz="quarter" idx="10"/>
          </p:nvPr>
        </p:nvSpPr>
        <p:spPr>
          <a:xfrm>
            <a:off x="682171" y="1526793"/>
            <a:ext cx="6047631" cy="404669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660400" y="1901825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3841069" y="1901825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60400" y="3915696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3"/>
          </p:nvPr>
        </p:nvSpPr>
        <p:spPr>
          <a:xfrm>
            <a:off x="3841069" y="3915696"/>
            <a:ext cx="2879725" cy="162083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12200" y="1825116"/>
            <a:ext cx="5731862" cy="392252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80380" y="2155760"/>
            <a:ext cx="3493085" cy="260267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1"/>
          </p:nvPr>
        </p:nvSpPr>
        <p:spPr>
          <a:xfrm>
            <a:off x="7997864" y="2155760"/>
            <a:ext cx="3513066" cy="260267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567543" y="1301530"/>
            <a:ext cx="4209138" cy="219961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406686" y="1301530"/>
            <a:ext cx="4209138" cy="219961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2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827088" y="1815250"/>
            <a:ext cx="5584149" cy="371286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1"/>
          </p:nvPr>
        </p:nvSpPr>
        <p:spPr>
          <a:xfrm>
            <a:off x="5025543" y="1571207"/>
            <a:ext cx="2140914" cy="2140914"/>
          </a:xfrm>
          <a:custGeom>
            <a:avLst/>
            <a:gdLst>
              <a:gd name="connsiteX0" fmla="*/ 1070457 w 2140914"/>
              <a:gd name="connsiteY0" fmla="*/ 0 h 2140914"/>
              <a:gd name="connsiteX1" fmla="*/ 2140914 w 2140914"/>
              <a:gd name="connsiteY1" fmla="*/ 1070457 h 2140914"/>
              <a:gd name="connsiteX2" fmla="*/ 1070457 w 2140914"/>
              <a:gd name="connsiteY2" fmla="*/ 2140914 h 2140914"/>
              <a:gd name="connsiteX3" fmla="*/ 0 w 2140914"/>
              <a:gd name="connsiteY3" fmla="*/ 1070457 h 2140914"/>
              <a:gd name="connsiteX4" fmla="*/ 1070457 w 2140914"/>
              <a:gd name="connsiteY4" fmla="*/ 0 h 214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914" h="2140914">
                <a:moveTo>
                  <a:pt x="1070457" y="0"/>
                </a:moveTo>
                <a:cubicBezTo>
                  <a:pt x="1661654" y="0"/>
                  <a:pt x="2140914" y="479260"/>
                  <a:pt x="2140914" y="1070457"/>
                </a:cubicBezTo>
                <a:cubicBezTo>
                  <a:pt x="2140914" y="1661654"/>
                  <a:pt x="1661654" y="2140914"/>
                  <a:pt x="1070457" y="2140914"/>
                </a:cubicBezTo>
                <a:cubicBezTo>
                  <a:pt x="479260" y="2140914"/>
                  <a:pt x="0" y="1661654"/>
                  <a:pt x="0" y="1070457"/>
                </a:cubicBezTo>
                <a:cubicBezTo>
                  <a:pt x="0" y="479260"/>
                  <a:pt x="479260" y="0"/>
                  <a:pt x="10704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2"/>
          </p:nvPr>
        </p:nvSpPr>
        <p:spPr>
          <a:xfrm>
            <a:off x="8482794" y="1571207"/>
            <a:ext cx="2140914" cy="2140914"/>
          </a:xfrm>
          <a:custGeom>
            <a:avLst/>
            <a:gdLst>
              <a:gd name="connsiteX0" fmla="*/ 1070457 w 2140914"/>
              <a:gd name="connsiteY0" fmla="*/ 0 h 2140914"/>
              <a:gd name="connsiteX1" fmla="*/ 2140914 w 2140914"/>
              <a:gd name="connsiteY1" fmla="*/ 1070457 h 2140914"/>
              <a:gd name="connsiteX2" fmla="*/ 1070457 w 2140914"/>
              <a:gd name="connsiteY2" fmla="*/ 2140914 h 2140914"/>
              <a:gd name="connsiteX3" fmla="*/ 0 w 2140914"/>
              <a:gd name="connsiteY3" fmla="*/ 1070457 h 2140914"/>
              <a:gd name="connsiteX4" fmla="*/ 1070457 w 2140914"/>
              <a:gd name="connsiteY4" fmla="*/ 0 h 214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914" h="2140914">
                <a:moveTo>
                  <a:pt x="1070457" y="0"/>
                </a:moveTo>
                <a:cubicBezTo>
                  <a:pt x="1661654" y="0"/>
                  <a:pt x="2140914" y="479260"/>
                  <a:pt x="2140914" y="1070457"/>
                </a:cubicBezTo>
                <a:cubicBezTo>
                  <a:pt x="2140914" y="1661654"/>
                  <a:pt x="1661654" y="2140914"/>
                  <a:pt x="1070457" y="2140914"/>
                </a:cubicBezTo>
                <a:cubicBezTo>
                  <a:pt x="479260" y="2140914"/>
                  <a:pt x="0" y="1661654"/>
                  <a:pt x="0" y="1070457"/>
                </a:cubicBezTo>
                <a:cubicBezTo>
                  <a:pt x="0" y="479260"/>
                  <a:pt x="479260" y="0"/>
                  <a:pt x="10704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568292" y="1571207"/>
            <a:ext cx="2140914" cy="2140914"/>
          </a:xfrm>
          <a:custGeom>
            <a:avLst/>
            <a:gdLst>
              <a:gd name="connsiteX0" fmla="*/ 1070457 w 2140914"/>
              <a:gd name="connsiteY0" fmla="*/ 0 h 2140914"/>
              <a:gd name="connsiteX1" fmla="*/ 2140914 w 2140914"/>
              <a:gd name="connsiteY1" fmla="*/ 1070457 h 2140914"/>
              <a:gd name="connsiteX2" fmla="*/ 1070457 w 2140914"/>
              <a:gd name="connsiteY2" fmla="*/ 2140914 h 2140914"/>
              <a:gd name="connsiteX3" fmla="*/ 0 w 2140914"/>
              <a:gd name="connsiteY3" fmla="*/ 1070457 h 2140914"/>
              <a:gd name="connsiteX4" fmla="*/ 1070457 w 2140914"/>
              <a:gd name="connsiteY4" fmla="*/ 0 h 214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0914" h="2140914">
                <a:moveTo>
                  <a:pt x="1070457" y="0"/>
                </a:moveTo>
                <a:cubicBezTo>
                  <a:pt x="1661654" y="0"/>
                  <a:pt x="2140914" y="479260"/>
                  <a:pt x="2140914" y="1070457"/>
                </a:cubicBezTo>
                <a:cubicBezTo>
                  <a:pt x="2140914" y="1661654"/>
                  <a:pt x="1661654" y="2140914"/>
                  <a:pt x="1070457" y="2140914"/>
                </a:cubicBezTo>
                <a:cubicBezTo>
                  <a:pt x="479260" y="2140914"/>
                  <a:pt x="0" y="1661654"/>
                  <a:pt x="0" y="1070457"/>
                </a:cubicBezTo>
                <a:cubicBezTo>
                  <a:pt x="0" y="479260"/>
                  <a:pt x="479260" y="0"/>
                  <a:pt x="10704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179904" y="1901468"/>
            <a:ext cx="3434167" cy="2104474"/>
          </a:xfrm>
          <a:custGeom>
            <a:avLst/>
            <a:gdLst>
              <a:gd name="connsiteX0" fmla="*/ 0 w 3434167"/>
              <a:gd name="connsiteY0" fmla="*/ 0 h 1931520"/>
              <a:gd name="connsiteX1" fmla="*/ 3434167 w 3434167"/>
              <a:gd name="connsiteY1" fmla="*/ 0 h 1931520"/>
              <a:gd name="connsiteX2" fmla="*/ 3434167 w 3434167"/>
              <a:gd name="connsiteY2" fmla="*/ 1931520 h 1931520"/>
              <a:gd name="connsiteX3" fmla="*/ 0 w 3434167"/>
              <a:gd name="connsiteY3" fmla="*/ 1931520 h 19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167" h="1931520">
                <a:moveTo>
                  <a:pt x="0" y="0"/>
                </a:moveTo>
                <a:lnTo>
                  <a:pt x="3434167" y="0"/>
                </a:lnTo>
                <a:lnTo>
                  <a:pt x="3434167" y="1931520"/>
                </a:lnTo>
                <a:lnTo>
                  <a:pt x="0" y="1931520"/>
                </a:lnTo>
                <a:close/>
              </a:path>
            </a:pathLst>
          </a:custGeom>
          <a:effectLst>
            <a:outerShdw blurRad="127000" sx="102000" sy="102000" algn="ctr" rotWithShape="0">
              <a:schemeClr val="bg1">
                <a:lumMod val="50000"/>
                <a:alpha val="30000"/>
              </a:scheme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7842363" y="1895930"/>
            <a:ext cx="3434167" cy="2104474"/>
          </a:xfrm>
          <a:custGeom>
            <a:avLst/>
            <a:gdLst>
              <a:gd name="connsiteX0" fmla="*/ 0 w 3434167"/>
              <a:gd name="connsiteY0" fmla="*/ 0 h 1931520"/>
              <a:gd name="connsiteX1" fmla="*/ 3434167 w 3434167"/>
              <a:gd name="connsiteY1" fmla="*/ 0 h 1931520"/>
              <a:gd name="connsiteX2" fmla="*/ 3434167 w 3434167"/>
              <a:gd name="connsiteY2" fmla="*/ 1931520 h 1931520"/>
              <a:gd name="connsiteX3" fmla="*/ 0 w 3434167"/>
              <a:gd name="connsiteY3" fmla="*/ 1931520 h 19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167" h="1931520">
                <a:moveTo>
                  <a:pt x="0" y="0"/>
                </a:moveTo>
                <a:lnTo>
                  <a:pt x="3434167" y="0"/>
                </a:lnTo>
                <a:lnTo>
                  <a:pt x="3434167" y="1931520"/>
                </a:lnTo>
                <a:lnTo>
                  <a:pt x="0" y="1931520"/>
                </a:lnTo>
                <a:close/>
              </a:path>
            </a:pathLst>
          </a:custGeom>
          <a:effectLst>
            <a:outerShdw blurRad="127000" sx="102000" sy="102000" algn="ctr" rotWithShape="0">
              <a:schemeClr val="bg1">
                <a:lumMod val="50000"/>
                <a:alpha val="30000"/>
              </a:schemeClr>
            </a:outerShdw>
          </a:effectLst>
          <a:scene3d>
            <a:camera prst="perspectiveLeft"/>
            <a:lightRig rig="threePt" dir="t"/>
          </a:scene3d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3793560" y="1644454"/>
            <a:ext cx="4604880" cy="2584487"/>
          </a:xfrm>
          <a:custGeom>
            <a:avLst/>
            <a:gdLst>
              <a:gd name="connsiteX0" fmla="*/ 0 w 3434167"/>
              <a:gd name="connsiteY0" fmla="*/ 0 h 1931520"/>
              <a:gd name="connsiteX1" fmla="*/ 3434167 w 3434167"/>
              <a:gd name="connsiteY1" fmla="*/ 0 h 1931520"/>
              <a:gd name="connsiteX2" fmla="*/ 3434167 w 3434167"/>
              <a:gd name="connsiteY2" fmla="*/ 1931520 h 1931520"/>
              <a:gd name="connsiteX3" fmla="*/ 0 w 3434167"/>
              <a:gd name="connsiteY3" fmla="*/ 1931520 h 19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167" h="1931520">
                <a:moveTo>
                  <a:pt x="0" y="0"/>
                </a:moveTo>
                <a:lnTo>
                  <a:pt x="3434167" y="0"/>
                </a:lnTo>
                <a:lnTo>
                  <a:pt x="3434167" y="1931520"/>
                </a:lnTo>
                <a:lnTo>
                  <a:pt x="0" y="1931520"/>
                </a:lnTo>
                <a:close/>
              </a:path>
            </a:pathLst>
          </a:custGeom>
          <a:effectLst>
            <a:outerShdw blurRad="127000" sx="102000" sy="102000" algn="ctr" rotWithShape="0">
              <a:schemeClr val="bg1">
                <a:lumMod val="50000"/>
                <a:alpha val="30000"/>
              </a:scheme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82171" y="1770744"/>
            <a:ext cx="5776686" cy="3758837"/>
          </a:xfrm>
          <a:custGeom>
            <a:avLst/>
            <a:gdLst>
              <a:gd name="connsiteX0" fmla="*/ 0 w 5776686"/>
              <a:gd name="connsiteY0" fmla="*/ 0 h 3758837"/>
              <a:gd name="connsiteX1" fmla="*/ 5776686 w 5776686"/>
              <a:gd name="connsiteY1" fmla="*/ 0 h 3758837"/>
              <a:gd name="connsiteX2" fmla="*/ 5776686 w 5776686"/>
              <a:gd name="connsiteY2" fmla="*/ 3758837 h 3758837"/>
              <a:gd name="connsiteX3" fmla="*/ 0 w 5776686"/>
              <a:gd name="connsiteY3" fmla="*/ 3758837 h 3758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6686" h="3758837">
                <a:moveTo>
                  <a:pt x="0" y="0"/>
                </a:moveTo>
                <a:lnTo>
                  <a:pt x="5776686" y="0"/>
                </a:lnTo>
                <a:lnTo>
                  <a:pt x="5776686" y="3758837"/>
                </a:lnTo>
                <a:lnTo>
                  <a:pt x="0" y="375883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817635" y="1035591"/>
            <a:ext cx="10556729" cy="3240588"/>
          </a:xfrm>
          <a:custGeom>
            <a:avLst/>
            <a:gdLst>
              <a:gd name="connsiteX0" fmla="*/ 0 w 10874375"/>
              <a:gd name="connsiteY0" fmla="*/ 0 h 3462946"/>
              <a:gd name="connsiteX1" fmla="*/ 10874375 w 10874375"/>
              <a:gd name="connsiteY1" fmla="*/ 0 h 3462946"/>
              <a:gd name="connsiteX2" fmla="*/ 10874375 w 10874375"/>
              <a:gd name="connsiteY2" fmla="*/ 3462946 h 3462946"/>
              <a:gd name="connsiteX3" fmla="*/ 0 w 10874375"/>
              <a:gd name="connsiteY3" fmla="*/ 3462946 h 3462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74375" h="3462946">
                <a:moveTo>
                  <a:pt x="0" y="0"/>
                </a:moveTo>
                <a:lnTo>
                  <a:pt x="10874375" y="0"/>
                </a:lnTo>
                <a:lnTo>
                  <a:pt x="10874375" y="3462946"/>
                </a:lnTo>
                <a:lnTo>
                  <a:pt x="0" y="34629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5144298" y="1327793"/>
            <a:ext cx="1903405" cy="1903405"/>
          </a:xfrm>
          <a:custGeom>
            <a:avLst/>
            <a:gdLst>
              <a:gd name="connsiteX0" fmla="*/ 800318 w 1600636"/>
              <a:gd name="connsiteY0" fmla="*/ 0 h 1600636"/>
              <a:gd name="connsiteX1" fmla="*/ 1600636 w 1600636"/>
              <a:gd name="connsiteY1" fmla="*/ 800318 h 1600636"/>
              <a:gd name="connsiteX2" fmla="*/ 800318 w 1600636"/>
              <a:gd name="connsiteY2" fmla="*/ 1600636 h 1600636"/>
              <a:gd name="connsiteX3" fmla="*/ 0 w 1600636"/>
              <a:gd name="connsiteY3" fmla="*/ 800318 h 1600636"/>
              <a:gd name="connsiteX4" fmla="*/ 800318 w 1600636"/>
              <a:gd name="connsiteY4" fmla="*/ 0 h 1600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0636" h="1600636">
                <a:moveTo>
                  <a:pt x="800318" y="0"/>
                </a:moveTo>
                <a:cubicBezTo>
                  <a:pt x="1242321" y="0"/>
                  <a:pt x="1600636" y="358315"/>
                  <a:pt x="1600636" y="800318"/>
                </a:cubicBezTo>
                <a:cubicBezTo>
                  <a:pt x="1600636" y="1242321"/>
                  <a:pt x="1242321" y="1600636"/>
                  <a:pt x="800318" y="1600636"/>
                </a:cubicBezTo>
                <a:cubicBezTo>
                  <a:pt x="358315" y="1600636"/>
                  <a:pt x="0" y="1242321"/>
                  <a:pt x="0" y="800318"/>
                </a:cubicBezTo>
                <a:cubicBezTo>
                  <a:pt x="0" y="358315"/>
                  <a:pt x="358315" y="0"/>
                  <a:pt x="8003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3534731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6286725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9038718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782737" y="2717176"/>
            <a:ext cx="2406856" cy="1677868"/>
          </a:xfrm>
          <a:custGeom>
            <a:avLst/>
            <a:gdLst>
              <a:gd name="connsiteX0" fmla="*/ 0 w 2406856"/>
              <a:gd name="connsiteY0" fmla="*/ 0 h 1677868"/>
              <a:gd name="connsiteX1" fmla="*/ 2406856 w 2406856"/>
              <a:gd name="connsiteY1" fmla="*/ 0 h 1677868"/>
              <a:gd name="connsiteX2" fmla="*/ 2406856 w 2406856"/>
              <a:gd name="connsiteY2" fmla="*/ 1677868 h 1677868"/>
              <a:gd name="connsiteX3" fmla="*/ 0 w 2406856"/>
              <a:gd name="connsiteY3" fmla="*/ 1677868 h 1677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856" h="1677868">
                <a:moveTo>
                  <a:pt x="0" y="0"/>
                </a:moveTo>
                <a:lnTo>
                  <a:pt x="2406856" y="0"/>
                </a:lnTo>
                <a:lnTo>
                  <a:pt x="2406856" y="1677868"/>
                </a:lnTo>
                <a:lnTo>
                  <a:pt x="0" y="16778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691218" y="1273462"/>
            <a:ext cx="6811938" cy="2441929"/>
          </a:xfrm>
          <a:custGeom>
            <a:avLst/>
            <a:gdLst>
              <a:gd name="connsiteX0" fmla="*/ 0 w 10828469"/>
              <a:gd name="connsiteY0" fmla="*/ 0 h 2441929"/>
              <a:gd name="connsiteX1" fmla="*/ 10828469 w 10828469"/>
              <a:gd name="connsiteY1" fmla="*/ 0 h 2441929"/>
              <a:gd name="connsiteX2" fmla="*/ 10828469 w 10828469"/>
              <a:gd name="connsiteY2" fmla="*/ 2441929 h 2441929"/>
              <a:gd name="connsiteX3" fmla="*/ 0 w 10828469"/>
              <a:gd name="connsiteY3" fmla="*/ 2441929 h 244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28469" h="2441929">
                <a:moveTo>
                  <a:pt x="0" y="0"/>
                </a:moveTo>
                <a:lnTo>
                  <a:pt x="10828469" y="0"/>
                </a:lnTo>
                <a:lnTo>
                  <a:pt x="10828469" y="2441929"/>
                </a:lnTo>
                <a:lnTo>
                  <a:pt x="0" y="244192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图片占位符 35"/>
          <p:cNvSpPr>
            <a:spLocks noGrp="1"/>
          </p:cNvSpPr>
          <p:nvPr>
            <p:ph type="pic" sz="quarter" idx="11"/>
          </p:nvPr>
        </p:nvSpPr>
        <p:spPr>
          <a:xfrm>
            <a:off x="5003800" y="3581831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7" name="图片占位符 36"/>
          <p:cNvSpPr>
            <a:spLocks noGrp="1"/>
          </p:cNvSpPr>
          <p:nvPr>
            <p:ph type="pic" sz="quarter" idx="12"/>
          </p:nvPr>
        </p:nvSpPr>
        <p:spPr>
          <a:xfrm>
            <a:off x="9347200" y="3581831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8" name="图片占位符 37"/>
          <p:cNvSpPr>
            <a:spLocks noGrp="1"/>
          </p:cNvSpPr>
          <p:nvPr>
            <p:ph type="pic" sz="quarter" idx="13"/>
          </p:nvPr>
        </p:nvSpPr>
        <p:spPr>
          <a:xfrm>
            <a:off x="7175500" y="1549833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9" name="图片占位符 38"/>
          <p:cNvSpPr>
            <a:spLocks noGrp="1"/>
          </p:cNvSpPr>
          <p:nvPr>
            <p:ph type="pic" sz="quarter" idx="14"/>
          </p:nvPr>
        </p:nvSpPr>
        <p:spPr>
          <a:xfrm>
            <a:off x="2832100" y="1549833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" name="图片占位符 34"/>
          <p:cNvSpPr>
            <a:spLocks noGrp="1"/>
          </p:cNvSpPr>
          <p:nvPr>
            <p:ph type="pic" sz="quarter" idx="10"/>
          </p:nvPr>
        </p:nvSpPr>
        <p:spPr>
          <a:xfrm>
            <a:off x="660400" y="3581831"/>
            <a:ext cx="2171700" cy="2031998"/>
          </a:xfrm>
          <a:custGeom>
            <a:avLst/>
            <a:gdLst>
              <a:gd name="connsiteX0" fmla="*/ 0 w 2171700"/>
              <a:gd name="connsiteY0" fmla="*/ 0 h 2031998"/>
              <a:gd name="connsiteX1" fmla="*/ 2171700 w 2171700"/>
              <a:gd name="connsiteY1" fmla="*/ 0 h 2031998"/>
              <a:gd name="connsiteX2" fmla="*/ 2171700 w 2171700"/>
              <a:gd name="connsiteY2" fmla="*/ 2031998 h 2031998"/>
              <a:gd name="connsiteX3" fmla="*/ 0 w 2171700"/>
              <a:gd name="connsiteY3" fmla="*/ 2031998 h 203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2031998">
                <a:moveTo>
                  <a:pt x="0" y="0"/>
                </a:moveTo>
                <a:lnTo>
                  <a:pt x="2171700" y="0"/>
                </a:lnTo>
                <a:lnTo>
                  <a:pt x="2171700" y="2031998"/>
                </a:lnTo>
                <a:lnTo>
                  <a:pt x="0" y="20319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679744" y="1127592"/>
            <a:ext cx="4553385" cy="5038264"/>
          </a:xfrm>
          <a:custGeom>
            <a:avLst/>
            <a:gdLst>
              <a:gd name="connsiteX0" fmla="*/ 0 w 4553385"/>
              <a:gd name="connsiteY0" fmla="*/ 0 h 5038264"/>
              <a:gd name="connsiteX1" fmla="*/ 4553385 w 4553385"/>
              <a:gd name="connsiteY1" fmla="*/ 0 h 5038264"/>
              <a:gd name="connsiteX2" fmla="*/ 4553385 w 4553385"/>
              <a:gd name="connsiteY2" fmla="*/ 5038264 h 5038264"/>
              <a:gd name="connsiteX3" fmla="*/ 0 w 4553385"/>
              <a:gd name="connsiteY3" fmla="*/ 5038264 h 5038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3385" h="5038264">
                <a:moveTo>
                  <a:pt x="0" y="0"/>
                </a:moveTo>
                <a:lnTo>
                  <a:pt x="4553385" y="0"/>
                </a:lnTo>
                <a:lnTo>
                  <a:pt x="4553385" y="5038264"/>
                </a:lnTo>
                <a:lnTo>
                  <a:pt x="0" y="503826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3313569" y="1151227"/>
            <a:ext cx="2397593" cy="1708088"/>
          </a:xfrm>
          <a:custGeom>
            <a:avLst/>
            <a:gdLst>
              <a:gd name="connsiteX0" fmla="*/ 0 w 2397593"/>
              <a:gd name="connsiteY0" fmla="*/ 0 h 1497361"/>
              <a:gd name="connsiteX1" fmla="*/ 2397593 w 2397593"/>
              <a:gd name="connsiteY1" fmla="*/ 0 h 1497361"/>
              <a:gd name="connsiteX2" fmla="*/ 2397593 w 2397593"/>
              <a:gd name="connsiteY2" fmla="*/ 1497361 h 1497361"/>
              <a:gd name="connsiteX3" fmla="*/ 0 w 2397593"/>
              <a:gd name="connsiteY3" fmla="*/ 1497361 h 149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7593" h="1497361">
                <a:moveTo>
                  <a:pt x="0" y="0"/>
                </a:moveTo>
                <a:lnTo>
                  <a:pt x="2397593" y="0"/>
                </a:lnTo>
                <a:lnTo>
                  <a:pt x="2397593" y="1497361"/>
                </a:lnTo>
                <a:lnTo>
                  <a:pt x="0" y="14973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699839" y="1151227"/>
            <a:ext cx="2418113" cy="3173178"/>
          </a:xfrm>
          <a:custGeom>
            <a:avLst/>
            <a:gdLst>
              <a:gd name="connsiteX0" fmla="*/ 0 w 2418113"/>
              <a:gd name="connsiteY0" fmla="*/ 0 h 3063575"/>
              <a:gd name="connsiteX1" fmla="*/ 2418113 w 2418113"/>
              <a:gd name="connsiteY1" fmla="*/ 0 h 3063575"/>
              <a:gd name="connsiteX2" fmla="*/ 2418113 w 2418113"/>
              <a:gd name="connsiteY2" fmla="*/ 3063575 h 3063575"/>
              <a:gd name="connsiteX3" fmla="*/ 0 w 2418113"/>
              <a:gd name="connsiteY3" fmla="*/ 3063575 h 306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8113" h="3063575">
                <a:moveTo>
                  <a:pt x="0" y="0"/>
                </a:moveTo>
                <a:lnTo>
                  <a:pt x="2418113" y="0"/>
                </a:lnTo>
                <a:lnTo>
                  <a:pt x="2418113" y="3063575"/>
                </a:lnTo>
                <a:lnTo>
                  <a:pt x="0" y="30635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707883" y="4572000"/>
            <a:ext cx="2410673" cy="1579425"/>
          </a:xfrm>
          <a:custGeom>
            <a:avLst/>
            <a:gdLst>
              <a:gd name="connsiteX0" fmla="*/ 0 w 2410673"/>
              <a:gd name="connsiteY0" fmla="*/ 0 h 1517855"/>
              <a:gd name="connsiteX1" fmla="*/ 2410673 w 2410673"/>
              <a:gd name="connsiteY1" fmla="*/ 0 h 1517855"/>
              <a:gd name="connsiteX2" fmla="*/ 2410673 w 2410673"/>
              <a:gd name="connsiteY2" fmla="*/ 1517855 h 1517855"/>
              <a:gd name="connsiteX3" fmla="*/ 0 w 2410673"/>
              <a:gd name="connsiteY3" fmla="*/ 1517855 h 1517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0673" h="1517855">
                <a:moveTo>
                  <a:pt x="0" y="0"/>
                </a:moveTo>
                <a:lnTo>
                  <a:pt x="2410673" y="0"/>
                </a:lnTo>
                <a:lnTo>
                  <a:pt x="2410673" y="1517855"/>
                </a:lnTo>
                <a:lnTo>
                  <a:pt x="0" y="1517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3313569" y="3097382"/>
            <a:ext cx="2397594" cy="3063574"/>
          </a:xfrm>
          <a:custGeom>
            <a:avLst/>
            <a:gdLst>
              <a:gd name="connsiteX0" fmla="*/ 0 w 2418113"/>
              <a:gd name="connsiteY0" fmla="*/ 0 h 3063574"/>
              <a:gd name="connsiteX1" fmla="*/ 2418113 w 2418113"/>
              <a:gd name="connsiteY1" fmla="*/ 0 h 3063574"/>
              <a:gd name="connsiteX2" fmla="*/ 2418113 w 2418113"/>
              <a:gd name="connsiteY2" fmla="*/ 3063574 h 3063574"/>
              <a:gd name="connsiteX3" fmla="*/ 0 w 2418113"/>
              <a:gd name="connsiteY3" fmla="*/ 3063574 h 306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8113" h="3063574">
                <a:moveTo>
                  <a:pt x="0" y="0"/>
                </a:moveTo>
                <a:lnTo>
                  <a:pt x="2418113" y="0"/>
                </a:lnTo>
                <a:lnTo>
                  <a:pt x="2418113" y="3063574"/>
                </a:lnTo>
                <a:lnTo>
                  <a:pt x="0" y="306357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5203032" y="1373012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572720" y="1373012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1833345" y="3967728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4"/>
          </p:nvPr>
        </p:nvSpPr>
        <p:spPr>
          <a:xfrm>
            <a:off x="5203032" y="3967728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5"/>
          </p:nvPr>
        </p:nvSpPr>
        <p:spPr>
          <a:xfrm>
            <a:off x="8572720" y="3967728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833345" y="1373012"/>
            <a:ext cx="1728000" cy="972000"/>
          </a:xfrm>
          <a:custGeom>
            <a:avLst/>
            <a:gdLst>
              <a:gd name="connsiteX0" fmla="*/ 0 w 1728000"/>
              <a:gd name="connsiteY0" fmla="*/ 0 h 972000"/>
              <a:gd name="connsiteX1" fmla="*/ 1728000 w 1728000"/>
              <a:gd name="connsiteY1" fmla="*/ 0 h 972000"/>
              <a:gd name="connsiteX2" fmla="*/ 1728000 w 1728000"/>
              <a:gd name="connsiteY2" fmla="*/ 972000 h 972000"/>
              <a:gd name="connsiteX3" fmla="*/ 0 w 1728000"/>
              <a:gd name="connsiteY3" fmla="*/ 972000 h 9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8000" h="972000">
                <a:moveTo>
                  <a:pt x="0" y="0"/>
                </a:moveTo>
                <a:lnTo>
                  <a:pt x="1728000" y="0"/>
                </a:lnTo>
                <a:lnTo>
                  <a:pt x="1728000" y="972000"/>
                </a:lnTo>
                <a:lnTo>
                  <a:pt x="0" y="972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667657" y="926059"/>
            <a:ext cx="10900229" cy="4670056"/>
          </a:xfrm>
          <a:custGeom>
            <a:avLst/>
            <a:gdLst>
              <a:gd name="connsiteX0" fmla="*/ 0 w 10900229"/>
              <a:gd name="connsiteY0" fmla="*/ 0 h 4670056"/>
              <a:gd name="connsiteX1" fmla="*/ 10900229 w 10900229"/>
              <a:gd name="connsiteY1" fmla="*/ 0 h 4670056"/>
              <a:gd name="connsiteX2" fmla="*/ 10900229 w 10900229"/>
              <a:gd name="connsiteY2" fmla="*/ 4670056 h 4670056"/>
              <a:gd name="connsiteX3" fmla="*/ 0 w 10900229"/>
              <a:gd name="connsiteY3" fmla="*/ 4670056 h 467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00229" h="4670056">
                <a:moveTo>
                  <a:pt x="0" y="0"/>
                </a:moveTo>
                <a:lnTo>
                  <a:pt x="10900229" y="0"/>
                </a:lnTo>
                <a:lnTo>
                  <a:pt x="10900229" y="4670056"/>
                </a:lnTo>
                <a:lnTo>
                  <a:pt x="0" y="46700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图片占位符 18"/>
          <p:cNvSpPr>
            <a:spLocks noGrp="1"/>
          </p:cNvSpPr>
          <p:nvPr>
            <p:ph type="pic" sz="quarter" idx="10"/>
          </p:nvPr>
        </p:nvSpPr>
        <p:spPr>
          <a:xfrm>
            <a:off x="1154243" y="2437107"/>
            <a:ext cx="4141657" cy="2368446"/>
          </a:xfrm>
          <a:custGeom>
            <a:avLst/>
            <a:gdLst>
              <a:gd name="connsiteX0" fmla="*/ 0 w 3703496"/>
              <a:gd name="connsiteY0" fmla="*/ 0 h 2368446"/>
              <a:gd name="connsiteX1" fmla="*/ 3703496 w 3703496"/>
              <a:gd name="connsiteY1" fmla="*/ 0 h 2368446"/>
              <a:gd name="connsiteX2" fmla="*/ 3703496 w 3703496"/>
              <a:gd name="connsiteY2" fmla="*/ 2368446 h 2368446"/>
              <a:gd name="connsiteX3" fmla="*/ 0 w 3703496"/>
              <a:gd name="connsiteY3" fmla="*/ 2368446 h 236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3496" h="2368446">
                <a:moveTo>
                  <a:pt x="0" y="0"/>
                </a:moveTo>
                <a:lnTo>
                  <a:pt x="3703496" y="0"/>
                </a:lnTo>
                <a:lnTo>
                  <a:pt x="3703496" y="2368446"/>
                </a:lnTo>
                <a:lnTo>
                  <a:pt x="0" y="23684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1"/>
          </p:nvPr>
        </p:nvSpPr>
        <p:spPr>
          <a:xfrm>
            <a:off x="5485632" y="1686925"/>
            <a:ext cx="5724510" cy="3821111"/>
          </a:xfrm>
          <a:custGeom>
            <a:avLst/>
            <a:gdLst>
              <a:gd name="connsiteX0" fmla="*/ 0 w 5724510"/>
              <a:gd name="connsiteY0" fmla="*/ 0 h 3821111"/>
              <a:gd name="connsiteX1" fmla="*/ 5724510 w 5724510"/>
              <a:gd name="connsiteY1" fmla="*/ 0 h 3821111"/>
              <a:gd name="connsiteX2" fmla="*/ 5724510 w 5724510"/>
              <a:gd name="connsiteY2" fmla="*/ 3821111 h 3821111"/>
              <a:gd name="connsiteX3" fmla="*/ 0 w 5724510"/>
              <a:gd name="connsiteY3" fmla="*/ 3821111 h 3821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4510" h="3821111">
                <a:moveTo>
                  <a:pt x="0" y="0"/>
                </a:moveTo>
                <a:lnTo>
                  <a:pt x="5724510" y="0"/>
                </a:lnTo>
                <a:lnTo>
                  <a:pt x="5724510" y="3821111"/>
                </a:lnTo>
                <a:lnTo>
                  <a:pt x="0" y="38211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1547730" y="3703459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6201725" y="1173056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215580" y="3703459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547730" y="1173056"/>
            <a:ext cx="4462700" cy="2434021"/>
          </a:xfrm>
          <a:custGeom>
            <a:avLst/>
            <a:gdLst>
              <a:gd name="connsiteX0" fmla="*/ 0 w 4462700"/>
              <a:gd name="connsiteY0" fmla="*/ 0 h 2434021"/>
              <a:gd name="connsiteX1" fmla="*/ 4462700 w 4462700"/>
              <a:gd name="connsiteY1" fmla="*/ 0 h 2434021"/>
              <a:gd name="connsiteX2" fmla="*/ 4462700 w 4462700"/>
              <a:gd name="connsiteY2" fmla="*/ 2434021 h 2434021"/>
              <a:gd name="connsiteX3" fmla="*/ 0 w 4462700"/>
              <a:gd name="connsiteY3" fmla="*/ 2434021 h 2434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2700" h="2434021">
                <a:moveTo>
                  <a:pt x="0" y="0"/>
                </a:moveTo>
                <a:lnTo>
                  <a:pt x="4462700" y="0"/>
                </a:lnTo>
                <a:lnTo>
                  <a:pt x="4462700" y="2434021"/>
                </a:lnTo>
                <a:lnTo>
                  <a:pt x="0" y="243402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图片占位符 18"/>
          <p:cNvSpPr>
            <a:spLocks noGrp="1"/>
          </p:cNvSpPr>
          <p:nvPr>
            <p:ph type="pic" sz="quarter" idx="19"/>
          </p:nvPr>
        </p:nvSpPr>
        <p:spPr>
          <a:xfrm>
            <a:off x="4460264" y="4589475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1113537" y="4589475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5"/>
          </p:nvPr>
        </p:nvSpPr>
        <p:spPr>
          <a:xfrm>
            <a:off x="7806991" y="1078558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6"/>
          </p:nvPr>
        </p:nvSpPr>
        <p:spPr>
          <a:xfrm>
            <a:off x="7806991" y="4589475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7"/>
          </p:nvPr>
        </p:nvSpPr>
        <p:spPr>
          <a:xfrm>
            <a:off x="4460264" y="1078558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8"/>
          </p:nvPr>
        </p:nvSpPr>
        <p:spPr>
          <a:xfrm>
            <a:off x="1113537" y="1078558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7806991" y="2834016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20"/>
          </p:nvPr>
        </p:nvSpPr>
        <p:spPr>
          <a:xfrm>
            <a:off x="1113537" y="2834016"/>
            <a:ext cx="3249250" cy="1667102"/>
          </a:xfrm>
          <a:custGeom>
            <a:avLst/>
            <a:gdLst>
              <a:gd name="connsiteX0" fmla="*/ 0 w 3249250"/>
              <a:gd name="connsiteY0" fmla="*/ 0 h 1667102"/>
              <a:gd name="connsiteX1" fmla="*/ 3249250 w 3249250"/>
              <a:gd name="connsiteY1" fmla="*/ 0 h 1667102"/>
              <a:gd name="connsiteX2" fmla="*/ 3249250 w 3249250"/>
              <a:gd name="connsiteY2" fmla="*/ 1667102 h 1667102"/>
              <a:gd name="connsiteX3" fmla="*/ 0 w 3249250"/>
              <a:gd name="connsiteY3" fmla="*/ 1667102 h 16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9250" h="1667102">
                <a:moveTo>
                  <a:pt x="0" y="0"/>
                </a:moveTo>
                <a:lnTo>
                  <a:pt x="3249250" y="0"/>
                </a:lnTo>
                <a:lnTo>
                  <a:pt x="3249250" y="1667102"/>
                </a:lnTo>
                <a:lnTo>
                  <a:pt x="0" y="1667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2"/>
          </p:nvPr>
        </p:nvSpPr>
        <p:spPr>
          <a:xfrm>
            <a:off x="1342154" y="2487065"/>
            <a:ext cx="3867489" cy="2443108"/>
          </a:xfrm>
          <a:custGeom>
            <a:avLst/>
            <a:gdLst>
              <a:gd name="connsiteX0" fmla="*/ 0 w 3867489"/>
              <a:gd name="connsiteY0" fmla="*/ 0 h 2443108"/>
              <a:gd name="connsiteX1" fmla="*/ 3867489 w 3867489"/>
              <a:gd name="connsiteY1" fmla="*/ 0 h 2443108"/>
              <a:gd name="connsiteX2" fmla="*/ 3867489 w 3867489"/>
              <a:gd name="connsiteY2" fmla="*/ 2443108 h 2443108"/>
              <a:gd name="connsiteX3" fmla="*/ 0 w 3867489"/>
              <a:gd name="connsiteY3" fmla="*/ 2443108 h 244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489" h="2443108">
                <a:moveTo>
                  <a:pt x="0" y="0"/>
                </a:moveTo>
                <a:lnTo>
                  <a:pt x="3867489" y="0"/>
                </a:lnTo>
                <a:lnTo>
                  <a:pt x="3867489" y="2443108"/>
                </a:lnTo>
                <a:lnTo>
                  <a:pt x="0" y="24431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4899109" y="3568026"/>
            <a:ext cx="915572" cy="1619376"/>
          </a:xfrm>
          <a:custGeom>
            <a:avLst/>
            <a:gdLst>
              <a:gd name="connsiteX0" fmla="*/ 0 w 915572"/>
              <a:gd name="connsiteY0" fmla="*/ 0 h 1619376"/>
              <a:gd name="connsiteX1" fmla="*/ 915572 w 915572"/>
              <a:gd name="connsiteY1" fmla="*/ 0 h 1619376"/>
              <a:gd name="connsiteX2" fmla="*/ 915572 w 915572"/>
              <a:gd name="connsiteY2" fmla="*/ 1619376 h 1619376"/>
              <a:gd name="connsiteX3" fmla="*/ 0 w 915572"/>
              <a:gd name="connsiteY3" fmla="*/ 1619376 h 161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5572" h="1619376">
                <a:moveTo>
                  <a:pt x="0" y="0"/>
                </a:moveTo>
                <a:lnTo>
                  <a:pt x="915572" y="0"/>
                </a:lnTo>
                <a:lnTo>
                  <a:pt x="915572" y="1619376"/>
                </a:lnTo>
                <a:lnTo>
                  <a:pt x="0" y="16193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874023" y="3943899"/>
            <a:ext cx="1876507" cy="1397416"/>
          </a:xfrm>
          <a:custGeom>
            <a:avLst/>
            <a:gdLst>
              <a:gd name="connsiteX0" fmla="*/ 0 w 1876507"/>
              <a:gd name="connsiteY0" fmla="*/ 0 h 1397416"/>
              <a:gd name="connsiteX1" fmla="*/ 1876507 w 1876507"/>
              <a:gd name="connsiteY1" fmla="*/ 0 h 1397416"/>
              <a:gd name="connsiteX2" fmla="*/ 1876507 w 1876507"/>
              <a:gd name="connsiteY2" fmla="*/ 1397416 h 1397416"/>
              <a:gd name="connsiteX3" fmla="*/ 0 w 1876507"/>
              <a:gd name="connsiteY3" fmla="*/ 1397416 h 139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6507" h="1397416">
                <a:moveTo>
                  <a:pt x="0" y="0"/>
                </a:moveTo>
                <a:lnTo>
                  <a:pt x="1876507" y="0"/>
                </a:lnTo>
                <a:lnTo>
                  <a:pt x="1876507" y="1397416"/>
                </a:lnTo>
                <a:lnTo>
                  <a:pt x="0" y="13974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2"/>
          </p:nvPr>
        </p:nvSpPr>
        <p:spPr>
          <a:xfrm>
            <a:off x="1363097" y="2641600"/>
            <a:ext cx="3947091" cy="2279650"/>
          </a:xfrm>
          <a:custGeom>
            <a:avLst/>
            <a:gdLst>
              <a:gd name="connsiteX0" fmla="*/ 0 w 3867489"/>
              <a:gd name="connsiteY0" fmla="*/ 0 h 2443108"/>
              <a:gd name="connsiteX1" fmla="*/ 3867489 w 3867489"/>
              <a:gd name="connsiteY1" fmla="*/ 0 h 2443108"/>
              <a:gd name="connsiteX2" fmla="*/ 3867489 w 3867489"/>
              <a:gd name="connsiteY2" fmla="*/ 2443108 h 2443108"/>
              <a:gd name="connsiteX3" fmla="*/ 0 w 3867489"/>
              <a:gd name="connsiteY3" fmla="*/ 2443108 h 244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489" h="2443108">
                <a:moveTo>
                  <a:pt x="0" y="0"/>
                </a:moveTo>
                <a:lnTo>
                  <a:pt x="3867489" y="0"/>
                </a:lnTo>
                <a:lnTo>
                  <a:pt x="3867489" y="2443108"/>
                </a:lnTo>
                <a:lnTo>
                  <a:pt x="0" y="24431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3"/>
          </p:nvPr>
        </p:nvSpPr>
        <p:spPr>
          <a:xfrm>
            <a:off x="971361" y="4290054"/>
            <a:ext cx="1900089" cy="1424946"/>
          </a:xfrm>
          <a:custGeom>
            <a:avLst/>
            <a:gdLst>
              <a:gd name="connsiteX0" fmla="*/ 0 w 1876507"/>
              <a:gd name="connsiteY0" fmla="*/ 0 h 1397416"/>
              <a:gd name="connsiteX1" fmla="*/ 1876507 w 1876507"/>
              <a:gd name="connsiteY1" fmla="*/ 0 h 1397416"/>
              <a:gd name="connsiteX2" fmla="*/ 1876507 w 1876507"/>
              <a:gd name="connsiteY2" fmla="*/ 1397416 h 1397416"/>
              <a:gd name="connsiteX3" fmla="*/ 0 w 1876507"/>
              <a:gd name="connsiteY3" fmla="*/ 1397416 h 139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6507" h="1397416">
                <a:moveTo>
                  <a:pt x="0" y="0"/>
                </a:moveTo>
                <a:lnTo>
                  <a:pt x="1876507" y="0"/>
                </a:lnTo>
                <a:lnTo>
                  <a:pt x="1876507" y="1397416"/>
                </a:lnTo>
                <a:lnTo>
                  <a:pt x="0" y="13974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4"/>
          </p:nvPr>
        </p:nvSpPr>
        <p:spPr>
          <a:xfrm>
            <a:off x="4707481" y="3862286"/>
            <a:ext cx="915572" cy="1619376"/>
          </a:xfrm>
          <a:custGeom>
            <a:avLst/>
            <a:gdLst>
              <a:gd name="connsiteX0" fmla="*/ 0 w 915572"/>
              <a:gd name="connsiteY0" fmla="*/ 0 h 1619376"/>
              <a:gd name="connsiteX1" fmla="*/ 915572 w 915572"/>
              <a:gd name="connsiteY1" fmla="*/ 0 h 1619376"/>
              <a:gd name="connsiteX2" fmla="*/ 915572 w 915572"/>
              <a:gd name="connsiteY2" fmla="*/ 1619376 h 1619376"/>
              <a:gd name="connsiteX3" fmla="*/ 0 w 915572"/>
              <a:gd name="connsiteY3" fmla="*/ 1619376 h 1619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5572" h="1619376">
                <a:moveTo>
                  <a:pt x="0" y="0"/>
                </a:moveTo>
                <a:lnTo>
                  <a:pt x="915572" y="0"/>
                </a:lnTo>
                <a:lnTo>
                  <a:pt x="915572" y="1619376"/>
                </a:lnTo>
                <a:lnTo>
                  <a:pt x="0" y="16193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4734988" y="3873705"/>
            <a:ext cx="2713564" cy="1597935"/>
          </a:xfrm>
          <a:custGeom>
            <a:avLst/>
            <a:gdLst>
              <a:gd name="connsiteX0" fmla="*/ 0 w 2713564"/>
              <a:gd name="connsiteY0" fmla="*/ 0 h 1597935"/>
              <a:gd name="connsiteX1" fmla="*/ 2713564 w 2713564"/>
              <a:gd name="connsiteY1" fmla="*/ 0 h 1597935"/>
              <a:gd name="connsiteX2" fmla="*/ 2713564 w 2713564"/>
              <a:gd name="connsiteY2" fmla="*/ 1597935 h 1597935"/>
              <a:gd name="connsiteX3" fmla="*/ 0 w 2713564"/>
              <a:gd name="connsiteY3" fmla="*/ 1597935 h 1597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3564" h="1597935">
                <a:moveTo>
                  <a:pt x="0" y="0"/>
                </a:moveTo>
                <a:lnTo>
                  <a:pt x="2713564" y="0"/>
                </a:lnTo>
                <a:lnTo>
                  <a:pt x="2713564" y="1597935"/>
                </a:lnTo>
                <a:lnTo>
                  <a:pt x="0" y="159793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4536006" y="3134995"/>
            <a:ext cx="3339734" cy="1876612"/>
          </a:xfrm>
          <a:custGeom>
            <a:avLst/>
            <a:gdLst>
              <a:gd name="connsiteX0" fmla="*/ 0 w 3339734"/>
              <a:gd name="connsiteY0" fmla="*/ 0 h 1876612"/>
              <a:gd name="connsiteX1" fmla="*/ 3339734 w 3339734"/>
              <a:gd name="connsiteY1" fmla="*/ 0 h 1876612"/>
              <a:gd name="connsiteX2" fmla="*/ 3339734 w 3339734"/>
              <a:gd name="connsiteY2" fmla="*/ 1876612 h 1876612"/>
              <a:gd name="connsiteX3" fmla="*/ 0 w 3339734"/>
              <a:gd name="connsiteY3" fmla="*/ 1876612 h 1876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9734" h="1876612">
                <a:moveTo>
                  <a:pt x="0" y="0"/>
                </a:moveTo>
                <a:lnTo>
                  <a:pt x="3339734" y="0"/>
                </a:lnTo>
                <a:lnTo>
                  <a:pt x="3339734" y="1876612"/>
                </a:lnTo>
                <a:lnTo>
                  <a:pt x="0" y="187661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6"/>
          </p:nvPr>
        </p:nvSpPr>
        <p:spPr>
          <a:xfrm>
            <a:off x="9164588" y="5517557"/>
            <a:ext cx="220846" cy="274631"/>
          </a:xfrm>
          <a:custGeom>
            <a:avLst/>
            <a:gdLst>
              <a:gd name="connsiteX0" fmla="*/ 0 w 220846"/>
              <a:gd name="connsiteY0" fmla="*/ 0 h 274631"/>
              <a:gd name="connsiteX1" fmla="*/ 220846 w 220846"/>
              <a:gd name="connsiteY1" fmla="*/ 0 h 274631"/>
              <a:gd name="connsiteX2" fmla="*/ 220846 w 220846"/>
              <a:gd name="connsiteY2" fmla="*/ 274631 h 274631"/>
              <a:gd name="connsiteX3" fmla="*/ 0 w 220846"/>
              <a:gd name="connsiteY3" fmla="*/ 274631 h 27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846" h="274631">
                <a:moveTo>
                  <a:pt x="0" y="0"/>
                </a:moveTo>
                <a:lnTo>
                  <a:pt x="220846" y="0"/>
                </a:lnTo>
                <a:lnTo>
                  <a:pt x="220846" y="274631"/>
                </a:lnTo>
                <a:lnTo>
                  <a:pt x="0" y="27463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5"/>
          </p:nvPr>
        </p:nvSpPr>
        <p:spPr>
          <a:xfrm>
            <a:off x="8495376" y="4934790"/>
            <a:ext cx="506818" cy="893045"/>
          </a:xfrm>
          <a:custGeom>
            <a:avLst/>
            <a:gdLst>
              <a:gd name="connsiteX0" fmla="*/ 0 w 506818"/>
              <a:gd name="connsiteY0" fmla="*/ 0 h 893045"/>
              <a:gd name="connsiteX1" fmla="*/ 506818 w 506818"/>
              <a:gd name="connsiteY1" fmla="*/ 0 h 893045"/>
              <a:gd name="connsiteX2" fmla="*/ 506818 w 506818"/>
              <a:gd name="connsiteY2" fmla="*/ 893045 h 893045"/>
              <a:gd name="connsiteX3" fmla="*/ 0 w 506818"/>
              <a:gd name="connsiteY3" fmla="*/ 893045 h 89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6818" h="893045">
                <a:moveTo>
                  <a:pt x="0" y="0"/>
                </a:moveTo>
                <a:lnTo>
                  <a:pt x="506818" y="0"/>
                </a:lnTo>
                <a:lnTo>
                  <a:pt x="506818" y="893045"/>
                </a:lnTo>
                <a:lnTo>
                  <a:pt x="0" y="8930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4"/>
          </p:nvPr>
        </p:nvSpPr>
        <p:spPr>
          <a:xfrm>
            <a:off x="7447394" y="4339593"/>
            <a:ext cx="1087644" cy="1452596"/>
          </a:xfrm>
          <a:custGeom>
            <a:avLst/>
            <a:gdLst>
              <a:gd name="connsiteX0" fmla="*/ 0 w 1087644"/>
              <a:gd name="connsiteY0" fmla="*/ 0 h 1452596"/>
              <a:gd name="connsiteX1" fmla="*/ 1087644 w 1087644"/>
              <a:gd name="connsiteY1" fmla="*/ 0 h 1452596"/>
              <a:gd name="connsiteX2" fmla="*/ 1087644 w 1087644"/>
              <a:gd name="connsiteY2" fmla="*/ 1452596 h 1452596"/>
              <a:gd name="connsiteX3" fmla="*/ 0 w 1087644"/>
              <a:gd name="connsiteY3" fmla="*/ 1452596 h 145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7644" h="1452596">
                <a:moveTo>
                  <a:pt x="0" y="0"/>
                </a:moveTo>
                <a:lnTo>
                  <a:pt x="1087644" y="0"/>
                </a:lnTo>
                <a:lnTo>
                  <a:pt x="1087644" y="1452596"/>
                </a:lnTo>
                <a:lnTo>
                  <a:pt x="0" y="145259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2696096" y="4426890"/>
            <a:ext cx="2127445" cy="1351064"/>
          </a:xfrm>
          <a:custGeom>
            <a:avLst/>
            <a:gdLst>
              <a:gd name="connsiteX0" fmla="*/ 0 w 2127445"/>
              <a:gd name="connsiteY0" fmla="*/ 0 h 1351064"/>
              <a:gd name="connsiteX1" fmla="*/ 2127445 w 2127445"/>
              <a:gd name="connsiteY1" fmla="*/ 0 h 1351064"/>
              <a:gd name="connsiteX2" fmla="*/ 2127445 w 2127445"/>
              <a:gd name="connsiteY2" fmla="*/ 1351064 h 1351064"/>
              <a:gd name="connsiteX3" fmla="*/ 0 w 2127445"/>
              <a:gd name="connsiteY3" fmla="*/ 1351064 h 135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445" h="1351064">
                <a:moveTo>
                  <a:pt x="0" y="0"/>
                </a:moveTo>
                <a:lnTo>
                  <a:pt x="2127445" y="0"/>
                </a:lnTo>
                <a:lnTo>
                  <a:pt x="2127445" y="1351064"/>
                </a:lnTo>
                <a:lnTo>
                  <a:pt x="0" y="135106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1371600" y="1383505"/>
            <a:ext cx="3206754" cy="4641634"/>
          </a:xfrm>
          <a:custGeom>
            <a:avLst/>
            <a:gdLst>
              <a:gd name="connsiteX0" fmla="*/ 0 w 3206754"/>
              <a:gd name="connsiteY0" fmla="*/ 0 h 4641634"/>
              <a:gd name="connsiteX1" fmla="*/ 3206754 w 3206754"/>
              <a:gd name="connsiteY1" fmla="*/ 0 h 4641634"/>
              <a:gd name="connsiteX2" fmla="*/ 3206754 w 3206754"/>
              <a:gd name="connsiteY2" fmla="*/ 4641634 h 4641634"/>
              <a:gd name="connsiteX3" fmla="*/ 0 w 3206754"/>
              <a:gd name="connsiteY3" fmla="*/ 4641634 h 4641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6754" h="4641634">
                <a:moveTo>
                  <a:pt x="0" y="0"/>
                </a:moveTo>
                <a:lnTo>
                  <a:pt x="3206754" y="0"/>
                </a:lnTo>
                <a:lnTo>
                  <a:pt x="3206754" y="4641634"/>
                </a:lnTo>
                <a:lnTo>
                  <a:pt x="0" y="464163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24"/>
          <p:cNvSpPr>
            <a:spLocks noGrp="1"/>
          </p:cNvSpPr>
          <p:nvPr>
            <p:ph type="pic" sz="quarter" idx="12"/>
          </p:nvPr>
        </p:nvSpPr>
        <p:spPr>
          <a:xfrm>
            <a:off x="3291965" y="1736725"/>
            <a:ext cx="1372840" cy="1372112"/>
          </a:xfrm>
          <a:custGeom>
            <a:avLst/>
            <a:gdLst>
              <a:gd name="connsiteX0" fmla="*/ 679198 w 1372840"/>
              <a:gd name="connsiteY0" fmla="*/ 0 h 1372112"/>
              <a:gd name="connsiteX1" fmla="*/ 693642 w 1372840"/>
              <a:gd name="connsiteY1" fmla="*/ 0 h 1372112"/>
              <a:gd name="connsiteX2" fmla="*/ 824758 w 1372840"/>
              <a:gd name="connsiteY2" fmla="*/ 13218 h 1372112"/>
              <a:gd name="connsiteX3" fmla="*/ 1372840 w 1372840"/>
              <a:gd name="connsiteY3" fmla="*/ 685692 h 1372112"/>
              <a:gd name="connsiteX4" fmla="*/ 686420 w 1372840"/>
              <a:gd name="connsiteY4" fmla="*/ 1372112 h 1372112"/>
              <a:gd name="connsiteX5" fmla="*/ 0 w 1372840"/>
              <a:gd name="connsiteY5" fmla="*/ 685692 h 1372112"/>
              <a:gd name="connsiteX6" fmla="*/ 548083 w 1372840"/>
              <a:gd name="connsiteY6" fmla="*/ 13218 h 137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2840" h="1372112">
                <a:moveTo>
                  <a:pt x="679198" y="0"/>
                </a:moveTo>
                <a:lnTo>
                  <a:pt x="693642" y="0"/>
                </a:lnTo>
                <a:lnTo>
                  <a:pt x="824758" y="13218"/>
                </a:lnTo>
                <a:cubicBezTo>
                  <a:pt x="1137548" y="77224"/>
                  <a:pt x="1372840" y="353980"/>
                  <a:pt x="1372840" y="685692"/>
                </a:cubicBezTo>
                <a:cubicBezTo>
                  <a:pt x="1372840" y="1064791"/>
                  <a:pt x="1065519" y="1372112"/>
                  <a:pt x="686420" y="1372112"/>
                </a:cubicBezTo>
                <a:cubicBezTo>
                  <a:pt x="307321" y="1372112"/>
                  <a:pt x="0" y="1064791"/>
                  <a:pt x="0" y="685692"/>
                </a:cubicBezTo>
                <a:cubicBezTo>
                  <a:pt x="0" y="353980"/>
                  <a:pt x="235293" y="77224"/>
                  <a:pt x="548083" y="1321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6" name="图片占位符 25"/>
          <p:cNvSpPr>
            <a:spLocks noGrp="1"/>
          </p:cNvSpPr>
          <p:nvPr>
            <p:ph type="pic" sz="quarter" idx="13"/>
          </p:nvPr>
        </p:nvSpPr>
        <p:spPr>
          <a:xfrm>
            <a:off x="5185679" y="1512096"/>
            <a:ext cx="1820642" cy="1820642"/>
          </a:xfrm>
          <a:custGeom>
            <a:avLst/>
            <a:gdLst>
              <a:gd name="connsiteX0" fmla="*/ 910321 w 1820642"/>
              <a:gd name="connsiteY0" fmla="*/ 0 h 1820642"/>
              <a:gd name="connsiteX1" fmla="*/ 1820642 w 1820642"/>
              <a:gd name="connsiteY1" fmla="*/ 910321 h 1820642"/>
              <a:gd name="connsiteX2" fmla="*/ 910321 w 1820642"/>
              <a:gd name="connsiteY2" fmla="*/ 1820642 h 1820642"/>
              <a:gd name="connsiteX3" fmla="*/ 0 w 1820642"/>
              <a:gd name="connsiteY3" fmla="*/ 910321 h 1820642"/>
              <a:gd name="connsiteX4" fmla="*/ 910321 w 1820642"/>
              <a:gd name="connsiteY4" fmla="*/ 0 h 182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0642" h="1820642">
                <a:moveTo>
                  <a:pt x="910321" y="0"/>
                </a:moveTo>
                <a:cubicBezTo>
                  <a:pt x="1413077" y="0"/>
                  <a:pt x="1820642" y="407565"/>
                  <a:pt x="1820642" y="910321"/>
                </a:cubicBezTo>
                <a:cubicBezTo>
                  <a:pt x="1820642" y="1413077"/>
                  <a:pt x="1413077" y="1820642"/>
                  <a:pt x="910321" y="1820642"/>
                </a:cubicBezTo>
                <a:cubicBezTo>
                  <a:pt x="407565" y="1820642"/>
                  <a:pt x="0" y="1413077"/>
                  <a:pt x="0" y="910321"/>
                </a:cubicBezTo>
                <a:cubicBezTo>
                  <a:pt x="0" y="407565"/>
                  <a:pt x="407565" y="0"/>
                  <a:pt x="91032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7" name="图片占位符 26"/>
          <p:cNvSpPr>
            <a:spLocks noGrp="1"/>
          </p:cNvSpPr>
          <p:nvPr>
            <p:ph type="pic" sz="quarter" idx="14"/>
          </p:nvPr>
        </p:nvSpPr>
        <p:spPr>
          <a:xfrm>
            <a:off x="7527196" y="1735997"/>
            <a:ext cx="1372840" cy="1372840"/>
          </a:xfrm>
          <a:custGeom>
            <a:avLst/>
            <a:gdLst>
              <a:gd name="connsiteX0" fmla="*/ 686420 w 1372840"/>
              <a:gd name="connsiteY0" fmla="*/ 0 h 1372840"/>
              <a:gd name="connsiteX1" fmla="*/ 1372840 w 1372840"/>
              <a:gd name="connsiteY1" fmla="*/ 686420 h 1372840"/>
              <a:gd name="connsiteX2" fmla="*/ 686420 w 1372840"/>
              <a:gd name="connsiteY2" fmla="*/ 1372840 h 1372840"/>
              <a:gd name="connsiteX3" fmla="*/ 0 w 1372840"/>
              <a:gd name="connsiteY3" fmla="*/ 686420 h 1372840"/>
              <a:gd name="connsiteX4" fmla="*/ 686420 w 1372840"/>
              <a:gd name="connsiteY4" fmla="*/ 0 h 137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2840" h="1372840">
                <a:moveTo>
                  <a:pt x="686420" y="0"/>
                </a:moveTo>
                <a:cubicBezTo>
                  <a:pt x="1065519" y="0"/>
                  <a:pt x="1372840" y="307321"/>
                  <a:pt x="1372840" y="686420"/>
                </a:cubicBezTo>
                <a:cubicBezTo>
                  <a:pt x="1372840" y="1065519"/>
                  <a:pt x="1065519" y="1372840"/>
                  <a:pt x="686420" y="1372840"/>
                </a:cubicBezTo>
                <a:cubicBezTo>
                  <a:pt x="307321" y="1372840"/>
                  <a:pt x="0" y="1065519"/>
                  <a:pt x="0" y="686420"/>
                </a:cubicBezTo>
                <a:cubicBezTo>
                  <a:pt x="0" y="307321"/>
                  <a:pt x="307321" y="0"/>
                  <a:pt x="6864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5"/>
          </p:nvPr>
        </p:nvSpPr>
        <p:spPr>
          <a:xfrm>
            <a:off x="9630771" y="1835326"/>
            <a:ext cx="1174184" cy="1174182"/>
          </a:xfrm>
          <a:custGeom>
            <a:avLst/>
            <a:gdLst>
              <a:gd name="connsiteX0" fmla="*/ 587092 w 1174184"/>
              <a:gd name="connsiteY0" fmla="*/ 0 h 1174182"/>
              <a:gd name="connsiteX1" fmla="*/ 1174184 w 1174184"/>
              <a:gd name="connsiteY1" fmla="*/ 587091 h 1174182"/>
              <a:gd name="connsiteX2" fmla="*/ 587092 w 1174184"/>
              <a:gd name="connsiteY2" fmla="*/ 1174182 h 1174182"/>
              <a:gd name="connsiteX3" fmla="*/ 0 w 1174184"/>
              <a:gd name="connsiteY3" fmla="*/ 587091 h 1174182"/>
              <a:gd name="connsiteX4" fmla="*/ 587092 w 1174184"/>
              <a:gd name="connsiteY4" fmla="*/ 0 h 1174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184" h="1174182">
                <a:moveTo>
                  <a:pt x="587092" y="0"/>
                </a:moveTo>
                <a:cubicBezTo>
                  <a:pt x="911334" y="0"/>
                  <a:pt x="1174184" y="262850"/>
                  <a:pt x="1174184" y="587091"/>
                </a:cubicBezTo>
                <a:cubicBezTo>
                  <a:pt x="1174184" y="911332"/>
                  <a:pt x="911334" y="1174182"/>
                  <a:pt x="587092" y="1174182"/>
                </a:cubicBezTo>
                <a:cubicBezTo>
                  <a:pt x="262850" y="1174182"/>
                  <a:pt x="0" y="911332"/>
                  <a:pt x="0" y="587091"/>
                </a:cubicBezTo>
                <a:cubicBezTo>
                  <a:pt x="0" y="262850"/>
                  <a:pt x="262850" y="0"/>
                  <a:pt x="5870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图片占位符 23"/>
          <p:cNvSpPr>
            <a:spLocks noGrp="1"/>
          </p:cNvSpPr>
          <p:nvPr>
            <p:ph type="pic" sz="quarter" idx="11"/>
          </p:nvPr>
        </p:nvSpPr>
        <p:spPr>
          <a:xfrm>
            <a:off x="1387047" y="1835326"/>
            <a:ext cx="1174184" cy="1174182"/>
          </a:xfrm>
          <a:custGeom>
            <a:avLst/>
            <a:gdLst>
              <a:gd name="connsiteX0" fmla="*/ 587092 w 1174184"/>
              <a:gd name="connsiteY0" fmla="*/ 0 h 1174182"/>
              <a:gd name="connsiteX1" fmla="*/ 1174184 w 1174184"/>
              <a:gd name="connsiteY1" fmla="*/ 587091 h 1174182"/>
              <a:gd name="connsiteX2" fmla="*/ 587092 w 1174184"/>
              <a:gd name="connsiteY2" fmla="*/ 1174182 h 1174182"/>
              <a:gd name="connsiteX3" fmla="*/ 0 w 1174184"/>
              <a:gd name="connsiteY3" fmla="*/ 587091 h 1174182"/>
              <a:gd name="connsiteX4" fmla="*/ 587092 w 1174184"/>
              <a:gd name="connsiteY4" fmla="*/ 0 h 1174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4184" h="1174182">
                <a:moveTo>
                  <a:pt x="587092" y="0"/>
                </a:moveTo>
                <a:cubicBezTo>
                  <a:pt x="911334" y="0"/>
                  <a:pt x="1174184" y="262850"/>
                  <a:pt x="1174184" y="587091"/>
                </a:cubicBezTo>
                <a:cubicBezTo>
                  <a:pt x="1174184" y="911332"/>
                  <a:pt x="911334" y="1174182"/>
                  <a:pt x="587092" y="1174182"/>
                </a:cubicBezTo>
                <a:cubicBezTo>
                  <a:pt x="262850" y="1174182"/>
                  <a:pt x="0" y="911332"/>
                  <a:pt x="0" y="587091"/>
                </a:cubicBezTo>
                <a:cubicBezTo>
                  <a:pt x="0" y="262850"/>
                  <a:pt x="262850" y="0"/>
                  <a:pt x="5870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432192" y="231000"/>
            <a:ext cx="3643312" cy="40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F9E12-90AA-4790-BC12-98F68239B599}" type="datetime1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B3E5D-2206-4A3C-9C7E-72440A3F4E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bin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notesSlide" Target="../notesSlides/notesSlide4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65314" y="-25400"/>
            <a:ext cx="12257314" cy="6908800"/>
          </a:xfrm>
          <a:prstGeom prst="rect">
            <a:avLst/>
          </a:prstGeom>
          <a:solidFill>
            <a:srgbClr val="FA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ZJU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70" y="90805"/>
            <a:ext cx="1976120" cy="52578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5"/>
          <a:stretch>
            <a:fillRect/>
          </a:stretch>
        </p:blipFill>
        <p:spPr>
          <a:xfrm>
            <a:off x="3379470" y="90805"/>
            <a:ext cx="1445260" cy="670560"/>
          </a:xfrm>
          <a:prstGeom prst="rect">
            <a:avLst/>
          </a:prstGeom>
        </p:spPr>
      </p:pic>
      <p:sp>
        <p:nvSpPr>
          <p:cNvPr id="9" name="文本占位符 4"/>
          <p:cNvSpPr>
            <a:spLocks noGrp="1"/>
          </p:cNvSpPr>
          <p:nvPr/>
        </p:nvSpPr>
        <p:spPr>
          <a:xfrm>
            <a:off x="376555" y="1300480"/>
            <a:ext cx="6273165" cy="2735580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200" dirty="0"/>
              <a:t> </a:t>
            </a:r>
            <a:endParaRPr lang="zh-CN" altLang="en-US" dirty="0"/>
          </a:p>
        </p:txBody>
      </p:sp>
      <p:sp>
        <p:nvSpPr>
          <p:cNvPr id="2" name="文本框 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<p:cNvSpPr txBox="1">
            <a:spLocks noChangeArrowheads="1"/>
          </p:cNvSpPr>
          <p:nvPr/>
        </p:nvSpPr>
        <p:spPr bwMode="auto">
          <a:xfrm>
            <a:off x="436880" y="1452880"/>
            <a:ext cx="6272530" cy="24561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defTabSz="964565" fontAlgn="base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tabLst>
                <a:tab pos="4029710" algn="l"/>
              </a:tabLst>
            </a:pPr>
            <a:r>
              <a:rPr lang="en-US" altLang="zh-CN" sz="4265" b="1">
                <a:solidFill>
                  <a:srgbClr val="C00000"/>
                </a:solidFill>
                <a:sym typeface="Calibri" panose="020F0502020204030204" pitchFamily="34" charset="0"/>
              </a:rPr>
              <a:t>Stablepay Agentic Payment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7027667" y="537616"/>
            <a:ext cx="6961907" cy="7021575"/>
            <a:chOff x="4038600" y="2259880"/>
            <a:chExt cx="2647060" cy="2669747"/>
          </a:xfrm>
          <a:solidFill>
            <a:srgbClr val="A6A6A6">
              <a:alpha val="20000"/>
            </a:srgbClr>
          </a:solidFill>
        </p:grpSpPr>
        <p:sp>
          <p:nvSpPr>
            <p:cNvPr id="11" name="Freeform 105"/>
            <p:cNvSpPr>
              <a:spLocks noEditPoints="1"/>
            </p:cNvSpPr>
            <p:nvPr userDrawn="1"/>
          </p:nvSpPr>
          <p:spPr bwMode="auto">
            <a:xfrm>
              <a:off x="4038600" y="2259880"/>
              <a:ext cx="2647060" cy="2669747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" name="Freeform 106"/>
            <p:cNvSpPr/>
            <p:nvPr userDrawn="1"/>
          </p:nvSpPr>
          <p:spPr bwMode="auto">
            <a:xfrm>
              <a:off x="4636079" y="2857359"/>
              <a:ext cx="1459664" cy="130840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" name="Freeform 107"/>
            <p:cNvSpPr/>
            <p:nvPr userDrawn="1"/>
          </p:nvSpPr>
          <p:spPr bwMode="auto">
            <a:xfrm>
              <a:off x="4174734" y="3825426"/>
              <a:ext cx="302521" cy="219328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Freeform 108"/>
            <p:cNvSpPr/>
            <p:nvPr userDrawn="1"/>
          </p:nvSpPr>
          <p:spPr bwMode="auto">
            <a:xfrm>
              <a:off x="4265491" y="3984249"/>
              <a:ext cx="287395" cy="234454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Freeform 109"/>
            <p:cNvSpPr/>
            <p:nvPr userDrawn="1"/>
          </p:nvSpPr>
          <p:spPr bwMode="auto">
            <a:xfrm>
              <a:off x="4348684" y="4120384"/>
              <a:ext cx="287395" cy="249580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Freeform 110"/>
            <p:cNvSpPr/>
            <p:nvPr userDrawn="1"/>
          </p:nvSpPr>
          <p:spPr bwMode="auto">
            <a:xfrm>
              <a:off x="4583138" y="4332148"/>
              <a:ext cx="181513" cy="219328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Freeform 111"/>
            <p:cNvSpPr>
              <a:spLocks noEditPoints="1"/>
            </p:cNvSpPr>
            <p:nvPr userDrawn="1"/>
          </p:nvSpPr>
          <p:spPr bwMode="auto">
            <a:xfrm>
              <a:off x="4643642" y="4392652"/>
              <a:ext cx="219328" cy="264706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Freeform 112"/>
            <p:cNvSpPr/>
            <p:nvPr/>
          </p:nvSpPr>
          <p:spPr bwMode="auto">
            <a:xfrm>
              <a:off x="4794903" y="4438031"/>
              <a:ext cx="242017" cy="294958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Freeform 114"/>
            <p:cNvSpPr/>
            <p:nvPr userDrawn="1"/>
          </p:nvSpPr>
          <p:spPr bwMode="auto">
            <a:xfrm>
              <a:off x="5301626" y="4543913"/>
              <a:ext cx="143698" cy="249580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Freeform 115"/>
            <p:cNvSpPr/>
            <p:nvPr userDrawn="1"/>
          </p:nvSpPr>
          <p:spPr bwMode="auto">
            <a:xfrm>
              <a:off x="5460449" y="4521224"/>
              <a:ext cx="158824" cy="272269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Freeform 116"/>
            <p:cNvSpPr/>
            <p:nvPr userDrawn="1"/>
          </p:nvSpPr>
          <p:spPr bwMode="auto">
            <a:xfrm>
              <a:off x="5611710" y="4506098"/>
              <a:ext cx="105882" cy="249580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" name="Freeform 117"/>
            <p:cNvSpPr/>
            <p:nvPr userDrawn="1"/>
          </p:nvSpPr>
          <p:spPr bwMode="auto">
            <a:xfrm>
              <a:off x="5664651" y="4438031"/>
              <a:ext cx="173950" cy="279832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" name="Freeform 118"/>
            <p:cNvSpPr/>
            <p:nvPr userDrawn="1"/>
          </p:nvSpPr>
          <p:spPr bwMode="auto">
            <a:xfrm>
              <a:off x="5808348" y="4369963"/>
              <a:ext cx="249580" cy="287395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6" name="Freeform 119"/>
            <p:cNvSpPr>
              <a:spLocks noEditPoints="1"/>
            </p:cNvSpPr>
            <p:nvPr userDrawn="1"/>
          </p:nvSpPr>
          <p:spPr bwMode="auto">
            <a:xfrm>
              <a:off x="5936920" y="4309459"/>
              <a:ext cx="257143" cy="257143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7" name="Freeform 120"/>
            <p:cNvSpPr/>
            <p:nvPr userDrawn="1"/>
          </p:nvSpPr>
          <p:spPr bwMode="auto">
            <a:xfrm>
              <a:off x="6073054" y="4196014"/>
              <a:ext cx="257143" cy="219328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8" name="Freeform 121"/>
            <p:cNvSpPr/>
            <p:nvPr userDrawn="1"/>
          </p:nvSpPr>
          <p:spPr bwMode="auto">
            <a:xfrm>
              <a:off x="6156248" y="4120384"/>
              <a:ext cx="234454" cy="158823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9" name="Freeform 122"/>
            <p:cNvSpPr/>
            <p:nvPr userDrawn="1"/>
          </p:nvSpPr>
          <p:spPr bwMode="auto">
            <a:xfrm>
              <a:off x="6194063" y="3953997"/>
              <a:ext cx="272269" cy="211765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0" name="Freeform 123"/>
            <p:cNvSpPr/>
            <p:nvPr userDrawn="1"/>
          </p:nvSpPr>
          <p:spPr bwMode="auto">
            <a:xfrm>
              <a:off x="6254567" y="3810300"/>
              <a:ext cx="272269" cy="173950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1" name="Freeform 124"/>
            <p:cNvSpPr/>
            <p:nvPr userDrawn="1"/>
          </p:nvSpPr>
          <p:spPr bwMode="auto">
            <a:xfrm>
              <a:off x="4462130" y="4286770"/>
              <a:ext cx="257143" cy="189076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2" name="Freeform 125"/>
            <p:cNvSpPr>
              <a:spLocks noEditPoints="1"/>
            </p:cNvSpPr>
            <p:nvPr userDrawn="1"/>
          </p:nvSpPr>
          <p:spPr bwMode="auto">
            <a:xfrm>
              <a:off x="4938600" y="4203577"/>
              <a:ext cx="801681" cy="249580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3" name="Freeform 126"/>
            <p:cNvSpPr/>
            <p:nvPr userDrawn="1"/>
          </p:nvSpPr>
          <p:spPr bwMode="auto">
            <a:xfrm>
              <a:off x="5778096" y="2774166"/>
              <a:ext cx="105882" cy="105882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4" name="Freeform 127"/>
            <p:cNvSpPr/>
            <p:nvPr userDrawn="1"/>
          </p:nvSpPr>
          <p:spPr bwMode="auto">
            <a:xfrm>
              <a:off x="5505827" y="2456519"/>
              <a:ext cx="385714" cy="340336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5" name="Freeform 128"/>
            <p:cNvSpPr/>
            <p:nvPr userDrawn="1"/>
          </p:nvSpPr>
          <p:spPr bwMode="auto">
            <a:xfrm>
              <a:off x="4862970" y="2668283"/>
              <a:ext cx="151261" cy="310084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6" name="Freeform 129"/>
            <p:cNvSpPr/>
            <p:nvPr userDrawn="1"/>
          </p:nvSpPr>
          <p:spPr bwMode="auto">
            <a:xfrm>
              <a:off x="5067172" y="2592653"/>
              <a:ext cx="121008" cy="121008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7" name="Freeform 130"/>
            <p:cNvSpPr/>
            <p:nvPr userDrawn="1"/>
          </p:nvSpPr>
          <p:spPr bwMode="auto">
            <a:xfrm>
              <a:off x="4855407" y="2638031"/>
              <a:ext cx="90756" cy="105882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8" name="Freeform 131"/>
            <p:cNvSpPr/>
            <p:nvPr userDrawn="1"/>
          </p:nvSpPr>
          <p:spPr bwMode="auto">
            <a:xfrm>
              <a:off x="5029357" y="2471645"/>
              <a:ext cx="143698" cy="158823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" name="Freeform 132"/>
            <p:cNvSpPr/>
            <p:nvPr userDrawn="1"/>
          </p:nvSpPr>
          <p:spPr bwMode="auto">
            <a:xfrm>
              <a:off x="4855407" y="2509460"/>
              <a:ext cx="90756" cy="98319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" name="Freeform 133"/>
            <p:cNvSpPr/>
            <p:nvPr userDrawn="1"/>
          </p:nvSpPr>
          <p:spPr bwMode="auto">
            <a:xfrm>
              <a:off x="4356247" y="2880048"/>
              <a:ext cx="355462" cy="627731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1" name="Freeform 134"/>
            <p:cNvSpPr/>
            <p:nvPr userDrawn="1"/>
          </p:nvSpPr>
          <p:spPr bwMode="auto">
            <a:xfrm>
              <a:off x="4303306" y="3235510"/>
              <a:ext cx="98319" cy="83193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2" name="Freeform 135"/>
            <p:cNvSpPr/>
            <p:nvPr userDrawn="1"/>
          </p:nvSpPr>
          <p:spPr bwMode="auto">
            <a:xfrm>
              <a:off x="4212550" y="3137191"/>
              <a:ext cx="105882" cy="98319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3" name="Freeform 136"/>
            <p:cNvSpPr/>
            <p:nvPr userDrawn="1"/>
          </p:nvSpPr>
          <p:spPr bwMode="auto">
            <a:xfrm>
              <a:off x="4749525" y="3212821"/>
              <a:ext cx="1232773" cy="1066386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4" name="Freeform 137"/>
            <p:cNvSpPr>
              <a:spLocks noEditPoints="1"/>
            </p:cNvSpPr>
            <p:nvPr userDrawn="1"/>
          </p:nvSpPr>
          <p:spPr bwMode="auto">
            <a:xfrm>
              <a:off x="6004987" y="2993493"/>
              <a:ext cx="484034" cy="325210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5" name="Freeform 138"/>
            <p:cNvSpPr/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6" name="Freeform 139"/>
            <p:cNvSpPr/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7" name="Freeform 140"/>
            <p:cNvSpPr/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8" name="Freeform 141"/>
            <p:cNvSpPr/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615315" y="4775200"/>
            <a:ext cx="3010535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汇报人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包博文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贾越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杨世博</a:t>
            </a:r>
            <a:endParaRPr lang="en-US" altLang="zh-CN" b="1" dirty="0"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指导老师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谭俊</a:t>
            </a:r>
            <a:r>
              <a:rPr lang="en-US" altLang="zh-CN" b="1"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ChangeArrowheads="1"/>
          </p:cNvSpPr>
          <p:nvPr/>
        </p:nvSpPr>
        <p:spPr bwMode="auto">
          <a:xfrm>
            <a:off x="0" y="0"/>
            <a:ext cx="4008438" cy="6858000"/>
          </a:xfrm>
          <a:prstGeom prst="rect">
            <a:avLst/>
          </a:prstGeom>
          <a:solidFill>
            <a:srgbClr val="A123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395E8A"/>
                </a:solidFill>
                <a:bevel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99" name="TextBox 15"/>
          <p:cNvSpPr>
            <a:spLocks noChangeArrowheads="1"/>
          </p:cNvSpPr>
          <p:nvPr/>
        </p:nvSpPr>
        <p:spPr bwMode="auto">
          <a:xfrm>
            <a:off x="817245" y="2586038"/>
            <a:ext cx="23749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zh-CN" sz="3200">
                <a:solidFill>
                  <a:schemeClr val="bg1"/>
                </a:solidFill>
                <a:latin typeface="Times New Roman" panose="02020603050405020304" pitchFamily="18" charset="0"/>
                <a:ea typeface="Adobe 宋体 Std L" pitchFamily="2" charset="-122"/>
                <a:cs typeface="Times New Roman" panose="02020603050405020304" pitchFamily="18" charset="0"/>
                <a:sym typeface="微软简中圆" charset="0"/>
              </a:rPr>
              <a:t>Contents Page</a:t>
            </a:r>
          </a:p>
        </p:txBody>
      </p:sp>
      <p:sp>
        <p:nvSpPr>
          <p:cNvPr id="4100" name="文本框 52"/>
          <p:cNvSpPr>
            <a:spLocks noChangeArrowheads="1"/>
          </p:cNvSpPr>
          <p:nvPr/>
        </p:nvSpPr>
        <p:spPr bwMode="auto">
          <a:xfrm>
            <a:off x="817245" y="1700213"/>
            <a:ext cx="23749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zh-CN" sz="5000" b="1">
                <a:solidFill>
                  <a:schemeClr val="bg1"/>
                </a:solidFill>
                <a:ea typeface="微软雅黑" panose="020B0503020204020204" pitchFamily="34" charset="-122"/>
              </a:rPr>
              <a:t>目录页</a:t>
            </a:r>
          </a:p>
        </p:txBody>
      </p:sp>
      <p:sp>
        <p:nvSpPr>
          <p:cNvPr id="10" name="TextBox 6"/>
          <p:cNvSpPr>
            <a:spLocks noChangeArrowheads="1"/>
          </p:cNvSpPr>
          <p:nvPr/>
        </p:nvSpPr>
        <p:spPr bwMode="auto">
          <a:xfrm>
            <a:off x="5750116" y="1237900"/>
            <a:ext cx="5134865" cy="387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项目背景</a:t>
            </a: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技术方案</a:t>
            </a: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最终成果</a:t>
            </a:r>
          </a:p>
          <a:p>
            <a:pPr marL="571500" indent="-571500">
              <a:buFont typeface="+mj-lt"/>
              <a:buAutoNum type="romanUcPeriod"/>
            </a:pPr>
            <a:endParaRPr lang="en-US" altLang="zh-CN" sz="3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571500" indent="-571500">
              <a:buFont typeface="+mj-lt"/>
              <a:buAutoNum type="romanUcPeriod"/>
            </a:pP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结论和展望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01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</a:t>
            </a:r>
            <a:r>
              <a:rPr lang="zh-CN" altLang="en-US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</a:t>
            </a:r>
          </a:p>
        </p:txBody>
      </p:sp>
      <p:sp>
        <p:nvSpPr>
          <p:cNvPr id="1046" name="矩形 1045"/>
          <p:cNvSpPr/>
          <p:nvPr/>
        </p:nvSpPr>
        <p:spPr>
          <a:xfrm>
            <a:off x="480790" y="1390465"/>
            <a:ext cx="8555210" cy="4173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238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7" name="矩形 1046"/>
          <p:cNvSpPr/>
          <p:nvPr/>
        </p:nvSpPr>
        <p:spPr>
          <a:xfrm>
            <a:off x="531495" y="4471670"/>
            <a:ext cx="10389870" cy="49149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285750" marR="0" lvl="0" indent="-28575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AI Agent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从对话工具升级为自主消费主体时，如何重构适配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生态的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支付底层逻辑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048" name="矩形: 圆角 1047"/>
          <p:cNvSpPr/>
          <p:nvPr/>
        </p:nvSpPr>
        <p:spPr>
          <a:xfrm>
            <a:off x="1407160" y="5732780"/>
            <a:ext cx="1429385" cy="3454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购买数字资源</a:t>
            </a:r>
          </a:p>
        </p:txBody>
      </p:sp>
      <p:sp>
        <p:nvSpPr>
          <p:cNvPr id="1049" name="矩形: 圆角 1048"/>
          <p:cNvSpPr/>
          <p:nvPr/>
        </p:nvSpPr>
        <p:spPr>
          <a:xfrm>
            <a:off x="3252373" y="5215530"/>
            <a:ext cx="1371830" cy="345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账户体系复杂</a:t>
            </a:r>
          </a:p>
        </p:txBody>
      </p:sp>
      <p:sp>
        <p:nvSpPr>
          <p:cNvPr id="1050" name="矩形: 圆角 1049"/>
          <p:cNvSpPr/>
          <p:nvPr/>
        </p:nvSpPr>
        <p:spPr>
          <a:xfrm>
            <a:off x="3257958" y="5733930"/>
            <a:ext cx="1371830" cy="345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结算滞后</a:t>
            </a:r>
          </a:p>
        </p:txBody>
      </p:sp>
      <p:cxnSp>
        <p:nvCxnSpPr>
          <p:cNvPr id="1051" name="连接符: 肘形 1050"/>
          <p:cNvCxnSpPr>
            <a:stCxn id="1048" idx="3"/>
            <a:endCxn id="1049" idx="1"/>
          </p:cNvCxnSpPr>
          <p:nvPr/>
        </p:nvCxnSpPr>
        <p:spPr>
          <a:xfrm flipV="1">
            <a:off x="2836545" y="5387975"/>
            <a:ext cx="415925" cy="517525"/>
          </a:xfrm>
          <a:prstGeom prst="bentConnector3">
            <a:avLst>
              <a:gd name="adj1" fmla="val 50076"/>
            </a:avLst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52" name="连接符: 肘形 1051"/>
          <p:cNvCxnSpPr>
            <a:stCxn id="1048" idx="3"/>
            <a:endCxn id="1050" idx="1"/>
          </p:cNvCxnSpPr>
          <p:nvPr/>
        </p:nvCxnSpPr>
        <p:spPr>
          <a:xfrm>
            <a:off x="2836545" y="5905500"/>
            <a:ext cx="421640" cy="1270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54" name="矩形: 圆角 1053"/>
          <p:cNvSpPr/>
          <p:nvPr/>
        </p:nvSpPr>
        <p:spPr>
          <a:xfrm>
            <a:off x="3258468" y="6268092"/>
            <a:ext cx="1371830" cy="3456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出金困难</a:t>
            </a:r>
          </a:p>
        </p:txBody>
      </p:sp>
      <p:cxnSp>
        <p:nvCxnSpPr>
          <p:cNvPr id="1055" name="连接符: 肘形 1054"/>
          <p:cNvCxnSpPr>
            <a:stCxn id="1048" idx="3"/>
            <a:endCxn id="1054" idx="1"/>
          </p:cNvCxnSpPr>
          <p:nvPr/>
        </p:nvCxnSpPr>
        <p:spPr>
          <a:xfrm>
            <a:off x="2836545" y="5905500"/>
            <a:ext cx="421640" cy="53530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61" name="椭圆 1060"/>
          <p:cNvSpPr/>
          <p:nvPr/>
        </p:nvSpPr>
        <p:spPr>
          <a:xfrm>
            <a:off x="6673850" y="5078856"/>
            <a:ext cx="633600" cy="633600"/>
          </a:xfrm>
          <a:prstGeom prst="ellipse">
            <a:avLst/>
          </a:prstGeom>
          <a:solidFill>
            <a:srgbClr val="4CBFA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</a:p>
        </p:txBody>
      </p:sp>
      <p:sp>
        <p:nvSpPr>
          <p:cNvPr id="1062" name="椭圆 1061"/>
          <p:cNvSpPr/>
          <p:nvPr/>
        </p:nvSpPr>
        <p:spPr>
          <a:xfrm>
            <a:off x="6673850" y="6046477"/>
            <a:ext cx="633600" cy="633600"/>
          </a:xfrm>
          <a:prstGeom prst="ellipse">
            <a:avLst/>
          </a:prstGeom>
          <a:solidFill>
            <a:srgbClr val="4CBFA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USDC</a:t>
            </a:r>
          </a:p>
        </p:txBody>
      </p:sp>
      <p:sp>
        <p:nvSpPr>
          <p:cNvPr id="1063" name="椭圆 1062"/>
          <p:cNvSpPr/>
          <p:nvPr/>
        </p:nvSpPr>
        <p:spPr>
          <a:xfrm>
            <a:off x="6674270" y="5590786"/>
            <a:ext cx="633600" cy="633600"/>
          </a:xfrm>
          <a:prstGeom prst="ellipse">
            <a:avLst/>
          </a:prstGeom>
          <a:solidFill>
            <a:srgbClr val="174A73">
              <a:lumMod val="60000"/>
              <a:lumOff val="40000"/>
            </a:srgb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x402</a:t>
            </a:r>
          </a:p>
        </p:txBody>
      </p:sp>
      <p:sp>
        <p:nvSpPr>
          <p:cNvPr id="1064" name="椭圆 1063"/>
          <p:cNvSpPr/>
          <p:nvPr/>
        </p:nvSpPr>
        <p:spPr>
          <a:xfrm>
            <a:off x="8660130" y="5386705"/>
            <a:ext cx="1026795" cy="1009650"/>
          </a:xfrm>
          <a:prstGeom prst="ellipse">
            <a:avLst/>
          </a:prstGeom>
          <a:solidFill>
            <a:srgbClr val="174A73">
              <a:lumMod val="60000"/>
              <a:lumOff val="40000"/>
            </a:srgbClr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none" tIns="0"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Agentic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Payment</a:t>
            </a:r>
          </a:p>
        </p:txBody>
      </p:sp>
      <p:cxnSp>
        <p:nvCxnSpPr>
          <p:cNvPr id="1066" name="直接箭头连接符 1065"/>
          <p:cNvCxnSpPr>
            <a:stCxn id="1061" idx="6"/>
            <a:endCxn id="1064" idx="1"/>
          </p:cNvCxnSpPr>
          <p:nvPr/>
        </p:nvCxnSpPr>
        <p:spPr>
          <a:xfrm>
            <a:off x="7307450" y="5395656"/>
            <a:ext cx="1503045" cy="139065"/>
          </a:xfrm>
          <a:prstGeom prst="straightConnector1">
            <a:avLst/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67" name="直接箭头连接符 1066"/>
          <p:cNvCxnSpPr>
            <a:stCxn id="1062" idx="6"/>
            <a:endCxn id="1064" idx="3"/>
          </p:cNvCxnSpPr>
          <p:nvPr/>
        </p:nvCxnSpPr>
        <p:spPr>
          <a:xfrm flipV="1">
            <a:off x="7307450" y="6248342"/>
            <a:ext cx="1503045" cy="114935"/>
          </a:xfrm>
          <a:prstGeom prst="straightConnector1">
            <a:avLst/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68" name="直接箭头连接符 1067"/>
          <p:cNvCxnSpPr>
            <a:stCxn id="1063" idx="6"/>
            <a:endCxn id="1064" idx="2"/>
          </p:cNvCxnSpPr>
          <p:nvPr/>
        </p:nvCxnSpPr>
        <p:spPr>
          <a:xfrm flipV="1">
            <a:off x="7308505" y="5891711"/>
            <a:ext cx="1351915" cy="15875"/>
          </a:xfrm>
          <a:prstGeom prst="straightConnector1">
            <a:avLst/>
          </a:prstGeom>
          <a:noFill/>
          <a:ln w="6350" cap="flat" cmpd="sng" algn="ctr">
            <a:solidFill>
              <a:srgbClr val="174A7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70" name="箭头: 右 1069"/>
          <p:cNvSpPr/>
          <p:nvPr/>
        </p:nvSpPr>
        <p:spPr>
          <a:xfrm>
            <a:off x="4996815" y="5762625"/>
            <a:ext cx="1275715" cy="276860"/>
          </a:xfrm>
          <a:prstGeom prst="rightArrow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思源黑体 CN ExtraLight"/>
              <a:cs typeface="+mn-cs"/>
            </a:endParaRPr>
          </a:p>
        </p:txBody>
      </p:sp>
      <p:sp>
        <p:nvSpPr>
          <p:cNvPr id="1071" name="文本框 1070"/>
          <p:cNvSpPr txBox="1"/>
          <p:nvPr/>
        </p:nvSpPr>
        <p:spPr>
          <a:xfrm>
            <a:off x="4948592" y="5403972"/>
            <a:ext cx="12331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74A73"/>
                </a:solidFill>
                <a:ea typeface="思源黑体 CN ExtraLight"/>
              </a:rPr>
              <a:t>Stablepay</a:t>
            </a:r>
            <a:endParaRPr lang="zh-CN" altLang="en-US" b="1" dirty="0">
              <a:solidFill>
                <a:srgbClr val="174A73"/>
              </a:solidFill>
              <a:ea typeface="思源黑体 CN ExtraLight"/>
            </a:endParaRPr>
          </a:p>
        </p:txBody>
      </p:sp>
      <p:grpSp>
        <p:nvGrpSpPr>
          <p:cNvPr id="1081" name="组合 1080"/>
          <p:cNvGrpSpPr/>
          <p:nvPr/>
        </p:nvGrpSpPr>
        <p:grpSpPr>
          <a:xfrm>
            <a:off x="1007745" y="1560195"/>
            <a:ext cx="9374505" cy="1005205"/>
            <a:chOff x="675130" y="1499483"/>
            <a:chExt cx="8453109" cy="760446"/>
          </a:xfrm>
        </p:grpSpPr>
        <p:sp>
          <p:nvSpPr>
            <p:cNvPr id="1073" name="矩形: 圆角 1072"/>
            <p:cNvSpPr/>
            <p:nvPr/>
          </p:nvSpPr>
          <p:spPr>
            <a:xfrm>
              <a:off x="675130" y="1499483"/>
              <a:ext cx="8453109" cy="760446"/>
            </a:xfrm>
            <a:prstGeom prst="roundRect">
              <a:avLst/>
            </a:prstGeom>
            <a:solidFill>
              <a:srgbClr val="CEE6C0"/>
            </a:solidFill>
            <a:ln>
              <a:solidFill>
                <a:srgbClr val="E2F0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4" name="文本框 1073"/>
            <p:cNvSpPr txBox="1"/>
            <p:nvPr/>
          </p:nvSpPr>
          <p:spPr>
            <a:xfrm>
              <a:off x="783349" y="1499963"/>
              <a:ext cx="8299083" cy="7196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传统金融支付体系完全围绕人类身份设计，依赖银行开户、人工</a:t>
              </a:r>
              <a:r>
                <a:rPr lang="en-US" altLang="zh-CN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KYC、</a:t>
              </a:r>
              <a:r>
                <a:rPr lang="zh-CN" altLang="en-US" b="1">
                  <a:solidFill>
                    <a:schemeClr val="accent4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绑卡验证等流程，存在账户体系复杂、资金托管风险高、跨境支付费率高、结算滞后、出金困难等诸多痛点。</a:t>
              </a:r>
            </a:p>
          </p:txBody>
        </p:sp>
      </p:grpSp>
      <p:sp>
        <p:nvSpPr>
          <p:cNvPr id="1077" name="文本框 1076"/>
          <p:cNvSpPr txBox="1"/>
          <p:nvPr/>
        </p:nvSpPr>
        <p:spPr>
          <a:xfrm>
            <a:off x="1079500" y="2922270"/>
            <a:ext cx="9302115" cy="922020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Agent 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新型智能执行主体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，无身份证、无银行账户，可自主替人类完成采购、工具调用、付费订阅等操作，行业亟需一套适配</a:t>
            </a:r>
            <a:r>
              <a:rPr lang="en-US" altLang="zh-CN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去中心化、无人化支付体系</a:t>
            </a:r>
            <a:r>
              <a:rPr lang="zh-CN" altLang="en-US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80" name="powerpoint template design by DAJU_PPT正版来源小红书大橘PPT微信DAJU_PPT请勿抄袭搬运！盗版必究！-5"/>
          <p:cNvSpPr/>
          <p:nvPr/>
        </p:nvSpPr>
        <p:spPr>
          <a:xfrm>
            <a:off x="621519" y="1541301"/>
            <a:ext cx="309177" cy="2159605"/>
          </a:xfrm>
          <a:prstGeom prst="leftBrace">
            <a:avLst>
              <a:gd name="adj1" fmla="val 174625"/>
              <a:gd name="adj2" fmla="val 50000"/>
            </a:avLst>
          </a:prstGeom>
          <a:noFill/>
          <a:ln w="28575" cap="flat" cmpd="sng" algn="ctr">
            <a:solidFill>
              <a:srgbClr val="CFAF6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83" name="箭头: 下 1082"/>
          <p:cNvSpPr/>
          <p:nvPr/>
        </p:nvSpPr>
        <p:spPr>
          <a:xfrm>
            <a:off x="5418214" y="3915191"/>
            <a:ext cx="432000" cy="519254"/>
          </a:xfrm>
          <a:prstGeom prst="downArrow">
            <a:avLst/>
          </a:prstGeom>
          <a:solidFill>
            <a:srgbClr val="A023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948592" y="5993887"/>
            <a:ext cx="12522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74A73"/>
                </a:solidFill>
                <a:ea typeface="思源黑体 CN ExtraLight"/>
              </a:rPr>
              <a:t>Facilitator</a:t>
            </a:r>
            <a:endParaRPr lang="zh-CN" altLang="en-US" b="1" dirty="0">
              <a:solidFill>
                <a:srgbClr val="174A73"/>
              </a:solidFill>
              <a:ea typeface="思源黑体 CN Extra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01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技术概念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46" name="矩形 1045"/>
          <p:cNvSpPr/>
          <p:nvPr/>
        </p:nvSpPr>
        <p:spPr>
          <a:xfrm>
            <a:off x="480790" y="1390465"/>
            <a:ext cx="8555210" cy="4173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238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"/>
          <p:cNvSpPr/>
          <p:nvPr>
            <p:custDataLst>
              <p:tags r:id="rId1"/>
            </p:custDataLst>
          </p:nvPr>
        </p:nvSpPr>
        <p:spPr>
          <a:xfrm>
            <a:off x="5481003" y="3490913"/>
            <a:ext cx="1326694" cy="1327350"/>
          </a:xfrm>
          <a:prstGeom prst="ellipse">
            <a:avLst/>
          </a:prstGeom>
          <a:noFill/>
          <a:ln w="6350">
            <a:gradFill flip="none" rotWithShape="1">
              <a:gsLst>
                <a:gs pos="5000">
                  <a:schemeClr val="accent2">
                    <a:alpha val="100000"/>
                  </a:schemeClr>
                </a:gs>
                <a:gs pos="88000">
                  <a:schemeClr val="accent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6" name="椭圆 25"/>
          <p:cNvSpPr/>
          <p:nvPr>
            <p:custDataLst>
              <p:tags r:id="rId2"/>
            </p:custDataLst>
          </p:nvPr>
        </p:nvSpPr>
        <p:spPr>
          <a:xfrm>
            <a:off x="5603558" y="3614103"/>
            <a:ext cx="1080889" cy="1080889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</a:p>
        </p:txBody>
      </p:sp>
      <p:sp>
        <p:nvSpPr>
          <p:cNvPr id="27" name="弧形 85"/>
          <p:cNvSpPr/>
          <p:nvPr>
            <p:custDataLst>
              <p:tags r:id="rId3"/>
            </p:custDataLst>
          </p:nvPr>
        </p:nvSpPr>
        <p:spPr>
          <a:xfrm rot="16200000">
            <a:off x="5382578" y="3439478"/>
            <a:ext cx="1425672" cy="1425016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2" name="椭圆"/>
          <p:cNvSpPr/>
          <p:nvPr>
            <p:custDataLst>
              <p:tags r:id="rId4"/>
            </p:custDataLst>
          </p:nvPr>
        </p:nvSpPr>
        <p:spPr>
          <a:xfrm>
            <a:off x="2252028" y="3492183"/>
            <a:ext cx="1326694" cy="1327350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bg-BG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3" name="椭圆 2"/>
          <p:cNvSpPr/>
          <p:nvPr>
            <p:custDataLst>
              <p:tags r:id="rId5"/>
            </p:custDataLst>
          </p:nvPr>
        </p:nvSpPr>
        <p:spPr>
          <a:xfrm>
            <a:off x="2373948" y="3615373"/>
            <a:ext cx="1080889" cy="1080889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</a:p>
        </p:txBody>
      </p:sp>
      <p:sp>
        <p:nvSpPr>
          <p:cNvPr id="8" name="弧形 85"/>
          <p:cNvSpPr/>
          <p:nvPr>
            <p:custDataLst>
              <p:tags r:id="rId6"/>
            </p:custDataLst>
          </p:nvPr>
        </p:nvSpPr>
        <p:spPr>
          <a:xfrm rot="16200000">
            <a:off x="2153603" y="3440113"/>
            <a:ext cx="1425672" cy="1425016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7"/>
            </p:custDataLst>
          </p:nvPr>
        </p:nvCxnSpPr>
        <p:spPr>
          <a:xfrm>
            <a:off x="3595688" y="4155758"/>
            <a:ext cx="1886018" cy="0"/>
          </a:xfrm>
          <a:prstGeom prst="line">
            <a:avLst/>
          </a:prstGeom>
          <a:ln w="15875"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>
            <p:custDataLst>
              <p:tags r:id="rId8"/>
            </p:custDataLst>
          </p:nvPr>
        </p:nvSpPr>
        <p:spPr>
          <a:xfrm>
            <a:off x="789305" y="1710690"/>
            <a:ext cx="4593590" cy="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区别于传统人工支付模式，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专为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AI Agent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打造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的自动化支付体系，无需人工干预、无需人类身份校验，支持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自主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发起交易、校验订单、完成结算。</a:t>
            </a:r>
          </a:p>
        </p:txBody>
      </p:sp>
      <p:sp>
        <p:nvSpPr>
          <p:cNvPr id="33" name="矩形 32"/>
          <p:cNvSpPr/>
          <p:nvPr>
            <p:custDataLst>
              <p:tags r:id="rId9"/>
            </p:custDataLst>
          </p:nvPr>
        </p:nvSpPr>
        <p:spPr>
          <a:xfrm>
            <a:off x="703263" y="2801303"/>
            <a:ext cx="4334524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Agentic Payment</a:t>
            </a:r>
          </a:p>
        </p:txBody>
      </p:sp>
      <p:sp>
        <p:nvSpPr>
          <p:cNvPr id="34" name="矩形 33"/>
          <p:cNvSpPr/>
          <p:nvPr>
            <p:custDataLst>
              <p:tags r:id="rId10"/>
            </p:custDataLst>
          </p:nvPr>
        </p:nvSpPr>
        <p:spPr>
          <a:xfrm>
            <a:off x="4371023" y="5100638"/>
            <a:ext cx="3556302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accent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x402</a:t>
            </a:r>
            <a:r>
              <a:rPr lang="zh-CN" altLang="en-US" sz="2000" b="1">
                <a:solidFill>
                  <a:schemeClr val="accent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协议</a:t>
            </a:r>
          </a:p>
        </p:txBody>
      </p:sp>
      <p:sp>
        <p:nvSpPr>
          <p:cNvPr id="41" name="矩形 40"/>
          <p:cNvSpPr/>
          <p:nvPr>
            <p:custDataLst>
              <p:tags r:id="rId11"/>
            </p:custDataLst>
          </p:nvPr>
        </p:nvSpPr>
        <p:spPr>
          <a:xfrm>
            <a:off x="6732270" y="1710690"/>
            <a:ext cx="5090160" cy="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b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依托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Solana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公链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USDC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稳定币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开展交易，解决传统跨境支付汇率波动、清算周期长、跨境受限问题，实现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秒级链上结算、低成本资金流转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，适配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 Skill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轻量化付费场景。</a:t>
            </a:r>
          </a:p>
        </p:txBody>
      </p:sp>
      <p:sp>
        <p:nvSpPr>
          <p:cNvPr id="44" name="矩形 43"/>
          <p:cNvSpPr/>
          <p:nvPr>
            <p:custDataLst>
              <p:tags r:id="rId12"/>
            </p:custDataLst>
          </p:nvPr>
        </p:nvSpPr>
        <p:spPr>
          <a:xfrm>
            <a:off x="7153593" y="2801303"/>
            <a:ext cx="4334524" cy="50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+mn-ea"/>
                <a:sym typeface="+mn-ea"/>
              </a:rPr>
              <a:t>稳定币</a:t>
            </a:r>
          </a:p>
        </p:txBody>
      </p:sp>
      <p:sp>
        <p:nvSpPr>
          <p:cNvPr id="45" name="矩形 44"/>
          <p:cNvSpPr/>
          <p:nvPr>
            <p:custDataLst>
              <p:tags r:id="rId13"/>
            </p:custDataLst>
          </p:nvPr>
        </p:nvSpPr>
        <p:spPr>
          <a:xfrm>
            <a:off x="1744980" y="5715000"/>
            <a:ext cx="8338185" cy="9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基于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HTTP 402 Payment Required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迭代的轻量化智能支付协议，为本项目核心通信标准。可实现自动化支付拦截、交易校验、状态回调，适配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工具按需付费、小额高频的交易场景。</a:t>
            </a:r>
          </a:p>
        </p:txBody>
      </p:sp>
      <p:sp>
        <p:nvSpPr>
          <p:cNvPr id="53" name="椭圆"/>
          <p:cNvSpPr/>
          <p:nvPr>
            <p:custDataLst>
              <p:tags r:id="rId14"/>
            </p:custDataLst>
          </p:nvPr>
        </p:nvSpPr>
        <p:spPr>
          <a:xfrm>
            <a:off x="8729663" y="3529648"/>
            <a:ext cx="1228993" cy="1229597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8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10" tIns="54855" rIns="109710" bIns="54855" rtlCol="0" anchor="ctr">
            <a:noAutofit/>
          </a:bodyPr>
          <a:lstStyle/>
          <a:p>
            <a:pPr algn="ctr"/>
            <a:endParaRPr lang="bg-BG" sz="2400" dirty="0">
              <a:solidFill>
                <a:prstClr val="white"/>
              </a:solidFill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sp>
        <p:nvSpPr>
          <p:cNvPr id="9" name="椭圆 8"/>
          <p:cNvSpPr/>
          <p:nvPr>
            <p:custDataLst>
              <p:tags r:id="rId15"/>
            </p:custDataLst>
          </p:nvPr>
        </p:nvSpPr>
        <p:spPr>
          <a:xfrm>
            <a:off x="8843963" y="3643948"/>
            <a:ext cx="1001538" cy="1002143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</a:p>
        </p:txBody>
      </p:sp>
      <p:sp>
        <p:nvSpPr>
          <p:cNvPr id="52" name="弧形 85"/>
          <p:cNvSpPr/>
          <p:nvPr>
            <p:custDataLst>
              <p:tags r:id="rId16"/>
            </p:custDataLst>
          </p:nvPr>
        </p:nvSpPr>
        <p:spPr>
          <a:xfrm rot="16200000">
            <a:off x="8639493" y="3482023"/>
            <a:ext cx="1320090" cy="1320097"/>
          </a:xfrm>
          <a:prstGeom prst="arc">
            <a:avLst>
              <a:gd name="adj1" fmla="val 2657162"/>
              <a:gd name="adj2" fmla="val 8176062"/>
            </a:avLst>
          </a:prstGeom>
          <a:noFill/>
          <a:ln w="381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OPPOSans M" panose="00020600040101010101" pitchFamily="18" charset="-122"/>
              <a:sym typeface="OPPOSans M" panose="00020600040101010101" pitchFamily="18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7"/>
            </p:custDataLst>
          </p:nvPr>
        </p:nvCxnSpPr>
        <p:spPr>
          <a:xfrm flipV="1">
            <a:off x="6822758" y="4144328"/>
            <a:ext cx="1906905" cy="12065"/>
          </a:xfrm>
          <a:prstGeom prst="line">
            <a:avLst/>
          </a:prstGeom>
          <a:ln w="15875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01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672080" cy="9525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项目定位与切入点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46" name="矩形 1045"/>
          <p:cNvSpPr/>
          <p:nvPr/>
        </p:nvSpPr>
        <p:spPr>
          <a:xfrm>
            <a:off x="480790" y="1390465"/>
            <a:ext cx="8555210" cy="41735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2387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A1F7AF-302C-1351-9397-8D0FBD062707}"/>
              </a:ext>
            </a:extLst>
          </p:cNvPr>
          <p:cNvSpPr/>
          <p:nvPr/>
        </p:nvSpPr>
        <p:spPr>
          <a:xfrm>
            <a:off x="609600" y="1543050"/>
            <a:ext cx="12954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项目定位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4615FC8-8CBA-1A0B-8689-EDA33F5EB32C}"/>
              </a:ext>
            </a:extLst>
          </p:cNvPr>
          <p:cNvSpPr/>
          <p:nvPr/>
        </p:nvSpPr>
        <p:spPr>
          <a:xfrm>
            <a:off x="495300" y="1857375"/>
            <a:ext cx="3124200" cy="1733550"/>
          </a:xfrm>
          <a:prstGeom prst="roundRect">
            <a:avLst>
              <a:gd name="adj" fmla="val 8000"/>
            </a:avLst>
          </a:prstGeom>
          <a:solidFill>
            <a:srgbClr val="F6F4F2"/>
          </a:solidFill>
          <a:ln w="11430"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0EA0D4-9F7D-5182-3269-8441B330A067}"/>
              </a:ext>
            </a:extLst>
          </p:cNvPr>
          <p:cNvSpPr txBox="1"/>
          <p:nvPr/>
        </p:nvSpPr>
        <p:spPr>
          <a:xfrm>
            <a:off x="704850" y="2095500"/>
            <a:ext cx="2724150" cy="184665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Agent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提供一套可自主发起、可验证、可结算的稳定币支付底座，让支付不再依赖人类身份、银行卡和人工确认流程。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8D130E-CFD0-BCEC-B0B6-5E2333840332}"/>
              </a:ext>
            </a:extLst>
          </p:cNvPr>
          <p:cNvSpPr/>
          <p:nvPr/>
        </p:nvSpPr>
        <p:spPr>
          <a:xfrm>
            <a:off x="4362450" y="1543050"/>
            <a:ext cx="142875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第一切入场景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F0FF98B-912C-86A2-AFE2-1E1533F78889}"/>
              </a:ext>
            </a:extLst>
          </p:cNvPr>
          <p:cNvSpPr/>
          <p:nvPr/>
        </p:nvSpPr>
        <p:spPr>
          <a:xfrm>
            <a:off x="4248150" y="1857375"/>
            <a:ext cx="3124200" cy="1733550"/>
          </a:xfrm>
          <a:prstGeom prst="roundRect">
            <a:avLst>
              <a:gd name="adj" fmla="val 8000"/>
            </a:avLst>
          </a:prstGeom>
          <a:solidFill>
            <a:srgbClr val="F6F4F2"/>
          </a:solidFill>
          <a:ln w="11430"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FC3178D-56D3-4F87-095F-C84D632BC885}"/>
              </a:ext>
            </a:extLst>
          </p:cNvPr>
          <p:cNvSpPr txBox="1"/>
          <p:nvPr/>
        </p:nvSpPr>
        <p:spPr>
          <a:xfrm>
            <a:off x="4457700" y="2095500"/>
            <a:ext cx="2724150" cy="1554272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从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ClawHub / OpenClaw Skill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市场切入，解决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Skill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作者希望获得报酬、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Agent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需要自动购买工具和能力的问题。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F1ACB7-49C8-B6AB-46E1-DB741BEB3866}"/>
              </a:ext>
            </a:extLst>
          </p:cNvPr>
          <p:cNvSpPr/>
          <p:nvPr/>
        </p:nvSpPr>
        <p:spPr>
          <a:xfrm>
            <a:off x="7962900" y="1543050"/>
            <a:ext cx="139065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生态扩展方向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9C09C0B-74F4-BC2C-7205-0472075FF121}"/>
              </a:ext>
            </a:extLst>
          </p:cNvPr>
          <p:cNvSpPr/>
          <p:nvPr/>
        </p:nvSpPr>
        <p:spPr>
          <a:xfrm>
            <a:off x="7848600" y="1857375"/>
            <a:ext cx="3124200" cy="1733550"/>
          </a:xfrm>
          <a:prstGeom prst="roundRect">
            <a:avLst>
              <a:gd name="adj" fmla="val 8000"/>
            </a:avLst>
          </a:prstGeom>
          <a:solidFill>
            <a:srgbClr val="F6F4F2"/>
          </a:solidFill>
          <a:ln w="11430">
            <a:solidFill>
              <a:srgbClr val="D1D1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B1E2D0-F7E6-74D3-5FDE-B2ECD78C0758}"/>
              </a:ext>
            </a:extLst>
          </p:cNvPr>
          <p:cNvSpPr txBox="1"/>
          <p:nvPr/>
        </p:nvSpPr>
        <p:spPr>
          <a:xfrm>
            <a:off x="8058150" y="2095500"/>
            <a:ext cx="2724150" cy="1208023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双轨支持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OpenClaw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插件与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MCP SDK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，后端从服务单一宿主升级为服务整个 </a:t>
            </a:r>
            <a:r>
              <a:rPr lang="en-US" altLang="zh-CN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Agent </a:t>
            </a:r>
            <a:r>
              <a:rPr lang="zh-CN" altLang="en-US" sz="19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生态。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87E693-A3F4-EA9F-6447-7EAA441CC8C1}"/>
              </a:ext>
            </a:extLst>
          </p:cNvPr>
          <p:cNvSpPr txBox="1"/>
          <p:nvPr/>
        </p:nvSpPr>
        <p:spPr>
          <a:xfrm>
            <a:off x="762000" y="4000500"/>
            <a:ext cx="10668000" cy="654025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144A7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我们的目标不是再做一个收银台，而是把 </a:t>
            </a:r>
            <a:r>
              <a:rPr lang="en-US" altLang="zh-CN" sz="2000" b="1">
                <a:solidFill>
                  <a:srgbClr val="144A7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</a:t>
            </a:r>
            <a:r>
              <a:rPr lang="zh-CN" altLang="en-US" sz="2000" b="1">
                <a:solidFill>
                  <a:srgbClr val="144A7E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如何支付 抽象成一套底层逻辑：谁可以付、何时可以付、付完如何验证与复用。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B4F0C3-BDF0-D161-92B7-7559346D2205}"/>
              </a:ext>
            </a:extLst>
          </p:cNvPr>
          <p:cNvSpPr txBox="1"/>
          <p:nvPr/>
        </p:nvSpPr>
        <p:spPr>
          <a:xfrm>
            <a:off x="857250" y="5219700"/>
            <a:ext cx="1028700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一句话总结：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StablePay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希望成为 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Web3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时代面向 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Agent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 </a:t>
            </a:r>
            <a:r>
              <a:rPr lang="en-US" altLang="zh-CN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PayPal </a:t>
            </a:r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级支付基础设施。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/>
          <p:cNvSpPr/>
          <p:nvPr/>
        </p:nvSpPr>
        <p:spPr>
          <a:xfrm>
            <a:off x="6634480" y="2194153"/>
            <a:ext cx="5400738" cy="1010108"/>
          </a:xfrm>
          <a:prstGeom prst="roundRect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4286902" y="0"/>
            <a:ext cx="1666001" cy="792000"/>
            <a:chOff x="9356499" y="0"/>
            <a:chExt cx="1666001" cy="792000"/>
          </a:xfrm>
        </p:grpSpPr>
        <p:sp>
          <p:nvSpPr>
            <p:cNvPr id="5" name="矩形 4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等腰三角形 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1600" b="1" dirty="0">
              <a:solidFill>
                <a:srgbClr val="FAF8F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02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37" name="powerpoint template design by DAJU_PPT正版来源小红书大橘PPT微信DAJU_PPT请勿抄袭搬运！盗版必究！"/>
          <p:cNvCxnSpPr/>
          <p:nvPr/>
        </p:nvCxnSpPr>
        <p:spPr>
          <a:xfrm>
            <a:off x="425752" y="1379685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8" name="powerpoint template design by DAJU_PPT正版来源小红书大橘PPT微信DAJU_PPT请勿抄袭搬运！盗版必究！"/>
          <p:cNvSpPr txBox="1"/>
          <p:nvPr/>
        </p:nvSpPr>
        <p:spPr>
          <a:xfrm>
            <a:off x="473580" y="959813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 </a:t>
            </a:r>
            <a:r>
              <a:rPr lang="zh-CN" altLang="en-US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研究现状</a:t>
            </a:r>
            <a:endParaRPr lang="zh-CN" altLang="en-US" sz="2000" b="1" dirty="0">
              <a:solidFill>
                <a:srgbClr val="9E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5383" y="1374025"/>
            <a:ext cx="11322051" cy="953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b="1"/>
              <a:t>对于长期预后优化治疗方案以及连续性决策支持，</a:t>
            </a:r>
            <a:r>
              <a:rPr lang="zh-CN" altLang="en-US" sz="1600" b="1">
                <a:solidFill>
                  <a:srgbClr val="C00000"/>
                </a:solidFill>
              </a:rPr>
              <a:t>强化学习</a:t>
            </a:r>
            <a:r>
              <a:rPr lang="zh-CN" altLang="en-US" sz="1600" b="1"/>
              <a:t>提供了一个可行的方案：强化学习根据当前患者状态决定下一步的行动，并逐步递进，根据连续性的状态、行动、奖励来针对最终的长期预后目标，训练一个行动策略，从而在每一步的诊疗过程中提供优化的建议。</a:t>
            </a:r>
            <a:endParaRPr lang="zh-CN" altLang="en-US" sz="1600" b="1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5776" y="4228882"/>
            <a:ext cx="5348424" cy="381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sz="16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基于强化学习的</a:t>
            </a:r>
            <a:r>
              <a:rPr lang="en-US" altLang="zh-CN" sz="16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ICU</a:t>
            </a:r>
            <a:r>
              <a:rPr lang="zh-CN" altLang="en-US" sz="16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脓毒症患者治疗方案优化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96" y="2378679"/>
            <a:ext cx="5410906" cy="175768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96" y="4702660"/>
            <a:ext cx="5410906" cy="137070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sp>
        <p:nvSpPr>
          <p:cNvPr id="14" name="矩形 13"/>
          <p:cNvSpPr/>
          <p:nvPr/>
        </p:nvSpPr>
        <p:spPr>
          <a:xfrm>
            <a:off x="650131" y="6263118"/>
            <a:ext cx="4221502" cy="381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3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基于强化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学习的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T2DM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治疗方案建议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714024" y="2246866"/>
            <a:ext cx="5187302" cy="953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1600"/>
              <a:t>强化学习目前在临床上的应用包括为慢性疾病和重症监护患者提供</a:t>
            </a:r>
            <a:r>
              <a:rPr lang="zh-CN" altLang="en-US" sz="1600" b="1"/>
              <a:t>动态治疗方案</a:t>
            </a:r>
            <a:r>
              <a:rPr lang="zh-CN" altLang="en-US" sz="1600"/>
              <a:t>，以及基于患者的疾病史、体征、症状等信息进行</a:t>
            </a:r>
            <a:r>
              <a:rPr lang="zh-CN" altLang="en-US" sz="1600" b="1"/>
              <a:t>自动化医学诊断</a:t>
            </a:r>
            <a:r>
              <a:rPr lang="zh-CN" altLang="en-US" sz="1600"/>
              <a:t>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634480" y="3642428"/>
            <a:ext cx="166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</a:rPr>
              <a:t>研究缺陷：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741198" y="4168702"/>
            <a:ext cx="5294020" cy="2390463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/>
              <a:t>目前临床研究主要为针对</a:t>
            </a:r>
            <a:r>
              <a:rPr lang="zh-CN" altLang="en-US" b="1">
                <a:solidFill>
                  <a:srgbClr val="C00000"/>
                </a:solidFill>
              </a:rPr>
              <a:t>单一疾病的动态治疗方案优化</a:t>
            </a:r>
            <a:r>
              <a:rPr lang="zh-CN" altLang="en-US"/>
              <a:t>，决策空间较小，状态空间单一。</a:t>
            </a:r>
            <a:endParaRPr lang="en-US" altLang="zh-CN"/>
          </a:p>
          <a:p>
            <a:pPr>
              <a:lnSpc>
                <a:spcPct val="120000"/>
              </a:lnSpc>
            </a:pPr>
            <a:endParaRPr lang="en-US" altLang="zh-CN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/>
              <a:t>强化学习</a:t>
            </a:r>
            <a:r>
              <a:rPr lang="zh-CN" altLang="en-US" b="1">
                <a:solidFill>
                  <a:srgbClr val="C00000"/>
                </a:solidFill>
              </a:rPr>
              <a:t>缺乏可解释性</a:t>
            </a:r>
            <a:r>
              <a:rPr lang="zh-CN" altLang="en-US"/>
              <a:t>，目前主流的强化学习往往与深度神经网络相结合，作为一个黑盒模型，接受一组数据作为输入，并直接输出一个难以解释的策略。</a:t>
            </a:r>
            <a:endParaRPr lang="en-US" altLang="zh-CN"/>
          </a:p>
        </p:txBody>
      </p:sp>
      <p:sp>
        <p:nvSpPr>
          <p:cNvPr id="20" name="左大括号 19"/>
          <p:cNvSpPr/>
          <p:nvPr/>
        </p:nvSpPr>
        <p:spPr>
          <a:xfrm rot="10800000">
            <a:off x="6236986" y="2272806"/>
            <a:ext cx="288766" cy="3990312"/>
          </a:xfrm>
          <a:prstGeom prst="leftBrace">
            <a:avLst>
              <a:gd name="adj1" fmla="val 8333"/>
              <a:gd name="adj2" fmla="val 85639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 </a:t>
            </a:r>
            <a:r>
              <a:rPr lang="zh-CN" altLang="en-US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核心技术方案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65FB8E-EB6F-1395-AC36-51B7FB3E3D3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1638300"/>
            <a:ext cx="5638800" cy="25717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D596E75-3933-7A5D-9B14-D9AF07B5F957}"/>
              </a:ext>
            </a:extLst>
          </p:cNvPr>
          <p:cNvSpPr txBox="1"/>
          <p:nvPr/>
        </p:nvSpPr>
        <p:spPr>
          <a:xfrm>
            <a:off x="819150" y="1219200"/>
            <a:ext cx="6858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我们把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支付拆成「本地身份与策略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云端编排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链上结算」三层，让它既能自主执行，又不会失控。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BF0B77A-F397-C177-B24F-4CA7DA0020E0}"/>
              </a:ext>
            </a:extLst>
          </p:cNvPr>
          <p:cNvSpPr/>
          <p:nvPr/>
        </p:nvSpPr>
        <p:spPr>
          <a:xfrm>
            <a:off x="6572250" y="1676400"/>
            <a:ext cx="1714500" cy="2419350"/>
          </a:xfrm>
          <a:prstGeom prst="roundRect">
            <a:avLst/>
          </a:prstGeom>
          <a:solidFill>
            <a:srgbClr val="E5F0F6">
              <a:alpha val="97000"/>
            </a:srgbClr>
          </a:solidFill>
          <a:ln w="9525">
            <a:solidFill>
              <a:srgbClr val="BDD5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5C8544-723F-5E38-250A-B541E453F94F}"/>
              </a:ext>
            </a:extLst>
          </p:cNvPr>
          <p:cNvSpPr txBox="1"/>
          <p:nvPr/>
        </p:nvSpPr>
        <p:spPr>
          <a:xfrm>
            <a:off x="6724650" y="1695450"/>
            <a:ext cx="14097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2D405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三层设计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E3B4D5-F0A5-C81E-8E9A-9EFF65FC207E}"/>
              </a:ext>
            </a:extLst>
          </p:cNvPr>
          <p:cNvSpPr txBox="1"/>
          <p:nvPr/>
        </p:nvSpPr>
        <p:spPr>
          <a:xfrm>
            <a:off x="6724650" y="2019300"/>
            <a:ext cx="14097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客户端层
本地钱包、</a:t>
            </a:r>
            <a:r>
              <a:rPr lang="en-US" altLang="zh-CN" sz="140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DID</a:t>
            </a:r>
            <a:r>
              <a:rPr lang="zh-CN" altLang="en-US" sz="140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、额度策略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26BE75-C1D1-435E-525B-F441EDD6ECB8}"/>
              </a:ext>
            </a:extLst>
          </p:cNvPr>
          <p:cNvSpPr txBox="1"/>
          <p:nvPr/>
        </p:nvSpPr>
        <p:spPr>
          <a:xfrm>
            <a:off x="6724650" y="2686050"/>
            <a:ext cx="14097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服务层
网关、支付、验证、查询协作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A7E719-83F8-D4A3-63E6-B43F9F136495}"/>
              </a:ext>
            </a:extLst>
          </p:cNvPr>
          <p:cNvSpPr txBox="1"/>
          <p:nvPr/>
        </p:nvSpPr>
        <p:spPr>
          <a:xfrm>
            <a:off x="6724650" y="3352800"/>
            <a:ext cx="14097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结算层
</a:t>
            </a:r>
            <a:r>
              <a:rPr lang="en-US" altLang="zh-CN" sz="140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Solana + USDC </a:t>
            </a:r>
            <a:r>
              <a:rPr lang="zh-CN" altLang="en-US" sz="140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完成最终转账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E2E52D-1206-FA7A-9E95-38DB11B6E769}"/>
              </a:ext>
            </a:extLst>
          </p:cNvPr>
          <p:cNvSpPr txBox="1"/>
          <p:nvPr/>
        </p:nvSpPr>
        <p:spPr>
          <a:xfrm>
            <a:off x="800100" y="4305300"/>
            <a:ext cx="58293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设计目标不是炫技，而是让 </a:t>
            </a:r>
            <a:r>
              <a:rPr lang="en-US" altLang="zh-CN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130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的每一笔支付都「能做、敢做、查得清」。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 </a:t>
            </a:r>
            <a:r>
              <a:rPr lang="zh-CN" altLang="en-US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后端微服务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886A44-434D-4D1C-A52F-E7A54C7C0AF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28750"/>
            <a:ext cx="7543800" cy="2667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B930CD7-F0AB-880E-69ED-A2C2C2990DEC}"/>
              </a:ext>
            </a:extLst>
          </p:cNvPr>
          <p:cNvSpPr txBox="1"/>
          <p:nvPr/>
        </p:nvSpPr>
        <p:spPr>
          <a:xfrm>
            <a:off x="800100" y="1200150"/>
            <a:ext cx="73342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后端不是一个「大接口」，而是把身份、支付、查询、验单拆成独立服务，再用 </a:t>
            </a:r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API Gateway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和消息队列把它们组织起来。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C246979-7D4A-F774-B0E6-BB8B5FED0A96}"/>
              </a:ext>
            </a:extLst>
          </p:cNvPr>
          <p:cNvSpPr/>
          <p:nvPr/>
        </p:nvSpPr>
        <p:spPr>
          <a:xfrm>
            <a:off x="781050" y="4000500"/>
            <a:ext cx="2000250" cy="685800"/>
          </a:xfrm>
          <a:prstGeom prst="roundRect">
            <a:avLst/>
          </a:prstGeom>
          <a:solidFill>
            <a:srgbClr val="DCEEF7">
              <a:alpha val="94000"/>
            </a:srgbClr>
          </a:solidFill>
          <a:ln w="10477">
            <a:solidFill>
              <a:srgbClr val="AAC8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47F743-F8FD-D1E8-AF8F-6DDE2E03B60F}"/>
              </a:ext>
            </a:extLst>
          </p:cNvPr>
          <p:cNvSpPr txBox="1"/>
          <p:nvPr/>
        </p:nvSpPr>
        <p:spPr>
          <a:xfrm>
            <a:off x="895350" y="4076700"/>
            <a:ext cx="17716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C2C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同步调用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03986E-C84D-D285-1DA4-4D0A9010E584}"/>
              </a:ext>
            </a:extLst>
          </p:cNvPr>
          <p:cNvSpPr txBox="1"/>
          <p:nvPr/>
        </p:nvSpPr>
        <p:spPr>
          <a:xfrm>
            <a:off x="895350" y="4314825"/>
            <a:ext cx="17716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网关分发后，关键链路通过 </a:t>
            </a:r>
            <a:r>
              <a:rPr lang="en-US" altLang="zh-CN" sz="115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Kitex RPC </a:t>
            </a:r>
            <a:r>
              <a:rPr lang="zh-CN" altLang="en-US" sz="115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快速完成。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955B74B-295D-CECD-AD92-D8916E31AC71}"/>
              </a:ext>
            </a:extLst>
          </p:cNvPr>
          <p:cNvSpPr/>
          <p:nvPr/>
        </p:nvSpPr>
        <p:spPr>
          <a:xfrm>
            <a:off x="2990850" y="4000500"/>
            <a:ext cx="2343150" cy="685800"/>
          </a:xfrm>
          <a:prstGeom prst="roundRect">
            <a:avLst/>
          </a:prstGeom>
          <a:solidFill>
            <a:srgbClr val="DCEEF7">
              <a:alpha val="94000"/>
            </a:srgbClr>
          </a:solidFill>
          <a:ln w="10477">
            <a:solidFill>
              <a:srgbClr val="AAC8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F52E39-2953-647A-76F4-2C024537A22F}"/>
              </a:ext>
            </a:extLst>
          </p:cNvPr>
          <p:cNvSpPr txBox="1"/>
          <p:nvPr/>
        </p:nvSpPr>
        <p:spPr>
          <a:xfrm>
            <a:off x="3105150" y="4076700"/>
            <a:ext cx="21145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C2C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异步解耦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B8BFAED-A944-A157-14EB-4A1C16601C79}"/>
              </a:ext>
            </a:extLst>
          </p:cNvPr>
          <p:cNvSpPr txBox="1"/>
          <p:nvPr/>
        </p:nvSpPr>
        <p:spPr>
          <a:xfrm>
            <a:off x="3105150" y="4314825"/>
            <a:ext cx="21145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支付成功后发布事件，验证服务异步落购买记录。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B9B50CF-DB6C-3E93-08C6-A593BA555C99}"/>
              </a:ext>
            </a:extLst>
          </p:cNvPr>
          <p:cNvSpPr/>
          <p:nvPr/>
        </p:nvSpPr>
        <p:spPr>
          <a:xfrm>
            <a:off x="5543550" y="4000500"/>
            <a:ext cx="2343150" cy="685800"/>
          </a:xfrm>
          <a:prstGeom prst="roundRect">
            <a:avLst/>
          </a:prstGeom>
          <a:solidFill>
            <a:srgbClr val="DCEEF7">
              <a:alpha val="94000"/>
            </a:srgbClr>
          </a:solidFill>
          <a:ln w="10477">
            <a:solidFill>
              <a:srgbClr val="AAC8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5C1631-AFA4-330F-9667-76A4E22F233F}"/>
              </a:ext>
            </a:extLst>
          </p:cNvPr>
          <p:cNvSpPr txBox="1"/>
          <p:nvPr/>
        </p:nvSpPr>
        <p:spPr>
          <a:xfrm>
            <a:off x="5657850" y="4076700"/>
            <a:ext cx="21145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2C2C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工程价值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CF79E8-86E6-544C-355C-B614CDF22B07}"/>
              </a:ext>
            </a:extLst>
          </p:cNvPr>
          <p:cNvSpPr txBox="1"/>
          <p:nvPr/>
        </p:nvSpPr>
        <p:spPr>
          <a:xfrm>
            <a:off x="5657850" y="4314825"/>
            <a:ext cx="21145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50">
                <a:solidFill>
                  <a:srgbClr val="4F4F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单个服务职责更清晰，也更适合后续扩容与迭代。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2.1.1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API Gateway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642B876-F207-F2C6-CB80-99F0A48E5B7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" y="1543050"/>
            <a:ext cx="4495800" cy="27813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DC6D303-A624-C324-9B10-600676596CDE}"/>
              </a:ext>
            </a:extLst>
          </p:cNvPr>
          <p:cNvSpPr txBox="1"/>
          <p:nvPr/>
        </p:nvSpPr>
        <p:spPr>
          <a:xfrm>
            <a:off x="819150" y="1200150"/>
            <a:ext cx="7239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API Gateway </a:t>
            </a:r>
            <a:r>
              <a:rPr lang="zh-CN" altLang="en-US" sz="1450">
                <a:solidFill>
                  <a:srgbClr val="283747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是整套系统的「总门厅」：所有外部请求先到这里，再决定谁能进、怎么进、该发往哪个服务。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FDD479B-F71C-504F-F607-BB1338E8482C}"/>
              </a:ext>
            </a:extLst>
          </p:cNvPr>
          <p:cNvSpPr/>
          <p:nvPr/>
        </p:nvSpPr>
        <p:spPr>
          <a:xfrm>
            <a:off x="5410200" y="1619250"/>
            <a:ext cx="2876550" cy="2628900"/>
          </a:xfrm>
          <a:prstGeom prst="roundRect">
            <a:avLst/>
          </a:prstGeom>
          <a:solidFill>
            <a:srgbClr val="E5F0F6">
              <a:alpha val="98000"/>
            </a:srgbClr>
          </a:solidFill>
          <a:ln w="10477">
            <a:solidFill>
              <a:srgbClr val="B6D2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204EFA1-A95D-DAD2-DFDB-3A5E43F30F9A}"/>
              </a:ext>
            </a:extLst>
          </p:cNvPr>
          <p:cNvSpPr txBox="1"/>
          <p:nvPr/>
        </p:nvSpPr>
        <p:spPr>
          <a:xfrm>
            <a:off x="5600700" y="1638300"/>
            <a:ext cx="24955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2D405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它主要做四件事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3780CEB-0669-FDAB-DAA7-6468D98102ED}"/>
              </a:ext>
            </a:extLst>
          </p:cNvPr>
          <p:cNvSpPr txBox="1"/>
          <p:nvPr/>
        </p:nvSpPr>
        <p:spPr>
          <a:xfrm>
            <a:off x="5619750" y="2019300"/>
            <a:ext cx="23812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1. </a:t>
            </a:r>
            <a:r>
              <a:rPr lang="zh-CN" altLang="en-US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统一入口
把不同接口都收口到同一扇门前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DEEBF02-CC25-5686-CEC9-460500515F25}"/>
              </a:ext>
            </a:extLst>
          </p:cNvPr>
          <p:cNvSpPr txBox="1"/>
          <p:nvPr/>
        </p:nvSpPr>
        <p:spPr>
          <a:xfrm>
            <a:off x="5619750" y="2533650"/>
            <a:ext cx="23812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 </a:t>
            </a:r>
            <a:r>
              <a:rPr lang="zh-CN" altLang="en-US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鉴权验签
确认请求确实来自对应 </a:t>
            </a:r>
            <a:r>
              <a:rPr lang="en-US" altLang="zh-CN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DID</a:t>
            </a:r>
            <a:endParaRPr lang="zh-CN" altLang="en-US" sz="1400">
              <a:solidFill>
                <a:srgbClr val="4B4B4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29D8D67-975F-73BC-2C58-0FDE04BFA3EF}"/>
              </a:ext>
            </a:extLst>
          </p:cNvPr>
          <p:cNvSpPr txBox="1"/>
          <p:nvPr/>
        </p:nvSpPr>
        <p:spPr>
          <a:xfrm>
            <a:off x="5619750" y="3048000"/>
            <a:ext cx="23812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3. </a:t>
            </a:r>
            <a:r>
              <a:rPr lang="zh-CN" altLang="en-US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防重放与限流
拦住重复请求和异常流量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6FBC56B-C537-2D75-A392-CAB94B15A415}"/>
              </a:ext>
            </a:extLst>
          </p:cNvPr>
          <p:cNvSpPr txBox="1"/>
          <p:nvPr/>
        </p:nvSpPr>
        <p:spPr>
          <a:xfrm>
            <a:off x="5619750" y="3562350"/>
            <a:ext cx="238125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4. </a:t>
            </a:r>
            <a:r>
              <a:rPr lang="zh-CN" altLang="en-US" sz="1400">
                <a:solidFill>
                  <a:srgbClr val="4B4B4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路由分发
把支付、查询、验证请求发到正确服务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655669-1423-3EB0-60F0-536D7E5EFB91}"/>
              </a:ext>
            </a:extLst>
          </p:cNvPr>
          <p:cNvSpPr txBox="1"/>
          <p:nvPr/>
        </p:nvSpPr>
        <p:spPr>
          <a:xfrm>
            <a:off x="704850" y="4362450"/>
            <a:ext cx="7524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50">
                <a:solidFill>
                  <a:srgbClr val="56687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从代码实现上，它把鉴权、限流、可用性保护做成中间件链，因此后续加新接口也能复用同一套安全框架。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DID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333946-80BF-770D-A955-54E5EC65143E}"/>
              </a:ext>
            </a:extLst>
          </p:cNvPr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3E85DF-E530-5C73-176E-4C86765B65AB}"/>
              </a:ext>
            </a:extLst>
          </p:cNvPr>
          <p:cNvSpPr txBox="1"/>
          <p:nvPr/>
        </p:nvSpPr>
        <p:spPr>
          <a:xfrm>
            <a:off x="609600" y="1885950"/>
            <a:ext cx="10382250" cy="315471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DID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AI Agent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生成并管理去中心化身份，是整套系统最底层、最基础的身份能力提供者。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A0D37BB-6B3F-4662-33F6-006EDEE13BCF}"/>
              </a:ext>
            </a:extLst>
          </p:cNvPr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A2E83F0-4B7C-5A96-8B50-E704F6211FC8}"/>
              </a:ext>
            </a:extLst>
          </p:cNvPr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B5203D-7E9C-2984-96EF-98169707C25D}"/>
              </a:ext>
            </a:extLst>
          </p:cNvPr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30428D-6DC2-C349-546E-420AB2C652C8}"/>
              </a:ext>
            </a:extLst>
          </p:cNvPr>
          <p:cNvSpPr txBox="1"/>
          <p:nvPr/>
        </p:nvSpPr>
        <p:spPr>
          <a:xfrm>
            <a:off x="8191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生成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Ed25519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密钥对并拼装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did:solana:&lt;pubkey&gt;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身份标识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提供身份注册、查询、验签、状态管理等基础能力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所有支付请求都可先由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DID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服务完成签名校验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681519-8C82-9A9D-FD0C-B0F50B062ACF}"/>
              </a:ext>
            </a:extLst>
          </p:cNvPr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87B620-39F4-2798-40E7-6C2DEE61884A}"/>
              </a:ext>
            </a:extLst>
          </p:cNvPr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自身不依赖其他业务服务，避免微服务循环依赖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签名内容强制绑定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timestamp + nonce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，抵御重放攻击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身份状态机支持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active / disabled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，便于风控与封禁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Payment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0EBCB6-1391-7B6E-3E73-78CD352E183B}"/>
              </a:ext>
            </a:extLst>
          </p:cNvPr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F8B7C4-4F6B-32CE-74D7-69843C14938A}"/>
              </a:ext>
            </a:extLst>
          </p:cNvPr>
          <p:cNvSpPr txBox="1"/>
          <p:nvPr/>
        </p:nvSpPr>
        <p:spPr>
          <a:xfrm>
            <a:off x="609600" y="1885950"/>
            <a:ext cx="10382250" cy="592470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Payment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是支付链路核心，负责处理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x402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协议、协调链上转账，并保证交易可重试、不可重复扣款。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E32A8F3-35CC-237A-2CA4-C323F49C25C3}"/>
              </a:ext>
            </a:extLst>
          </p:cNvPr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AC98E1A-F9E6-AF3A-1039-CE14805B6E45}"/>
              </a:ext>
            </a:extLst>
          </p:cNvPr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B37F38-684B-A7F7-DDEE-17006A76BEAE}"/>
              </a:ext>
            </a:extLst>
          </p:cNvPr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AB240B-207A-D79D-8C37-79B55A8EC8BD}"/>
              </a:ext>
            </a:extLst>
          </p:cNvPr>
          <p:cNvSpPr txBox="1"/>
          <p:nvPr/>
        </p:nvSpPr>
        <p:spPr>
          <a:xfrm>
            <a:off x="8191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处理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HTTP 402 Payment Required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的支付请求与状态流转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同步调用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DID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验签、调用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Blockchain Adapter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执行链上结算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支付成功后发布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payment_events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，驱动后续验证与记账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DDE76F-00AB-AE3D-DF97-1DBC2F0D1121}"/>
              </a:ext>
            </a:extLst>
          </p:cNvPr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2664EB-A908-5AC5-6B93-7F637AEA5D70}"/>
              </a:ext>
            </a:extLst>
          </p:cNvPr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基于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COLA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分层架构组织业务，清晰拆分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domain / application / infrastructure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幂等键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 Nonce +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数据库约束三重防护，避免重复支付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采用同步支付执行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异步购买记录落库的最终一致性设计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Blockchain Adapter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E0D267-6E6F-8CC5-DE52-085B504B2392}"/>
              </a:ext>
            </a:extLst>
          </p:cNvPr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CB133E-0AFF-DBF3-0B8A-4F23EE12B1F0}"/>
              </a:ext>
            </a:extLst>
          </p:cNvPr>
          <p:cNvSpPr txBox="1"/>
          <p:nvPr/>
        </p:nvSpPr>
        <p:spPr>
          <a:xfrm>
            <a:off x="609600" y="1885950"/>
            <a:ext cx="10382250" cy="592470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Blockchain Adapter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把业务支付语义翻译成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Solana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链上动作，是系统与真实稳定币网络交互的执行层。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D86FFDE-540A-1F2C-6734-2D46FA570CF8}"/>
              </a:ext>
            </a:extLst>
          </p:cNvPr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4A90B8C-4DE5-2700-E418-07A4E51F0D47}"/>
              </a:ext>
            </a:extLst>
          </p:cNvPr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1DD6A6-F505-1D00-E651-1864A77069F9}"/>
              </a:ext>
            </a:extLst>
          </p:cNvPr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EEF76F-2676-C0BF-1DE8-EBED2C746AAB}"/>
              </a:ext>
            </a:extLst>
          </p:cNvPr>
          <p:cNvSpPr txBox="1"/>
          <p:nvPr/>
        </p:nvSpPr>
        <p:spPr>
          <a:xfrm>
            <a:off x="8191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对接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Solana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与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USDC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，负责余额查询、转账构建、交易状态确认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支持客户端部分签名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热钱包补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fee payer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，以及纯托管转账双模式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根据补贴比例计算平台需要承担的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SOL Gas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成本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ECE60C-C84F-B51F-5A1E-CD4771E691ED}"/>
              </a:ext>
            </a:extLst>
          </p:cNvPr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14EBAD-3022-0635-D17C-D65DFF6A8087}"/>
              </a:ext>
            </a:extLst>
          </p:cNvPr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通过接口倒置把链上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RPC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、交易构建、热钱包签名全部抽象成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gateway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三阶段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base64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交易审计日志可精确定位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fee payer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source ATA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dest ATA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出问题时能直接从日志反查到具体交易构建阶段，便于审计和排障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2.1.5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Verification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66896C-A44F-36E7-BE93-34F1BB416E25}"/>
              </a:ext>
            </a:extLst>
          </p:cNvPr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DD3A33-AA42-BFB5-FFAB-56F3C733C1DD}"/>
              </a:ext>
            </a:extLst>
          </p:cNvPr>
          <p:cNvSpPr txBox="1"/>
          <p:nvPr/>
        </p:nvSpPr>
        <p:spPr>
          <a:xfrm>
            <a:off x="609600" y="1885950"/>
            <a:ext cx="10382250" cy="592470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Verification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负责把链上支付转化为平台已购买的可信证明，同时承担 </a:t>
            </a:r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验证与新用户激励发放。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C1C9696-F9E7-1CC5-587B-CF17D6C9E5DE}"/>
              </a:ext>
            </a:extLst>
          </p:cNvPr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AF987DE-D3DA-6072-452E-844C73BB1E08}"/>
              </a:ext>
            </a:extLst>
          </p:cNvPr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9FACEEA-3CC0-2DF6-C310-0391DF178CCD}"/>
              </a:ext>
            </a:extLst>
          </p:cNvPr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A914BE-7E40-E586-00E4-6E2234E19C78}"/>
              </a:ext>
            </a:extLst>
          </p:cNvPr>
          <p:cNvSpPr txBox="1"/>
          <p:nvPr/>
        </p:nvSpPr>
        <p:spPr>
          <a:xfrm>
            <a:off x="8191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订阅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payment_events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，把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agent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与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skill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的购买关系写入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purchase_records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对外提供单次验证、批量验证、购买证明查询等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RPC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能力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实现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推文绑定验证与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 USDC onboarding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奖励发放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78D287-4323-1655-4398-CDCE30B23F81}"/>
              </a:ext>
            </a:extLst>
          </p:cNvPr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7BDA64-8D5C-BB23-AD54-20E228582F68}"/>
              </a:ext>
            </a:extLst>
          </p:cNvPr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写库失败返回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ConsumeRetryLater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，让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RocketMQ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自动重投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限制同一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账号不可重复绑定不同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DID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，防止薅奖励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奖励单号采用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x-reward-&lt;tweetID&gt;-&lt;timestamp&gt;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，天然带可溯源信息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22818" y="231824"/>
            <a:ext cx="1011868" cy="346492"/>
            <a:chOff x="12109738" y="6792876"/>
            <a:chExt cx="1011868" cy="332930"/>
          </a:xfrm>
        </p:grpSpPr>
        <p:sp>
          <p:nvSpPr>
            <p:cNvPr id="29" name="箭头: 五边形 28"/>
            <p:cNvSpPr/>
            <p:nvPr/>
          </p:nvSpPr>
          <p:spPr>
            <a:xfrm flipH="1">
              <a:off x="12109738" y="6814487"/>
              <a:ext cx="720000" cy="311319"/>
            </a:xfrm>
            <a:prstGeom prst="homePlate">
              <a:avLst>
                <a:gd name="adj" fmla="val 5546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C00000"/>
                </a:solidFill>
              </a:endParaRPr>
            </a:p>
          </p:txBody>
        </p:sp>
        <p:sp>
          <p:nvSpPr>
            <p:cNvPr id="30" name="object 3"/>
            <p:cNvSpPr txBox="1"/>
            <p:nvPr/>
          </p:nvSpPr>
          <p:spPr>
            <a:xfrm>
              <a:off x="12354354" y="6792876"/>
              <a:ext cx="767252" cy="312365"/>
            </a:xfrm>
            <a:prstGeom prst="rect">
              <a:avLst/>
            </a:prstGeom>
          </p:spPr>
          <p:txBody>
            <a:bodyPr vert="horz" wrap="square" lIns="0" tIns="17145" rIns="0" bIns="0" rtlCol="0" anchor="ctr">
              <a:spAutoFit/>
            </a:bodyPr>
            <a:lstStyle>
              <a:lvl1pPr algn="l" defTabSz="150812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7255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lang="en-US" altLang="zh-CN" sz="2000" spc="15">
                  <a:solidFill>
                    <a:schemeClr val="bg1"/>
                  </a:solidFill>
                  <a:latin typeface="Britannic Bold" panose="020B0903060703020204" pitchFamily="34" charset="0"/>
                </a:rPr>
                <a:t>03</a:t>
              </a:r>
              <a:endParaRPr lang="en-US" altLang="zh-CN" sz="2000" spc="15" dirty="0">
                <a:solidFill>
                  <a:schemeClr val="bg1"/>
                </a:solidFill>
                <a:latin typeface="Britannic Bold" panose="020B0903060703020204" pitchFamily="34" charset="0"/>
              </a:endParaRPr>
            </a:p>
          </p:txBody>
        </p:sp>
      </p:grpSp>
      <p:cxnSp>
        <p:nvCxnSpPr>
          <p:cNvPr id="2" name="powerpoint template design by DAJU_PPT正版来源小红书大橘PPT微信DAJU_PPT请勿抄袭搬运！盗版必究！"/>
          <p:cNvCxnSpPr/>
          <p:nvPr/>
        </p:nvCxnSpPr>
        <p:spPr>
          <a:xfrm>
            <a:off x="425752" y="1334290"/>
            <a:ext cx="2400000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37" name="powerpoint template design by DAJU_PPT正版来源小红书大橘PPT微信DAJU_PPT请勿抄袭搬运！盗版必究！"/>
          <p:cNvSpPr txBox="1"/>
          <p:nvPr/>
        </p:nvSpPr>
        <p:spPr>
          <a:xfrm>
            <a:off x="481915" y="929576"/>
            <a:ext cx="3804662" cy="40259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r>
              <a:rPr lang="en-US" altLang="zh-CN" sz="2000" b="1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2.1.6 </a:t>
            </a:r>
            <a:r>
              <a:rPr lang="en-US" altLang="zh-CN" sz="2000" b="1" dirty="0">
                <a:solidFill>
                  <a:srgbClr val="9E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Query Service</a:t>
            </a:r>
          </a:p>
        </p:txBody>
      </p:sp>
      <p:grpSp>
        <p:nvGrpSpPr>
          <p:cNvPr id="1073" name="组合 1072"/>
          <p:cNvGrpSpPr/>
          <p:nvPr/>
        </p:nvGrpSpPr>
        <p:grpSpPr>
          <a:xfrm>
            <a:off x="5974449" y="0"/>
            <a:ext cx="1666001" cy="792000"/>
            <a:chOff x="9356499" y="0"/>
            <a:chExt cx="1666001" cy="792000"/>
          </a:xfrm>
        </p:grpSpPr>
        <p:sp>
          <p:nvSpPr>
            <p:cNvPr id="1074" name="矩形 1073"/>
            <p:cNvSpPr/>
            <p:nvPr userDrawn="1"/>
          </p:nvSpPr>
          <p:spPr>
            <a:xfrm>
              <a:off x="9356499" y="0"/>
              <a:ext cx="1666001" cy="7920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76" name="等腰三角形 1075"/>
            <p:cNvSpPr/>
            <p:nvPr userDrawn="1"/>
          </p:nvSpPr>
          <p:spPr>
            <a:xfrm>
              <a:off x="10013501" y="628650"/>
              <a:ext cx="351996" cy="16335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7" name="TextBox 6"/>
          <p:cNvSpPr txBox="1"/>
          <p:nvPr/>
        </p:nvSpPr>
        <p:spPr>
          <a:xfrm>
            <a:off x="6117548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AF8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733336-A140-68D3-F91B-B61F671775CE}"/>
              </a:ext>
            </a:extLst>
          </p:cNvPr>
          <p:cNvSpPr/>
          <p:nvPr/>
        </p:nvSpPr>
        <p:spPr>
          <a:xfrm>
            <a:off x="609600" y="1485900"/>
            <a:ext cx="1066800" cy="285750"/>
          </a:xfrm>
          <a:prstGeom prst="rect">
            <a:avLst/>
          </a:prstGeom>
          <a:solidFill>
            <a:srgbClr val="A01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ea typeface="微软雅黑" panose="020B0503020204020204" pitchFamily="34" charset="-122"/>
              </a:rPr>
              <a:t>服务职责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3BAB39-A013-8611-669F-D3F27C7D512B}"/>
              </a:ext>
            </a:extLst>
          </p:cNvPr>
          <p:cNvSpPr txBox="1"/>
          <p:nvPr/>
        </p:nvSpPr>
        <p:spPr>
          <a:xfrm>
            <a:off x="609600" y="1885950"/>
            <a:ext cx="10382250" cy="315471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en-US" altLang="zh-CN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Query Service </a:t>
            </a:r>
            <a:r>
              <a:rPr lang="zh-CN" altLang="en-US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面向用户和商家提供余额、交易、收益与销售查询，是支付能力产品化后的可视化出口。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3773B42-CDF8-7514-BD59-E0CA376EEE59}"/>
              </a:ext>
            </a:extLst>
          </p:cNvPr>
          <p:cNvSpPr/>
          <p:nvPr/>
        </p:nvSpPr>
        <p:spPr>
          <a:xfrm>
            <a:off x="5524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2ECF05B-F2E7-5394-8539-3816FEE9DEEF}"/>
              </a:ext>
            </a:extLst>
          </p:cNvPr>
          <p:cNvSpPr/>
          <p:nvPr/>
        </p:nvSpPr>
        <p:spPr>
          <a:xfrm>
            <a:off x="5924550" y="2724150"/>
            <a:ext cx="4905375" cy="2857500"/>
          </a:xfrm>
          <a:prstGeom prst="roundRect">
            <a:avLst>
              <a:gd name="adj" fmla="val 8000"/>
            </a:avLst>
          </a:prstGeom>
          <a:solidFill>
            <a:srgbClr val="F8F7F5"/>
          </a:solidFill>
          <a:ln w="1143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9C1B44-259B-9653-BF2E-3D00A7CF9381}"/>
              </a:ext>
            </a:extLst>
          </p:cNvPr>
          <p:cNvSpPr txBox="1"/>
          <p:nvPr/>
        </p:nvSpPr>
        <p:spPr>
          <a:xfrm>
            <a:off x="8191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关键能力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8C1B70-DDED-7E45-75B7-F9280DBCBB47}"/>
              </a:ext>
            </a:extLst>
          </p:cNvPr>
          <p:cNvSpPr txBox="1"/>
          <p:nvPr/>
        </p:nvSpPr>
        <p:spPr>
          <a:xfrm>
            <a:off x="819150" y="3257550"/>
            <a:ext cx="4400550" cy="1977464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提供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GetBalanceSummary / ListTransactions / GetRevenueSummary / ListSales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同时服务买家侧余额查询和商家侧收益、销售明细查询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支持内部交易同步接口，作为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MQ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消费后的幂等写入入口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CDA1D6-7F5A-0BCD-8BCF-6902665CDFB1}"/>
              </a:ext>
            </a:extLst>
          </p:cNvPr>
          <p:cNvSpPr txBox="1"/>
          <p:nvPr/>
        </p:nvSpPr>
        <p:spPr>
          <a:xfrm>
            <a:off x="6191250" y="2933700"/>
            <a:ext cx="4400550" cy="346249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r>
              <a:rPr lang="zh-CN" altLang="en-US" sz="2000" b="1">
                <a:solidFill>
                  <a:srgbClr val="A01B1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设计亮点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321342-A374-B250-C39C-8D9060F12792}"/>
              </a:ext>
            </a:extLst>
          </p:cNvPr>
          <p:cNvSpPr txBox="1"/>
          <p:nvPr/>
        </p:nvSpPr>
        <p:spPr>
          <a:xfrm>
            <a:off x="6191250" y="3257550"/>
            <a:ext cx="4400550" cy="1754326"/>
          </a:xfrm>
          <a:prstGeom prst="rect">
            <a:avLst/>
          </a:prstGeom>
          <a:noFill/>
        </p:spPr>
        <p:txBody>
          <a:bodyPr vert="horz" wrap="square" lIns="38100" tIns="19050" rIns="38100" bIns="1905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链上余额与本地账本交叉验证，既看得见链上资金，也看得见业务流水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链上查询失败时余额字段自动降级为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，但不阻断其他查询接口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趋势统计、分页查询、结构化日志已经具备进一步产品化基础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18475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2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5000000074505806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1457_1*m_h_i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3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1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1457_1*m_h_i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1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3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2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4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1457_1*m_h_f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1457_1*m_h_a*1_1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1457_1*m_h_a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1457_1*m_h_f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1457_1*m_h_a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1457_1*m_h_f*1_2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输入你的项正文，文字是您思想的提炼，请尽量言简意赅的阐述观点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2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2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9999995231628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1457_1*m_h_i*1_3_1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3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3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7_1*m_h_i*1_3_4"/>
  <p:tag name="KSO_WM_TEMPLATE_CATEGORY" val="diagram"/>
  <p:tag name="KSO_WM_TEMPLATE_INDEX" val="202314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4"/>
  <p:tag name="KSO_WM_DIAGRAM_MAX_ITEMCNT" val="6"/>
  <p:tag name="KSO_WM_DIAGRAM_MIN_ITEMCNT" val="3"/>
  <p:tag name="KSO_WM_DIAGRAM_VIRTUALLY_FRAME" val="{&quot;height&quot;:388.3748779296875,&quot;left&quot;:33.45,&quot;top&quot;:134.46256103515626,&quot;width&quot;:897.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4472C4"/>
      </a:hlink>
      <a:folHlink>
        <a:srgbClr val="BFBFBF"/>
      </a:folHlink>
    </a:clrScheme>
    <a:fontScheme name="自定义 6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体母版">
  <a:themeElements>
    <a:clrScheme name="我给母校送模板配色1">
      <a:dk1>
        <a:sysClr val="windowText" lastClr="000000"/>
      </a:dk1>
      <a:lt1>
        <a:sysClr val="window" lastClr="FFFFFF"/>
      </a:lt1>
      <a:dk2>
        <a:srgbClr val="7F7F7F"/>
      </a:dk2>
      <a:lt2>
        <a:srgbClr val="FAFAFC"/>
      </a:lt2>
      <a:accent1>
        <a:srgbClr val="36456E"/>
      </a:accent1>
      <a:accent2>
        <a:srgbClr val="1D75AB"/>
      </a:accent2>
      <a:accent3>
        <a:srgbClr val="0EAEC4"/>
      </a:accent3>
      <a:accent4>
        <a:srgbClr val="EF5F2D"/>
      </a:accent4>
      <a:accent5>
        <a:srgbClr val="FBD533"/>
      </a:accent5>
      <a:accent6>
        <a:srgbClr val="D35AD2"/>
      </a:accent6>
      <a:hlink>
        <a:srgbClr val="7030A0"/>
      </a:hlink>
      <a:folHlink>
        <a:srgbClr val="FF0000"/>
      </a:folHlink>
    </a:clrScheme>
    <a:fontScheme name="我给母校送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F84D4D"/>
    </a:accent1>
    <a:accent2>
      <a:srgbClr val="FF6B42"/>
    </a:accent2>
    <a:accent3>
      <a:srgbClr val="5BA3EB"/>
    </a:accent3>
    <a:accent4>
      <a:srgbClr val="06BB9A"/>
    </a:accent4>
    <a:accent5>
      <a:srgbClr val="8E7EF0"/>
    </a:accent5>
    <a:accent6>
      <a:srgbClr val="F4B919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5759</Words>
  <Application>Microsoft Office PowerPoint</Application>
  <PresentationFormat>宽屏</PresentationFormat>
  <Paragraphs>340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Microsoft YaHei UI</vt:lpstr>
      <vt:lpstr>MicrosoftYaHei</vt:lpstr>
      <vt:lpstr>等线</vt:lpstr>
      <vt:lpstr>思源黑体 CN ExtraLight</vt:lpstr>
      <vt:lpstr>微软雅黑</vt:lpstr>
      <vt:lpstr>Arial</vt:lpstr>
      <vt:lpstr>Britannic Bold</vt:lpstr>
      <vt:lpstr>Calibri</vt:lpstr>
      <vt:lpstr>Segoe UI</vt:lpstr>
      <vt:lpstr>Times New Roman</vt:lpstr>
      <vt:lpstr>Wingdings</vt:lpstr>
      <vt:lpstr>Office 主题​​</vt:lpstr>
      <vt:lpstr>主体母版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Ge Biyan</dc:creator>
  <cp:lastModifiedBy>boen bao</cp:lastModifiedBy>
  <cp:revision>503</cp:revision>
  <dcterms:created xsi:type="dcterms:W3CDTF">2024-01-10T19:24:00Z</dcterms:created>
  <dcterms:modified xsi:type="dcterms:W3CDTF">2026-07-08T11:47:03Z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2052-12.1.0.26375</vt:lpwstr>
  </property>
</Properties>
</file>