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3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5" showSpecialPlsOnTitleSld="0">
  <p:sldMasterIdLst>
    <p:sldMasterId id="2147483648" r:id="rId1"/>
    <p:sldMasterId id="2147483663" r:id="rId3"/>
    <p:sldMasterId id="2147483676" r:id="rId4"/>
  </p:sldMasterIdLst>
  <p:notesMasterIdLst>
    <p:notesMasterId r:id="rId6"/>
  </p:notesMasterIdLst>
  <p:sldIdLst>
    <p:sldId id="259" r:id="rId5"/>
    <p:sldId id="1799" r:id="rId7"/>
    <p:sldId id="333" r:id="rId8"/>
    <p:sldId id="1798" r:id="rId9"/>
    <p:sldId id="1801" r:id="rId10"/>
    <p:sldId id="1782" r:id="rId11"/>
    <p:sldId id="1803" r:id="rId12"/>
    <p:sldId id="1804" r:id="rId13"/>
    <p:sldId id="1805" r:id="rId14"/>
    <p:sldId id="1806" r:id="rId15"/>
    <p:sldId id="1807" r:id="rId16"/>
    <p:sldId id="1808" r:id="rId17"/>
    <p:sldId id="1809" r:id="rId18"/>
    <p:sldId id="1810" r:id="rId19"/>
    <p:sldId id="1813" r:id="rId20"/>
    <p:sldId id="1811" r:id="rId21"/>
    <p:sldId id="1815" r:id="rId22"/>
    <p:sldId id="1816" r:id="rId23"/>
    <p:sldId id="1817" r:id="rId24"/>
    <p:sldId id="1818" r:id="rId25"/>
    <p:sldId id="1819" r:id="rId26"/>
    <p:sldId id="1785" r:id="rId27"/>
    <p:sldId id="1820" r:id="rId28"/>
    <p:sldId id="1821" r:id="rId29"/>
    <p:sldId id="1822" r:id="rId30"/>
    <p:sldId id="1784" r:id="rId31"/>
    <p:sldId id="1823" r:id="rId32"/>
    <p:sldId id="1789" r:id="rId33"/>
    <p:sldId id="1802" r:id="rId34"/>
    <p:sldId id="1812" r:id="rId35"/>
    <p:sldId id="1797" r:id="rId36"/>
    <p:sldId id="1788" r:id="rId37"/>
    <p:sldId id="1783" r:id="rId38"/>
    <p:sldId id="1814" r:id="rId39"/>
    <p:sldId id="276" r:id="rId40"/>
  </p:sldIdLst>
  <p:sldSz cx="12192000" cy="6858000"/>
  <p:notesSz cx="6858000" cy="9144000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72" userDrawn="1">
          <p15:clr>
            <a:srgbClr val="A4A3A4"/>
          </p15:clr>
        </p15:guide>
        <p15:guide id="2" pos="692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 Biyan" initials="GB" lastIdx="1" clrIdx="0"/>
  <p:cmAuthor id="2" name="WPS" initials="W" lastIdx="0" clrIdx="1"/>
  <p:cmAuthor id="3" name="作者" initials="A" lastIdx="0" clrIdx="2"/>
  <p:cmAuthor id="4" name="WPS_1679281038" initials="W" lastIdx="0" clrIdx="3"/>
  <p:cmAuthor id="5" name="路 子豪" initials="路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4F2"/>
    <a:srgbClr val="A12300"/>
    <a:srgbClr val="F84D4D"/>
    <a:srgbClr val="035D4D"/>
    <a:srgbClr val="CEE6C0"/>
    <a:srgbClr val="262626"/>
    <a:srgbClr val="A02300"/>
    <a:srgbClr val="02468E"/>
    <a:srgbClr val="C82B00"/>
    <a:srgbClr val="FA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1" autoAdjust="0"/>
    <p:restoredTop sz="85446" autoAdjust="0"/>
  </p:normalViewPr>
  <p:slideViewPr>
    <p:cSldViewPr snapToGrid="0" showGuides="1">
      <p:cViewPr>
        <p:scale>
          <a:sx n="75" d="100"/>
          <a:sy n="75" d="100"/>
        </p:scale>
        <p:origin x="747" y="233"/>
      </p:cViewPr>
      <p:guideLst>
        <p:guide orient="horz" pos="3372"/>
        <p:guide pos="69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5" Type="http://schemas.openxmlformats.org/officeDocument/2006/relationships/tags" Target="tags/tag27.xml"/><Relationship Id="rId44" Type="http://schemas.openxmlformats.org/officeDocument/2006/relationships/commentAuthors" Target="commentAuthors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4FDE9-8F51-4230-A725-30CE20208B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6C439-5B31-42A4-9D65-F2D199E888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我的汇报主要分为四部分：研究背景、技术方案、结果分析以及结论与展望。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1D7C0-D2EC-4F78-A71F-0993C46EB1B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74D2D-2CA3-4DA2-960D-ACCD54CD11B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43FC-A3D2-4518-BE7A-C3F813165DC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7724-71C7-4D24-A8B2-7B1AB51B0FB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6820-6768-483F-A616-75E641EEA21E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EF73-CE81-465E-A193-2D15779B4B9A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9413-1498-498D-ADFE-25C0D54EF81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TextBox 6"/>
          <p:cNvSpPr txBox="1"/>
          <p:nvPr userDrawn="1"/>
        </p:nvSpPr>
        <p:spPr>
          <a:xfrm>
            <a:off x="609600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7"/>
          <p:cNvSpPr txBox="1"/>
          <p:nvPr userDrawn="1"/>
        </p:nvSpPr>
        <p:spPr>
          <a:xfrm>
            <a:off x="7797800" y="215904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最终成果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2" name="直接连接符 11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3" name="TextBox 6"/>
          <p:cNvSpPr txBox="1"/>
          <p:nvPr userDrawn="1"/>
        </p:nvSpPr>
        <p:spPr>
          <a:xfrm>
            <a:off x="4430001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5" name="TextBox 9"/>
          <p:cNvSpPr txBox="1"/>
          <p:nvPr userDrawn="1"/>
        </p:nvSpPr>
        <p:spPr>
          <a:xfrm>
            <a:off x="949960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grpSp>
        <p:nvGrpSpPr>
          <p:cNvPr id="19" name="组合 18"/>
          <p:cNvGrpSpPr/>
          <p:nvPr userDrawn="1"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0" name="箭头: 五边形 19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21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pic>
        <p:nvPicPr>
          <p:cNvPr id="1026" name="Picture 2" descr="合作伙伴 - 同方环境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8" y="-211866"/>
            <a:ext cx="2331531" cy="124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9413-1498-498D-ADFE-25C0D54EF81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1026" name="Picture 2" descr="合作伙伴 - 同方环境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8" y="-211866"/>
            <a:ext cx="2331531" cy="124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777CD-47D9-4FC4-B8A4-623AAFF35AF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F1B48-CEAD-4F1C-AE71-CB7229355321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8A2BA-4249-4F82-847B-D81ACA07A93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89CC-024E-42E9-86B3-397BF2D2E2E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C92D7-29CC-46D0-8EC6-859025C81CE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22C5-DF54-4BD7-B776-8C19CDAF53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5ED9C-F3C5-4479-B5F5-6CD3BB899FF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22C5-DF54-4BD7-B776-8C19CDAF53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DD05A-068C-4AE6-9E2A-0F921C8B290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22C5-DF54-4BD7-B776-8C19CDAF53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61D53-580A-484C-8DF9-BAAFF67BEE97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22C5-DF54-4BD7-B776-8C19CDAF53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EDDC4-390C-4D47-ACB1-BC6ECAB7E1FD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22C5-DF54-4BD7-B776-8C19CDAF53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789CF-810E-4EEB-B3EB-871805D481FF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22C5-DF54-4BD7-B776-8C19CDAF53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AC5BD-697C-44B6-B84A-3036FFA684F7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22C5-DF54-4BD7-B776-8C19CDAF53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 userDrawn="1"/>
        </p:nvSpPr>
        <p:spPr>
          <a:xfrm>
            <a:off x="1" y="409575"/>
            <a:ext cx="124800" cy="550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0" hasCustomPrompt="1"/>
          </p:nvPr>
        </p:nvSpPr>
        <p:spPr>
          <a:xfrm>
            <a:off x="216000" y="392980"/>
            <a:ext cx="6557333" cy="416571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2400" kern="120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</a:t>
            </a:r>
            <a:endParaRPr lang="zh-CN" altLang="en-US" dirty="0"/>
          </a:p>
        </p:txBody>
      </p:sp>
      <p:sp>
        <p:nvSpPr>
          <p:cNvPr id="30" name="文本占位符 28"/>
          <p:cNvSpPr>
            <a:spLocks noGrp="1"/>
          </p:cNvSpPr>
          <p:nvPr>
            <p:ph type="body" sz="quarter" idx="11" hasCustomPrompt="1"/>
          </p:nvPr>
        </p:nvSpPr>
        <p:spPr>
          <a:xfrm>
            <a:off x="216000" y="712620"/>
            <a:ext cx="6557333" cy="323301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16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89E99-6A9A-4F78-9A64-8F81EF3964D9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22C5-DF54-4BD7-B776-8C19CDAF53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B800-5A99-4AAA-9BE3-427A949153B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22C5-DF54-4BD7-B776-8C19CDAF53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9A95E-06EA-4F2E-8C0B-330DBE7811D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22C5-DF54-4BD7-B776-8C19CDAF53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DD5A-6D20-41A3-A0A9-481A650ED81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22C5-DF54-4BD7-B776-8C19CDAF53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图片占位符 17"/>
          <p:cNvSpPr>
            <a:spLocks noGrp="1"/>
          </p:cNvSpPr>
          <p:nvPr>
            <p:ph type="pic" sz="quarter" idx="10"/>
          </p:nvPr>
        </p:nvSpPr>
        <p:spPr>
          <a:xfrm>
            <a:off x="682171" y="1526793"/>
            <a:ext cx="6047631" cy="404669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660400" y="1901825"/>
            <a:ext cx="2879725" cy="16208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1"/>
          </p:nvPr>
        </p:nvSpPr>
        <p:spPr>
          <a:xfrm>
            <a:off x="3841069" y="1901825"/>
            <a:ext cx="2879725" cy="16208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660400" y="3915696"/>
            <a:ext cx="2879725" cy="16208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3"/>
          </p:nvPr>
        </p:nvSpPr>
        <p:spPr>
          <a:xfrm>
            <a:off x="3841069" y="3915696"/>
            <a:ext cx="2879725" cy="16208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12200" y="1825116"/>
            <a:ext cx="5731862" cy="392252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680380" y="2155760"/>
            <a:ext cx="3493085" cy="260267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1"/>
          </p:nvPr>
        </p:nvSpPr>
        <p:spPr>
          <a:xfrm>
            <a:off x="7997864" y="2155760"/>
            <a:ext cx="3513066" cy="260267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2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1567543" y="1301530"/>
            <a:ext cx="4209138" cy="219961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6406686" y="1301530"/>
            <a:ext cx="4209138" cy="219961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2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827088" y="1815250"/>
            <a:ext cx="5584149" cy="371286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1"/>
          </p:nvPr>
        </p:nvSpPr>
        <p:spPr>
          <a:xfrm>
            <a:off x="5025543" y="1571207"/>
            <a:ext cx="2140914" cy="2140914"/>
          </a:xfrm>
          <a:custGeom>
            <a:avLst/>
            <a:gdLst>
              <a:gd name="connsiteX0" fmla="*/ 1070457 w 2140914"/>
              <a:gd name="connsiteY0" fmla="*/ 0 h 2140914"/>
              <a:gd name="connsiteX1" fmla="*/ 2140914 w 2140914"/>
              <a:gd name="connsiteY1" fmla="*/ 1070457 h 2140914"/>
              <a:gd name="connsiteX2" fmla="*/ 1070457 w 2140914"/>
              <a:gd name="connsiteY2" fmla="*/ 2140914 h 2140914"/>
              <a:gd name="connsiteX3" fmla="*/ 0 w 2140914"/>
              <a:gd name="connsiteY3" fmla="*/ 1070457 h 2140914"/>
              <a:gd name="connsiteX4" fmla="*/ 1070457 w 2140914"/>
              <a:gd name="connsiteY4" fmla="*/ 0 h 214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0914" h="2140914">
                <a:moveTo>
                  <a:pt x="1070457" y="0"/>
                </a:moveTo>
                <a:cubicBezTo>
                  <a:pt x="1661654" y="0"/>
                  <a:pt x="2140914" y="479260"/>
                  <a:pt x="2140914" y="1070457"/>
                </a:cubicBezTo>
                <a:cubicBezTo>
                  <a:pt x="2140914" y="1661654"/>
                  <a:pt x="1661654" y="2140914"/>
                  <a:pt x="1070457" y="2140914"/>
                </a:cubicBezTo>
                <a:cubicBezTo>
                  <a:pt x="479260" y="2140914"/>
                  <a:pt x="0" y="1661654"/>
                  <a:pt x="0" y="1070457"/>
                </a:cubicBezTo>
                <a:cubicBezTo>
                  <a:pt x="0" y="479260"/>
                  <a:pt x="479260" y="0"/>
                  <a:pt x="10704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2"/>
          </p:nvPr>
        </p:nvSpPr>
        <p:spPr>
          <a:xfrm>
            <a:off x="8482794" y="1571207"/>
            <a:ext cx="2140914" cy="2140914"/>
          </a:xfrm>
          <a:custGeom>
            <a:avLst/>
            <a:gdLst>
              <a:gd name="connsiteX0" fmla="*/ 1070457 w 2140914"/>
              <a:gd name="connsiteY0" fmla="*/ 0 h 2140914"/>
              <a:gd name="connsiteX1" fmla="*/ 2140914 w 2140914"/>
              <a:gd name="connsiteY1" fmla="*/ 1070457 h 2140914"/>
              <a:gd name="connsiteX2" fmla="*/ 1070457 w 2140914"/>
              <a:gd name="connsiteY2" fmla="*/ 2140914 h 2140914"/>
              <a:gd name="connsiteX3" fmla="*/ 0 w 2140914"/>
              <a:gd name="connsiteY3" fmla="*/ 1070457 h 2140914"/>
              <a:gd name="connsiteX4" fmla="*/ 1070457 w 2140914"/>
              <a:gd name="connsiteY4" fmla="*/ 0 h 214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0914" h="2140914">
                <a:moveTo>
                  <a:pt x="1070457" y="0"/>
                </a:moveTo>
                <a:cubicBezTo>
                  <a:pt x="1661654" y="0"/>
                  <a:pt x="2140914" y="479260"/>
                  <a:pt x="2140914" y="1070457"/>
                </a:cubicBezTo>
                <a:cubicBezTo>
                  <a:pt x="2140914" y="1661654"/>
                  <a:pt x="1661654" y="2140914"/>
                  <a:pt x="1070457" y="2140914"/>
                </a:cubicBezTo>
                <a:cubicBezTo>
                  <a:pt x="479260" y="2140914"/>
                  <a:pt x="0" y="1661654"/>
                  <a:pt x="0" y="1070457"/>
                </a:cubicBezTo>
                <a:cubicBezTo>
                  <a:pt x="0" y="479260"/>
                  <a:pt x="479260" y="0"/>
                  <a:pt x="10704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568292" y="1571207"/>
            <a:ext cx="2140914" cy="2140914"/>
          </a:xfrm>
          <a:custGeom>
            <a:avLst/>
            <a:gdLst>
              <a:gd name="connsiteX0" fmla="*/ 1070457 w 2140914"/>
              <a:gd name="connsiteY0" fmla="*/ 0 h 2140914"/>
              <a:gd name="connsiteX1" fmla="*/ 2140914 w 2140914"/>
              <a:gd name="connsiteY1" fmla="*/ 1070457 h 2140914"/>
              <a:gd name="connsiteX2" fmla="*/ 1070457 w 2140914"/>
              <a:gd name="connsiteY2" fmla="*/ 2140914 h 2140914"/>
              <a:gd name="connsiteX3" fmla="*/ 0 w 2140914"/>
              <a:gd name="connsiteY3" fmla="*/ 1070457 h 2140914"/>
              <a:gd name="connsiteX4" fmla="*/ 1070457 w 2140914"/>
              <a:gd name="connsiteY4" fmla="*/ 0 h 214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0914" h="2140914">
                <a:moveTo>
                  <a:pt x="1070457" y="0"/>
                </a:moveTo>
                <a:cubicBezTo>
                  <a:pt x="1661654" y="0"/>
                  <a:pt x="2140914" y="479260"/>
                  <a:pt x="2140914" y="1070457"/>
                </a:cubicBezTo>
                <a:cubicBezTo>
                  <a:pt x="2140914" y="1661654"/>
                  <a:pt x="1661654" y="2140914"/>
                  <a:pt x="1070457" y="2140914"/>
                </a:cubicBezTo>
                <a:cubicBezTo>
                  <a:pt x="479260" y="2140914"/>
                  <a:pt x="0" y="1661654"/>
                  <a:pt x="0" y="1070457"/>
                </a:cubicBezTo>
                <a:cubicBezTo>
                  <a:pt x="0" y="479260"/>
                  <a:pt x="479260" y="0"/>
                  <a:pt x="10704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179904" y="1901468"/>
            <a:ext cx="3434167" cy="2104474"/>
          </a:xfrm>
          <a:custGeom>
            <a:avLst/>
            <a:gdLst>
              <a:gd name="connsiteX0" fmla="*/ 0 w 3434167"/>
              <a:gd name="connsiteY0" fmla="*/ 0 h 1931520"/>
              <a:gd name="connsiteX1" fmla="*/ 3434167 w 3434167"/>
              <a:gd name="connsiteY1" fmla="*/ 0 h 1931520"/>
              <a:gd name="connsiteX2" fmla="*/ 3434167 w 3434167"/>
              <a:gd name="connsiteY2" fmla="*/ 1931520 h 1931520"/>
              <a:gd name="connsiteX3" fmla="*/ 0 w 3434167"/>
              <a:gd name="connsiteY3" fmla="*/ 1931520 h 19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4167" h="1931520">
                <a:moveTo>
                  <a:pt x="0" y="0"/>
                </a:moveTo>
                <a:lnTo>
                  <a:pt x="3434167" y="0"/>
                </a:lnTo>
                <a:lnTo>
                  <a:pt x="3434167" y="1931520"/>
                </a:lnTo>
                <a:lnTo>
                  <a:pt x="0" y="1931520"/>
                </a:lnTo>
                <a:close/>
              </a:path>
            </a:pathLst>
          </a:custGeom>
          <a:effectLst>
            <a:outerShdw blurRad="127000" sx="102000" sy="102000" algn="ctr" rotWithShape="0">
              <a:schemeClr val="bg1">
                <a:lumMod val="50000"/>
                <a:alpha val="30000"/>
              </a:schemeClr>
            </a:outerShdw>
          </a:effectLst>
          <a:scene3d>
            <a:camera prst="perspectiveRight"/>
            <a:lightRig rig="threePt" dir="t"/>
          </a:scene3d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7842363" y="1895930"/>
            <a:ext cx="3434167" cy="2104474"/>
          </a:xfrm>
          <a:custGeom>
            <a:avLst/>
            <a:gdLst>
              <a:gd name="connsiteX0" fmla="*/ 0 w 3434167"/>
              <a:gd name="connsiteY0" fmla="*/ 0 h 1931520"/>
              <a:gd name="connsiteX1" fmla="*/ 3434167 w 3434167"/>
              <a:gd name="connsiteY1" fmla="*/ 0 h 1931520"/>
              <a:gd name="connsiteX2" fmla="*/ 3434167 w 3434167"/>
              <a:gd name="connsiteY2" fmla="*/ 1931520 h 1931520"/>
              <a:gd name="connsiteX3" fmla="*/ 0 w 3434167"/>
              <a:gd name="connsiteY3" fmla="*/ 1931520 h 19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4167" h="1931520">
                <a:moveTo>
                  <a:pt x="0" y="0"/>
                </a:moveTo>
                <a:lnTo>
                  <a:pt x="3434167" y="0"/>
                </a:lnTo>
                <a:lnTo>
                  <a:pt x="3434167" y="1931520"/>
                </a:lnTo>
                <a:lnTo>
                  <a:pt x="0" y="1931520"/>
                </a:lnTo>
                <a:close/>
              </a:path>
            </a:pathLst>
          </a:custGeom>
          <a:effectLst>
            <a:outerShdw blurRad="127000" sx="102000" sy="102000" algn="ctr" rotWithShape="0">
              <a:schemeClr val="bg1">
                <a:lumMod val="50000"/>
                <a:alpha val="30000"/>
              </a:schemeClr>
            </a:outerShdw>
          </a:effectLst>
          <a:scene3d>
            <a:camera prst="perspectiveLeft"/>
            <a:lightRig rig="threePt" dir="t"/>
          </a:scene3d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3793560" y="1644454"/>
            <a:ext cx="4604880" cy="2584487"/>
          </a:xfrm>
          <a:custGeom>
            <a:avLst/>
            <a:gdLst>
              <a:gd name="connsiteX0" fmla="*/ 0 w 3434167"/>
              <a:gd name="connsiteY0" fmla="*/ 0 h 1931520"/>
              <a:gd name="connsiteX1" fmla="*/ 3434167 w 3434167"/>
              <a:gd name="connsiteY1" fmla="*/ 0 h 1931520"/>
              <a:gd name="connsiteX2" fmla="*/ 3434167 w 3434167"/>
              <a:gd name="connsiteY2" fmla="*/ 1931520 h 1931520"/>
              <a:gd name="connsiteX3" fmla="*/ 0 w 3434167"/>
              <a:gd name="connsiteY3" fmla="*/ 1931520 h 19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4167" h="1931520">
                <a:moveTo>
                  <a:pt x="0" y="0"/>
                </a:moveTo>
                <a:lnTo>
                  <a:pt x="3434167" y="0"/>
                </a:lnTo>
                <a:lnTo>
                  <a:pt x="3434167" y="1931520"/>
                </a:lnTo>
                <a:lnTo>
                  <a:pt x="0" y="1931520"/>
                </a:lnTo>
                <a:close/>
              </a:path>
            </a:pathLst>
          </a:custGeom>
          <a:effectLst>
            <a:outerShdw blurRad="127000" sx="102000" sy="102000" algn="ctr" rotWithShape="0">
              <a:schemeClr val="bg1">
                <a:lumMod val="50000"/>
                <a:alpha val="30000"/>
              </a:scheme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682171" y="1770744"/>
            <a:ext cx="5776686" cy="3758837"/>
          </a:xfrm>
          <a:custGeom>
            <a:avLst/>
            <a:gdLst>
              <a:gd name="connsiteX0" fmla="*/ 0 w 5776686"/>
              <a:gd name="connsiteY0" fmla="*/ 0 h 3758837"/>
              <a:gd name="connsiteX1" fmla="*/ 5776686 w 5776686"/>
              <a:gd name="connsiteY1" fmla="*/ 0 h 3758837"/>
              <a:gd name="connsiteX2" fmla="*/ 5776686 w 5776686"/>
              <a:gd name="connsiteY2" fmla="*/ 3758837 h 3758837"/>
              <a:gd name="connsiteX3" fmla="*/ 0 w 5776686"/>
              <a:gd name="connsiteY3" fmla="*/ 3758837 h 3758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6686" h="3758837">
                <a:moveTo>
                  <a:pt x="0" y="0"/>
                </a:moveTo>
                <a:lnTo>
                  <a:pt x="5776686" y="0"/>
                </a:lnTo>
                <a:lnTo>
                  <a:pt x="5776686" y="3758837"/>
                </a:lnTo>
                <a:lnTo>
                  <a:pt x="0" y="375883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817635" y="1035591"/>
            <a:ext cx="10556729" cy="3240588"/>
          </a:xfrm>
          <a:custGeom>
            <a:avLst/>
            <a:gdLst>
              <a:gd name="connsiteX0" fmla="*/ 0 w 10874375"/>
              <a:gd name="connsiteY0" fmla="*/ 0 h 3462946"/>
              <a:gd name="connsiteX1" fmla="*/ 10874375 w 10874375"/>
              <a:gd name="connsiteY1" fmla="*/ 0 h 3462946"/>
              <a:gd name="connsiteX2" fmla="*/ 10874375 w 10874375"/>
              <a:gd name="connsiteY2" fmla="*/ 3462946 h 3462946"/>
              <a:gd name="connsiteX3" fmla="*/ 0 w 10874375"/>
              <a:gd name="connsiteY3" fmla="*/ 3462946 h 3462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74375" h="3462946">
                <a:moveTo>
                  <a:pt x="0" y="0"/>
                </a:moveTo>
                <a:lnTo>
                  <a:pt x="10874375" y="0"/>
                </a:lnTo>
                <a:lnTo>
                  <a:pt x="10874375" y="3462946"/>
                </a:lnTo>
                <a:lnTo>
                  <a:pt x="0" y="346294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5144298" y="1327793"/>
            <a:ext cx="1903405" cy="1903405"/>
          </a:xfrm>
          <a:custGeom>
            <a:avLst/>
            <a:gdLst>
              <a:gd name="connsiteX0" fmla="*/ 800318 w 1600636"/>
              <a:gd name="connsiteY0" fmla="*/ 0 h 1600636"/>
              <a:gd name="connsiteX1" fmla="*/ 1600636 w 1600636"/>
              <a:gd name="connsiteY1" fmla="*/ 800318 h 1600636"/>
              <a:gd name="connsiteX2" fmla="*/ 800318 w 1600636"/>
              <a:gd name="connsiteY2" fmla="*/ 1600636 h 1600636"/>
              <a:gd name="connsiteX3" fmla="*/ 0 w 1600636"/>
              <a:gd name="connsiteY3" fmla="*/ 800318 h 1600636"/>
              <a:gd name="connsiteX4" fmla="*/ 800318 w 1600636"/>
              <a:gd name="connsiteY4" fmla="*/ 0 h 1600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0636" h="1600636">
                <a:moveTo>
                  <a:pt x="800318" y="0"/>
                </a:moveTo>
                <a:cubicBezTo>
                  <a:pt x="1242321" y="0"/>
                  <a:pt x="1600636" y="358315"/>
                  <a:pt x="1600636" y="800318"/>
                </a:cubicBezTo>
                <a:cubicBezTo>
                  <a:pt x="1600636" y="1242321"/>
                  <a:pt x="1242321" y="1600636"/>
                  <a:pt x="800318" y="1600636"/>
                </a:cubicBezTo>
                <a:cubicBezTo>
                  <a:pt x="358315" y="1600636"/>
                  <a:pt x="0" y="1242321"/>
                  <a:pt x="0" y="800318"/>
                </a:cubicBezTo>
                <a:cubicBezTo>
                  <a:pt x="0" y="358315"/>
                  <a:pt x="358315" y="0"/>
                  <a:pt x="80031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1"/>
          </p:nvPr>
        </p:nvSpPr>
        <p:spPr>
          <a:xfrm>
            <a:off x="3534731" y="2717176"/>
            <a:ext cx="2406856" cy="1677868"/>
          </a:xfrm>
          <a:custGeom>
            <a:avLst/>
            <a:gdLst>
              <a:gd name="connsiteX0" fmla="*/ 0 w 2406856"/>
              <a:gd name="connsiteY0" fmla="*/ 0 h 1677868"/>
              <a:gd name="connsiteX1" fmla="*/ 2406856 w 2406856"/>
              <a:gd name="connsiteY1" fmla="*/ 0 h 1677868"/>
              <a:gd name="connsiteX2" fmla="*/ 2406856 w 2406856"/>
              <a:gd name="connsiteY2" fmla="*/ 1677868 h 1677868"/>
              <a:gd name="connsiteX3" fmla="*/ 0 w 2406856"/>
              <a:gd name="connsiteY3" fmla="*/ 1677868 h 1677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6856" h="1677868">
                <a:moveTo>
                  <a:pt x="0" y="0"/>
                </a:moveTo>
                <a:lnTo>
                  <a:pt x="2406856" y="0"/>
                </a:lnTo>
                <a:lnTo>
                  <a:pt x="2406856" y="1677868"/>
                </a:lnTo>
                <a:lnTo>
                  <a:pt x="0" y="16778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2"/>
          </p:nvPr>
        </p:nvSpPr>
        <p:spPr>
          <a:xfrm>
            <a:off x="6286725" y="2717176"/>
            <a:ext cx="2406856" cy="1677868"/>
          </a:xfrm>
          <a:custGeom>
            <a:avLst/>
            <a:gdLst>
              <a:gd name="connsiteX0" fmla="*/ 0 w 2406856"/>
              <a:gd name="connsiteY0" fmla="*/ 0 h 1677868"/>
              <a:gd name="connsiteX1" fmla="*/ 2406856 w 2406856"/>
              <a:gd name="connsiteY1" fmla="*/ 0 h 1677868"/>
              <a:gd name="connsiteX2" fmla="*/ 2406856 w 2406856"/>
              <a:gd name="connsiteY2" fmla="*/ 1677868 h 1677868"/>
              <a:gd name="connsiteX3" fmla="*/ 0 w 2406856"/>
              <a:gd name="connsiteY3" fmla="*/ 1677868 h 1677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6856" h="1677868">
                <a:moveTo>
                  <a:pt x="0" y="0"/>
                </a:moveTo>
                <a:lnTo>
                  <a:pt x="2406856" y="0"/>
                </a:lnTo>
                <a:lnTo>
                  <a:pt x="2406856" y="1677868"/>
                </a:lnTo>
                <a:lnTo>
                  <a:pt x="0" y="16778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9038718" y="2717176"/>
            <a:ext cx="2406856" cy="1677868"/>
          </a:xfrm>
          <a:custGeom>
            <a:avLst/>
            <a:gdLst>
              <a:gd name="connsiteX0" fmla="*/ 0 w 2406856"/>
              <a:gd name="connsiteY0" fmla="*/ 0 h 1677868"/>
              <a:gd name="connsiteX1" fmla="*/ 2406856 w 2406856"/>
              <a:gd name="connsiteY1" fmla="*/ 0 h 1677868"/>
              <a:gd name="connsiteX2" fmla="*/ 2406856 w 2406856"/>
              <a:gd name="connsiteY2" fmla="*/ 1677868 h 1677868"/>
              <a:gd name="connsiteX3" fmla="*/ 0 w 2406856"/>
              <a:gd name="connsiteY3" fmla="*/ 1677868 h 1677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6856" h="1677868">
                <a:moveTo>
                  <a:pt x="0" y="0"/>
                </a:moveTo>
                <a:lnTo>
                  <a:pt x="2406856" y="0"/>
                </a:lnTo>
                <a:lnTo>
                  <a:pt x="2406856" y="1677868"/>
                </a:lnTo>
                <a:lnTo>
                  <a:pt x="0" y="16778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782737" y="2717176"/>
            <a:ext cx="2406856" cy="1677868"/>
          </a:xfrm>
          <a:custGeom>
            <a:avLst/>
            <a:gdLst>
              <a:gd name="connsiteX0" fmla="*/ 0 w 2406856"/>
              <a:gd name="connsiteY0" fmla="*/ 0 h 1677868"/>
              <a:gd name="connsiteX1" fmla="*/ 2406856 w 2406856"/>
              <a:gd name="connsiteY1" fmla="*/ 0 h 1677868"/>
              <a:gd name="connsiteX2" fmla="*/ 2406856 w 2406856"/>
              <a:gd name="connsiteY2" fmla="*/ 1677868 h 1677868"/>
              <a:gd name="connsiteX3" fmla="*/ 0 w 2406856"/>
              <a:gd name="connsiteY3" fmla="*/ 1677868 h 1677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6856" h="1677868">
                <a:moveTo>
                  <a:pt x="0" y="0"/>
                </a:moveTo>
                <a:lnTo>
                  <a:pt x="2406856" y="0"/>
                </a:lnTo>
                <a:lnTo>
                  <a:pt x="2406856" y="1677868"/>
                </a:lnTo>
                <a:lnTo>
                  <a:pt x="0" y="16778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691218" y="1273462"/>
            <a:ext cx="6811938" cy="2441929"/>
          </a:xfrm>
          <a:custGeom>
            <a:avLst/>
            <a:gdLst>
              <a:gd name="connsiteX0" fmla="*/ 0 w 10828469"/>
              <a:gd name="connsiteY0" fmla="*/ 0 h 2441929"/>
              <a:gd name="connsiteX1" fmla="*/ 10828469 w 10828469"/>
              <a:gd name="connsiteY1" fmla="*/ 0 h 2441929"/>
              <a:gd name="connsiteX2" fmla="*/ 10828469 w 10828469"/>
              <a:gd name="connsiteY2" fmla="*/ 2441929 h 2441929"/>
              <a:gd name="connsiteX3" fmla="*/ 0 w 10828469"/>
              <a:gd name="connsiteY3" fmla="*/ 2441929 h 244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28469" h="2441929">
                <a:moveTo>
                  <a:pt x="0" y="0"/>
                </a:moveTo>
                <a:lnTo>
                  <a:pt x="10828469" y="0"/>
                </a:lnTo>
                <a:lnTo>
                  <a:pt x="10828469" y="2441929"/>
                </a:lnTo>
                <a:lnTo>
                  <a:pt x="0" y="244192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图片占位符 35"/>
          <p:cNvSpPr>
            <a:spLocks noGrp="1"/>
          </p:cNvSpPr>
          <p:nvPr>
            <p:ph type="pic" sz="quarter" idx="11"/>
          </p:nvPr>
        </p:nvSpPr>
        <p:spPr>
          <a:xfrm>
            <a:off x="5003800" y="3581831"/>
            <a:ext cx="2171700" cy="2031998"/>
          </a:xfrm>
          <a:custGeom>
            <a:avLst/>
            <a:gdLst>
              <a:gd name="connsiteX0" fmla="*/ 0 w 2171700"/>
              <a:gd name="connsiteY0" fmla="*/ 0 h 2031998"/>
              <a:gd name="connsiteX1" fmla="*/ 2171700 w 2171700"/>
              <a:gd name="connsiteY1" fmla="*/ 0 h 2031998"/>
              <a:gd name="connsiteX2" fmla="*/ 2171700 w 2171700"/>
              <a:gd name="connsiteY2" fmla="*/ 2031998 h 2031998"/>
              <a:gd name="connsiteX3" fmla="*/ 0 w 2171700"/>
              <a:gd name="connsiteY3" fmla="*/ 2031998 h 203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2031998">
                <a:moveTo>
                  <a:pt x="0" y="0"/>
                </a:moveTo>
                <a:lnTo>
                  <a:pt x="2171700" y="0"/>
                </a:lnTo>
                <a:lnTo>
                  <a:pt x="2171700" y="2031998"/>
                </a:lnTo>
                <a:lnTo>
                  <a:pt x="0" y="2031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7" name="图片占位符 36"/>
          <p:cNvSpPr>
            <a:spLocks noGrp="1"/>
          </p:cNvSpPr>
          <p:nvPr>
            <p:ph type="pic" sz="quarter" idx="12"/>
          </p:nvPr>
        </p:nvSpPr>
        <p:spPr>
          <a:xfrm>
            <a:off x="9347200" y="3581831"/>
            <a:ext cx="2171700" cy="2031998"/>
          </a:xfrm>
          <a:custGeom>
            <a:avLst/>
            <a:gdLst>
              <a:gd name="connsiteX0" fmla="*/ 0 w 2171700"/>
              <a:gd name="connsiteY0" fmla="*/ 0 h 2031998"/>
              <a:gd name="connsiteX1" fmla="*/ 2171700 w 2171700"/>
              <a:gd name="connsiteY1" fmla="*/ 0 h 2031998"/>
              <a:gd name="connsiteX2" fmla="*/ 2171700 w 2171700"/>
              <a:gd name="connsiteY2" fmla="*/ 2031998 h 2031998"/>
              <a:gd name="connsiteX3" fmla="*/ 0 w 2171700"/>
              <a:gd name="connsiteY3" fmla="*/ 2031998 h 203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2031998">
                <a:moveTo>
                  <a:pt x="0" y="0"/>
                </a:moveTo>
                <a:lnTo>
                  <a:pt x="2171700" y="0"/>
                </a:lnTo>
                <a:lnTo>
                  <a:pt x="2171700" y="2031998"/>
                </a:lnTo>
                <a:lnTo>
                  <a:pt x="0" y="2031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8" name="图片占位符 37"/>
          <p:cNvSpPr>
            <a:spLocks noGrp="1"/>
          </p:cNvSpPr>
          <p:nvPr>
            <p:ph type="pic" sz="quarter" idx="13"/>
          </p:nvPr>
        </p:nvSpPr>
        <p:spPr>
          <a:xfrm>
            <a:off x="7175500" y="1549833"/>
            <a:ext cx="2171700" cy="2031998"/>
          </a:xfrm>
          <a:custGeom>
            <a:avLst/>
            <a:gdLst>
              <a:gd name="connsiteX0" fmla="*/ 0 w 2171700"/>
              <a:gd name="connsiteY0" fmla="*/ 0 h 2031998"/>
              <a:gd name="connsiteX1" fmla="*/ 2171700 w 2171700"/>
              <a:gd name="connsiteY1" fmla="*/ 0 h 2031998"/>
              <a:gd name="connsiteX2" fmla="*/ 2171700 w 2171700"/>
              <a:gd name="connsiteY2" fmla="*/ 2031998 h 2031998"/>
              <a:gd name="connsiteX3" fmla="*/ 0 w 2171700"/>
              <a:gd name="connsiteY3" fmla="*/ 2031998 h 203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2031998">
                <a:moveTo>
                  <a:pt x="0" y="0"/>
                </a:moveTo>
                <a:lnTo>
                  <a:pt x="2171700" y="0"/>
                </a:lnTo>
                <a:lnTo>
                  <a:pt x="2171700" y="2031998"/>
                </a:lnTo>
                <a:lnTo>
                  <a:pt x="0" y="2031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9" name="图片占位符 38"/>
          <p:cNvSpPr>
            <a:spLocks noGrp="1"/>
          </p:cNvSpPr>
          <p:nvPr>
            <p:ph type="pic" sz="quarter" idx="14"/>
          </p:nvPr>
        </p:nvSpPr>
        <p:spPr>
          <a:xfrm>
            <a:off x="2832100" y="1549833"/>
            <a:ext cx="2171700" cy="2031998"/>
          </a:xfrm>
          <a:custGeom>
            <a:avLst/>
            <a:gdLst>
              <a:gd name="connsiteX0" fmla="*/ 0 w 2171700"/>
              <a:gd name="connsiteY0" fmla="*/ 0 h 2031998"/>
              <a:gd name="connsiteX1" fmla="*/ 2171700 w 2171700"/>
              <a:gd name="connsiteY1" fmla="*/ 0 h 2031998"/>
              <a:gd name="connsiteX2" fmla="*/ 2171700 w 2171700"/>
              <a:gd name="connsiteY2" fmla="*/ 2031998 h 2031998"/>
              <a:gd name="connsiteX3" fmla="*/ 0 w 2171700"/>
              <a:gd name="connsiteY3" fmla="*/ 2031998 h 203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2031998">
                <a:moveTo>
                  <a:pt x="0" y="0"/>
                </a:moveTo>
                <a:lnTo>
                  <a:pt x="2171700" y="0"/>
                </a:lnTo>
                <a:lnTo>
                  <a:pt x="2171700" y="2031998"/>
                </a:lnTo>
                <a:lnTo>
                  <a:pt x="0" y="2031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5" name="图片占位符 34"/>
          <p:cNvSpPr>
            <a:spLocks noGrp="1"/>
          </p:cNvSpPr>
          <p:nvPr>
            <p:ph type="pic" sz="quarter" idx="10"/>
          </p:nvPr>
        </p:nvSpPr>
        <p:spPr>
          <a:xfrm>
            <a:off x="660400" y="3581831"/>
            <a:ext cx="2171700" cy="2031998"/>
          </a:xfrm>
          <a:custGeom>
            <a:avLst/>
            <a:gdLst>
              <a:gd name="connsiteX0" fmla="*/ 0 w 2171700"/>
              <a:gd name="connsiteY0" fmla="*/ 0 h 2031998"/>
              <a:gd name="connsiteX1" fmla="*/ 2171700 w 2171700"/>
              <a:gd name="connsiteY1" fmla="*/ 0 h 2031998"/>
              <a:gd name="connsiteX2" fmla="*/ 2171700 w 2171700"/>
              <a:gd name="connsiteY2" fmla="*/ 2031998 h 2031998"/>
              <a:gd name="connsiteX3" fmla="*/ 0 w 2171700"/>
              <a:gd name="connsiteY3" fmla="*/ 2031998 h 203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2031998">
                <a:moveTo>
                  <a:pt x="0" y="0"/>
                </a:moveTo>
                <a:lnTo>
                  <a:pt x="2171700" y="0"/>
                </a:lnTo>
                <a:lnTo>
                  <a:pt x="2171700" y="2031998"/>
                </a:lnTo>
                <a:lnTo>
                  <a:pt x="0" y="2031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679744" y="1127592"/>
            <a:ext cx="4553385" cy="5038264"/>
          </a:xfrm>
          <a:custGeom>
            <a:avLst/>
            <a:gdLst>
              <a:gd name="connsiteX0" fmla="*/ 0 w 4553385"/>
              <a:gd name="connsiteY0" fmla="*/ 0 h 5038264"/>
              <a:gd name="connsiteX1" fmla="*/ 4553385 w 4553385"/>
              <a:gd name="connsiteY1" fmla="*/ 0 h 5038264"/>
              <a:gd name="connsiteX2" fmla="*/ 4553385 w 4553385"/>
              <a:gd name="connsiteY2" fmla="*/ 5038264 h 5038264"/>
              <a:gd name="connsiteX3" fmla="*/ 0 w 4553385"/>
              <a:gd name="connsiteY3" fmla="*/ 5038264 h 503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3385" h="5038264">
                <a:moveTo>
                  <a:pt x="0" y="0"/>
                </a:moveTo>
                <a:lnTo>
                  <a:pt x="4553385" y="0"/>
                </a:lnTo>
                <a:lnTo>
                  <a:pt x="4553385" y="5038264"/>
                </a:lnTo>
                <a:lnTo>
                  <a:pt x="0" y="503826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3313569" y="1151227"/>
            <a:ext cx="2397593" cy="1708088"/>
          </a:xfrm>
          <a:custGeom>
            <a:avLst/>
            <a:gdLst>
              <a:gd name="connsiteX0" fmla="*/ 0 w 2397593"/>
              <a:gd name="connsiteY0" fmla="*/ 0 h 1497361"/>
              <a:gd name="connsiteX1" fmla="*/ 2397593 w 2397593"/>
              <a:gd name="connsiteY1" fmla="*/ 0 h 1497361"/>
              <a:gd name="connsiteX2" fmla="*/ 2397593 w 2397593"/>
              <a:gd name="connsiteY2" fmla="*/ 1497361 h 1497361"/>
              <a:gd name="connsiteX3" fmla="*/ 0 w 2397593"/>
              <a:gd name="connsiteY3" fmla="*/ 1497361 h 1497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7593" h="1497361">
                <a:moveTo>
                  <a:pt x="0" y="0"/>
                </a:moveTo>
                <a:lnTo>
                  <a:pt x="2397593" y="0"/>
                </a:lnTo>
                <a:lnTo>
                  <a:pt x="2397593" y="1497361"/>
                </a:lnTo>
                <a:lnTo>
                  <a:pt x="0" y="149736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699839" y="1151227"/>
            <a:ext cx="2418113" cy="3173178"/>
          </a:xfrm>
          <a:custGeom>
            <a:avLst/>
            <a:gdLst>
              <a:gd name="connsiteX0" fmla="*/ 0 w 2418113"/>
              <a:gd name="connsiteY0" fmla="*/ 0 h 3063575"/>
              <a:gd name="connsiteX1" fmla="*/ 2418113 w 2418113"/>
              <a:gd name="connsiteY1" fmla="*/ 0 h 3063575"/>
              <a:gd name="connsiteX2" fmla="*/ 2418113 w 2418113"/>
              <a:gd name="connsiteY2" fmla="*/ 3063575 h 3063575"/>
              <a:gd name="connsiteX3" fmla="*/ 0 w 2418113"/>
              <a:gd name="connsiteY3" fmla="*/ 3063575 h 306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8113" h="3063575">
                <a:moveTo>
                  <a:pt x="0" y="0"/>
                </a:moveTo>
                <a:lnTo>
                  <a:pt x="2418113" y="0"/>
                </a:lnTo>
                <a:lnTo>
                  <a:pt x="2418113" y="3063575"/>
                </a:lnTo>
                <a:lnTo>
                  <a:pt x="0" y="30635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707883" y="4572000"/>
            <a:ext cx="2410673" cy="1579425"/>
          </a:xfrm>
          <a:custGeom>
            <a:avLst/>
            <a:gdLst>
              <a:gd name="connsiteX0" fmla="*/ 0 w 2410673"/>
              <a:gd name="connsiteY0" fmla="*/ 0 h 1517855"/>
              <a:gd name="connsiteX1" fmla="*/ 2410673 w 2410673"/>
              <a:gd name="connsiteY1" fmla="*/ 0 h 1517855"/>
              <a:gd name="connsiteX2" fmla="*/ 2410673 w 2410673"/>
              <a:gd name="connsiteY2" fmla="*/ 1517855 h 1517855"/>
              <a:gd name="connsiteX3" fmla="*/ 0 w 2410673"/>
              <a:gd name="connsiteY3" fmla="*/ 1517855 h 1517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0673" h="1517855">
                <a:moveTo>
                  <a:pt x="0" y="0"/>
                </a:moveTo>
                <a:lnTo>
                  <a:pt x="2410673" y="0"/>
                </a:lnTo>
                <a:lnTo>
                  <a:pt x="2410673" y="1517855"/>
                </a:lnTo>
                <a:lnTo>
                  <a:pt x="0" y="1517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3313569" y="3097382"/>
            <a:ext cx="2397594" cy="3063574"/>
          </a:xfrm>
          <a:custGeom>
            <a:avLst/>
            <a:gdLst>
              <a:gd name="connsiteX0" fmla="*/ 0 w 2418113"/>
              <a:gd name="connsiteY0" fmla="*/ 0 h 3063574"/>
              <a:gd name="connsiteX1" fmla="*/ 2418113 w 2418113"/>
              <a:gd name="connsiteY1" fmla="*/ 0 h 3063574"/>
              <a:gd name="connsiteX2" fmla="*/ 2418113 w 2418113"/>
              <a:gd name="connsiteY2" fmla="*/ 3063574 h 3063574"/>
              <a:gd name="connsiteX3" fmla="*/ 0 w 2418113"/>
              <a:gd name="connsiteY3" fmla="*/ 3063574 h 3063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8113" h="3063574">
                <a:moveTo>
                  <a:pt x="0" y="0"/>
                </a:moveTo>
                <a:lnTo>
                  <a:pt x="2418113" y="0"/>
                </a:lnTo>
                <a:lnTo>
                  <a:pt x="2418113" y="3063574"/>
                </a:lnTo>
                <a:lnTo>
                  <a:pt x="0" y="306357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5203032" y="1373012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8572720" y="1373012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1833345" y="3967728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4"/>
          </p:nvPr>
        </p:nvSpPr>
        <p:spPr>
          <a:xfrm>
            <a:off x="5203032" y="3967728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5"/>
          </p:nvPr>
        </p:nvSpPr>
        <p:spPr>
          <a:xfrm>
            <a:off x="8572720" y="3967728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833345" y="1373012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667657" y="926059"/>
            <a:ext cx="10900229" cy="4670056"/>
          </a:xfrm>
          <a:custGeom>
            <a:avLst/>
            <a:gdLst>
              <a:gd name="connsiteX0" fmla="*/ 0 w 10900229"/>
              <a:gd name="connsiteY0" fmla="*/ 0 h 4670056"/>
              <a:gd name="connsiteX1" fmla="*/ 10900229 w 10900229"/>
              <a:gd name="connsiteY1" fmla="*/ 0 h 4670056"/>
              <a:gd name="connsiteX2" fmla="*/ 10900229 w 10900229"/>
              <a:gd name="connsiteY2" fmla="*/ 4670056 h 4670056"/>
              <a:gd name="connsiteX3" fmla="*/ 0 w 10900229"/>
              <a:gd name="connsiteY3" fmla="*/ 4670056 h 467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00229" h="4670056">
                <a:moveTo>
                  <a:pt x="0" y="0"/>
                </a:moveTo>
                <a:lnTo>
                  <a:pt x="10900229" y="0"/>
                </a:lnTo>
                <a:lnTo>
                  <a:pt x="10900229" y="4670056"/>
                </a:lnTo>
                <a:lnTo>
                  <a:pt x="0" y="467005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图片占位符 18"/>
          <p:cNvSpPr>
            <a:spLocks noGrp="1"/>
          </p:cNvSpPr>
          <p:nvPr>
            <p:ph type="pic" sz="quarter" idx="10"/>
          </p:nvPr>
        </p:nvSpPr>
        <p:spPr>
          <a:xfrm>
            <a:off x="1154243" y="2437107"/>
            <a:ext cx="4141657" cy="2368446"/>
          </a:xfrm>
          <a:custGeom>
            <a:avLst/>
            <a:gdLst>
              <a:gd name="connsiteX0" fmla="*/ 0 w 3703496"/>
              <a:gd name="connsiteY0" fmla="*/ 0 h 2368446"/>
              <a:gd name="connsiteX1" fmla="*/ 3703496 w 3703496"/>
              <a:gd name="connsiteY1" fmla="*/ 0 h 2368446"/>
              <a:gd name="connsiteX2" fmla="*/ 3703496 w 3703496"/>
              <a:gd name="connsiteY2" fmla="*/ 2368446 h 2368446"/>
              <a:gd name="connsiteX3" fmla="*/ 0 w 3703496"/>
              <a:gd name="connsiteY3" fmla="*/ 2368446 h 236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3496" h="2368446">
                <a:moveTo>
                  <a:pt x="0" y="0"/>
                </a:moveTo>
                <a:lnTo>
                  <a:pt x="3703496" y="0"/>
                </a:lnTo>
                <a:lnTo>
                  <a:pt x="3703496" y="2368446"/>
                </a:lnTo>
                <a:lnTo>
                  <a:pt x="0" y="236844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20"/>
          <p:cNvSpPr>
            <a:spLocks noGrp="1"/>
          </p:cNvSpPr>
          <p:nvPr>
            <p:ph type="pic" sz="quarter" idx="11"/>
          </p:nvPr>
        </p:nvSpPr>
        <p:spPr>
          <a:xfrm>
            <a:off x="5485632" y="1686925"/>
            <a:ext cx="5724510" cy="3821111"/>
          </a:xfrm>
          <a:custGeom>
            <a:avLst/>
            <a:gdLst>
              <a:gd name="connsiteX0" fmla="*/ 0 w 5724510"/>
              <a:gd name="connsiteY0" fmla="*/ 0 h 3821111"/>
              <a:gd name="connsiteX1" fmla="*/ 5724510 w 5724510"/>
              <a:gd name="connsiteY1" fmla="*/ 0 h 3821111"/>
              <a:gd name="connsiteX2" fmla="*/ 5724510 w 5724510"/>
              <a:gd name="connsiteY2" fmla="*/ 3821111 h 3821111"/>
              <a:gd name="connsiteX3" fmla="*/ 0 w 5724510"/>
              <a:gd name="connsiteY3" fmla="*/ 3821111 h 3821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24510" h="3821111">
                <a:moveTo>
                  <a:pt x="0" y="0"/>
                </a:moveTo>
                <a:lnTo>
                  <a:pt x="5724510" y="0"/>
                </a:lnTo>
                <a:lnTo>
                  <a:pt x="5724510" y="3821111"/>
                </a:lnTo>
                <a:lnTo>
                  <a:pt x="0" y="382111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1547730" y="3703459"/>
            <a:ext cx="4462700" cy="2434021"/>
          </a:xfrm>
          <a:custGeom>
            <a:avLst/>
            <a:gdLst>
              <a:gd name="connsiteX0" fmla="*/ 0 w 4462700"/>
              <a:gd name="connsiteY0" fmla="*/ 0 h 2434021"/>
              <a:gd name="connsiteX1" fmla="*/ 4462700 w 4462700"/>
              <a:gd name="connsiteY1" fmla="*/ 0 h 2434021"/>
              <a:gd name="connsiteX2" fmla="*/ 4462700 w 4462700"/>
              <a:gd name="connsiteY2" fmla="*/ 2434021 h 2434021"/>
              <a:gd name="connsiteX3" fmla="*/ 0 w 4462700"/>
              <a:gd name="connsiteY3" fmla="*/ 2434021 h 243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2700" h="2434021">
                <a:moveTo>
                  <a:pt x="0" y="0"/>
                </a:moveTo>
                <a:lnTo>
                  <a:pt x="4462700" y="0"/>
                </a:lnTo>
                <a:lnTo>
                  <a:pt x="4462700" y="2434021"/>
                </a:lnTo>
                <a:lnTo>
                  <a:pt x="0" y="243402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2"/>
          </p:nvPr>
        </p:nvSpPr>
        <p:spPr>
          <a:xfrm>
            <a:off x="6201725" y="1173056"/>
            <a:ext cx="4462700" cy="2434021"/>
          </a:xfrm>
          <a:custGeom>
            <a:avLst/>
            <a:gdLst>
              <a:gd name="connsiteX0" fmla="*/ 0 w 4462700"/>
              <a:gd name="connsiteY0" fmla="*/ 0 h 2434021"/>
              <a:gd name="connsiteX1" fmla="*/ 4462700 w 4462700"/>
              <a:gd name="connsiteY1" fmla="*/ 0 h 2434021"/>
              <a:gd name="connsiteX2" fmla="*/ 4462700 w 4462700"/>
              <a:gd name="connsiteY2" fmla="*/ 2434021 h 2434021"/>
              <a:gd name="connsiteX3" fmla="*/ 0 w 4462700"/>
              <a:gd name="connsiteY3" fmla="*/ 2434021 h 243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2700" h="2434021">
                <a:moveTo>
                  <a:pt x="0" y="0"/>
                </a:moveTo>
                <a:lnTo>
                  <a:pt x="4462700" y="0"/>
                </a:lnTo>
                <a:lnTo>
                  <a:pt x="4462700" y="2434021"/>
                </a:lnTo>
                <a:lnTo>
                  <a:pt x="0" y="243402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6215580" y="3703459"/>
            <a:ext cx="4462700" cy="2434021"/>
          </a:xfrm>
          <a:custGeom>
            <a:avLst/>
            <a:gdLst>
              <a:gd name="connsiteX0" fmla="*/ 0 w 4462700"/>
              <a:gd name="connsiteY0" fmla="*/ 0 h 2434021"/>
              <a:gd name="connsiteX1" fmla="*/ 4462700 w 4462700"/>
              <a:gd name="connsiteY1" fmla="*/ 0 h 2434021"/>
              <a:gd name="connsiteX2" fmla="*/ 4462700 w 4462700"/>
              <a:gd name="connsiteY2" fmla="*/ 2434021 h 2434021"/>
              <a:gd name="connsiteX3" fmla="*/ 0 w 4462700"/>
              <a:gd name="connsiteY3" fmla="*/ 2434021 h 243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2700" h="2434021">
                <a:moveTo>
                  <a:pt x="0" y="0"/>
                </a:moveTo>
                <a:lnTo>
                  <a:pt x="4462700" y="0"/>
                </a:lnTo>
                <a:lnTo>
                  <a:pt x="4462700" y="2434021"/>
                </a:lnTo>
                <a:lnTo>
                  <a:pt x="0" y="243402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1547730" y="1173056"/>
            <a:ext cx="4462700" cy="2434021"/>
          </a:xfrm>
          <a:custGeom>
            <a:avLst/>
            <a:gdLst>
              <a:gd name="connsiteX0" fmla="*/ 0 w 4462700"/>
              <a:gd name="connsiteY0" fmla="*/ 0 h 2434021"/>
              <a:gd name="connsiteX1" fmla="*/ 4462700 w 4462700"/>
              <a:gd name="connsiteY1" fmla="*/ 0 h 2434021"/>
              <a:gd name="connsiteX2" fmla="*/ 4462700 w 4462700"/>
              <a:gd name="connsiteY2" fmla="*/ 2434021 h 2434021"/>
              <a:gd name="connsiteX3" fmla="*/ 0 w 4462700"/>
              <a:gd name="connsiteY3" fmla="*/ 2434021 h 243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2700" h="2434021">
                <a:moveTo>
                  <a:pt x="0" y="0"/>
                </a:moveTo>
                <a:lnTo>
                  <a:pt x="4462700" y="0"/>
                </a:lnTo>
                <a:lnTo>
                  <a:pt x="4462700" y="2434021"/>
                </a:lnTo>
                <a:lnTo>
                  <a:pt x="0" y="243402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图片占位符 18"/>
          <p:cNvSpPr>
            <a:spLocks noGrp="1"/>
          </p:cNvSpPr>
          <p:nvPr>
            <p:ph type="pic" sz="quarter" idx="19"/>
          </p:nvPr>
        </p:nvSpPr>
        <p:spPr>
          <a:xfrm>
            <a:off x="4460264" y="4589475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1113537" y="4589475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5"/>
          </p:nvPr>
        </p:nvSpPr>
        <p:spPr>
          <a:xfrm>
            <a:off x="7806991" y="1078558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6"/>
          </p:nvPr>
        </p:nvSpPr>
        <p:spPr>
          <a:xfrm>
            <a:off x="7806991" y="4589475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7"/>
          </p:nvPr>
        </p:nvSpPr>
        <p:spPr>
          <a:xfrm>
            <a:off x="4460264" y="1078558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8"/>
          </p:nvPr>
        </p:nvSpPr>
        <p:spPr>
          <a:xfrm>
            <a:off x="1113537" y="1078558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7806991" y="2834016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20"/>
          </p:nvPr>
        </p:nvSpPr>
        <p:spPr>
          <a:xfrm>
            <a:off x="1113537" y="2834016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2"/>
          </p:nvPr>
        </p:nvSpPr>
        <p:spPr>
          <a:xfrm>
            <a:off x="1342154" y="2487065"/>
            <a:ext cx="3867489" cy="2443108"/>
          </a:xfrm>
          <a:custGeom>
            <a:avLst/>
            <a:gdLst>
              <a:gd name="connsiteX0" fmla="*/ 0 w 3867489"/>
              <a:gd name="connsiteY0" fmla="*/ 0 h 2443108"/>
              <a:gd name="connsiteX1" fmla="*/ 3867489 w 3867489"/>
              <a:gd name="connsiteY1" fmla="*/ 0 h 2443108"/>
              <a:gd name="connsiteX2" fmla="*/ 3867489 w 3867489"/>
              <a:gd name="connsiteY2" fmla="*/ 2443108 h 2443108"/>
              <a:gd name="connsiteX3" fmla="*/ 0 w 3867489"/>
              <a:gd name="connsiteY3" fmla="*/ 2443108 h 2443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7489" h="2443108">
                <a:moveTo>
                  <a:pt x="0" y="0"/>
                </a:moveTo>
                <a:lnTo>
                  <a:pt x="3867489" y="0"/>
                </a:lnTo>
                <a:lnTo>
                  <a:pt x="3867489" y="2443108"/>
                </a:lnTo>
                <a:lnTo>
                  <a:pt x="0" y="24431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4899109" y="3568026"/>
            <a:ext cx="915572" cy="1619376"/>
          </a:xfrm>
          <a:custGeom>
            <a:avLst/>
            <a:gdLst>
              <a:gd name="connsiteX0" fmla="*/ 0 w 915572"/>
              <a:gd name="connsiteY0" fmla="*/ 0 h 1619376"/>
              <a:gd name="connsiteX1" fmla="*/ 915572 w 915572"/>
              <a:gd name="connsiteY1" fmla="*/ 0 h 1619376"/>
              <a:gd name="connsiteX2" fmla="*/ 915572 w 915572"/>
              <a:gd name="connsiteY2" fmla="*/ 1619376 h 1619376"/>
              <a:gd name="connsiteX3" fmla="*/ 0 w 915572"/>
              <a:gd name="connsiteY3" fmla="*/ 1619376 h 1619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5572" h="1619376">
                <a:moveTo>
                  <a:pt x="0" y="0"/>
                </a:moveTo>
                <a:lnTo>
                  <a:pt x="915572" y="0"/>
                </a:lnTo>
                <a:lnTo>
                  <a:pt x="915572" y="1619376"/>
                </a:lnTo>
                <a:lnTo>
                  <a:pt x="0" y="161937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874023" y="3943899"/>
            <a:ext cx="1876507" cy="1397416"/>
          </a:xfrm>
          <a:custGeom>
            <a:avLst/>
            <a:gdLst>
              <a:gd name="connsiteX0" fmla="*/ 0 w 1876507"/>
              <a:gd name="connsiteY0" fmla="*/ 0 h 1397416"/>
              <a:gd name="connsiteX1" fmla="*/ 1876507 w 1876507"/>
              <a:gd name="connsiteY1" fmla="*/ 0 h 1397416"/>
              <a:gd name="connsiteX2" fmla="*/ 1876507 w 1876507"/>
              <a:gd name="connsiteY2" fmla="*/ 1397416 h 1397416"/>
              <a:gd name="connsiteX3" fmla="*/ 0 w 1876507"/>
              <a:gd name="connsiteY3" fmla="*/ 1397416 h 1397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6507" h="1397416">
                <a:moveTo>
                  <a:pt x="0" y="0"/>
                </a:moveTo>
                <a:lnTo>
                  <a:pt x="1876507" y="0"/>
                </a:lnTo>
                <a:lnTo>
                  <a:pt x="1876507" y="1397416"/>
                </a:lnTo>
                <a:lnTo>
                  <a:pt x="0" y="13974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2"/>
          </p:nvPr>
        </p:nvSpPr>
        <p:spPr>
          <a:xfrm>
            <a:off x="1363097" y="2641600"/>
            <a:ext cx="3947091" cy="2279650"/>
          </a:xfrm>
          <a:custGeom>
            <a:avLst/>
            <a:gdLst>
              <a:gd name="connsiteX0" fmla="*/ 0 w 3867489"/>
              <a:gd name="connsiteY0" fmla="*/ 0 h 2443108"/>
              <a:gd name="connsiteX1" fmla="*/ 3867489 w 3867489"/>
              <a:gd name="connsiteY1" fmla="*/ 0 h 2443108"/>
              <a:gd name="connsiteX2" fmla="*/ 3867489 w 3867489"/>
              <a:gd name="connsiteY2" fmla="*/ 2443108 h 2443108"/>
              <a:gd name="connsiteX3" fmla="*/ 0 w 3867489"/>
              <a:gd name="connsiteY3" fmla="*/ 2443108 h 2443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7489" h="2443108">
                <a:moveTo>
                  <a:pt x="0" y="0"/>
                </a:moveTo>
                <a:lnTo>
                  <a:pt x="3867489" y="0"/>
                </a:lnTo>
                <a:lnTo>
                  <a:pt x="3867489" y="2443108"/>
                </a:lnTo>
                <a:lnTo>
                  <a:pt x="0" y="24431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3"/>
          </p:nvPr>
        </p:nvSpPr>
        <p:spPr>
          <a:xfrm>
            <a:off x="971361" y="4290054"/>
            <a:ext cx="1900089" cy="1424946"/>
          </a:xfrm>
          <a:custGeom>
            <a:avLst/>
            <a:gdLst>
              <a:gd name="connsiteX0" fmla="*/ 0 w 1876507"/>
              <a:gd name="connsiteY0" fmla="*/ 0 h 1397416"/>
              <a:gd name="connsiteX1" fmla="*/ 1876507 w 1876507"/>
              <a:gd name="connsiteY1" fmla="*/ 0 h 1397416"/>
              <a:gd name="connsiteX2" fmla="*/ 1876507 w 1876507"/>
              <a:gd name="connsiteY2" fmla="*/ 1397416 h 1397416"/>
              <a:gd name="connsiteX3" fmla="*/ 0 w 1876507"/>
              <a:gd name="connsiteY3" fmla="*/ 1397416 h 1397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6507" h="1397416">
                <a:moveTo>
                  <a:pt x="0" y="0"/>
                </a:moveTo>
                <a:lnTo>
                  <a:pt x="1876507" y="0"/>
                </a:lnTo>
                <a:lnTo>
                  <a:pt x="1876507" y="1397416"/>
                </a:lnTo>
                <a:lnTo>
                  <a:pt x="0" y="13974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4"/>
          </p:nvPr>
        </p:nvSpPr>
        <p:spPr>
          <a:xfrm>
            <a:off x="4707481" y="3862286"/>
            <a:ext cx="915572" cy="1619376"/>
          </a:xfrm>
          <a:custGeom>
            <a:avLst/>
            <a:gdLst>
              <a:gd name="connsiteX0" fmla="*/ 0 w 915572"/>
              <a:gd name="connsiteY0" fmla="*/ 0 h 1619376"/>
              <a:gd name="connsiteX1" fmla="*/ 915572 w 915572"/>
              <a:gd name="connsiteY1" fmla="*/ 0 h 1619376"/>
              <a:gd name="connsiteX2" fmla="*/ 915572 w 915572"/>
              <a:gd name="connsiteY2" fmla="*/ 1619376 h 1619376"/>
              <a:gd name="connsiteX3" fmla="*/ 0 w 915572"/>
              <a:gd name="connsiteY3" fmla="*/ 1619376 h 1619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5572" h="1619376">
                <a:moveTo>
                  <a:pt x="0" y="0"/>
                </a:moveTo>
                <a:lnTo>
                  <a:pt x="915572" y="0"/>
                </a:lnTo>
                <a:lnTo>
                  <a:pt x="915572" y="1619376"/>
                </a:lnTo>
                <a:lnTo>
                  <a:pt x="0" y="161937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2"/>
          </p:nvPr>
        </p:nvSpPr>
        <p:spPr>
          <a:xfrm>
            <a:off x="4734988" y="3873705"/>
            <a:ext cx="2713564" cy="1597935"/>
          </a:xfrm>
          <a:custGeom>
            <a:avLst/>
            <a:gdLst>
              <a:gd name="connsiteX0" fmla="*/ 0 w 2713564"/>
              <a:gd name="connsiteY0" fmla="*/ 0 h 1597935"/>
              <a:gd name="connsiteX1" fmla="*/ 2713564 w 2713564"/>
              <a:gd name="connsiteY1" fmla="*/ 0 h 1597935"/>
              <a:gd name="connsiteX2" fmla="*/ 2713564 w 2713564"/>
              <a:gd name="connsiteY2" fmla="*/ 1597935 h 1597935"/>
              <a:gd name="connsiteX3" fmla="*/ 0 w 2713564"/>
              <a:gd name="connsiteY3" fmla="*/ 1597935 h 1597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3564" h="1597935">
                <a:moveTo>
                  <a:pt x="0" y="0"/>
                </a:moveTo>
                <a:lnTo>
                  <a:pt x="2713564" y="0"/>
                </a:lnTo>
                <a:lnTo>
                  <a:pt x="2713564" y="1597935"/>
                </a:lnTo>
                <a:lnTo>
                  <a:pt x="0" y="159793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2"/>
          </p:nvPr>
        </p:nvSpPr>
        <p:spPr>
          <a:xfrm>
            <a:off x="4536006" y="3134995"/>
            <a:ext cx="3339734" cy="1876612"/>
          </a:xfrm>
          <a:custGeom>
            <a:avLst/>
            <a:gdLst>
              <a:gd name="connsiteX0" fmla="*/ 0 w 3339734"/>
              <a:gd name="connsiteY0" fmla="*/ 0 h 1876612"/>
              <a:gd name="connsiteX1" fmla="*/ 3339734 w 3339734"/>
              <a:gd name="connsiteY1" fmla="*/ 0 h 1876612"/>
              <a:gd name="connsiteX2" fmla="*/ 3339734 w 3339734"/>
              <a:gd name="connsiteY2" fmla="*/ 1876612 h 1876612"/>
              <a:gd name="connsiteX3" fmla="*/ 0 w 3339734"/>
              <a:gd name="connsiteY3" fmla="*/ 1876612 h 1876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9734" h="1876612">
                <a:moveTo>
                  <a:pt x="0" y="0"/>
                </a:moveTo>
                <a:lnTo>
                  <a:pt x="3339734" y="0"/>
                </a:lnTo>
                <a:lnTo>
                  <a:pt x="3339734" y="1876612"/>
                </a:lnTo>
                <a:lnTo>
                  <a:pt x="0" y="187661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6"/>
          </p:nvPr>
        </p:nvSpPr>
        <p:spPr>
          <a:xfrm>
            <a:off x="9164588" y="5517557"/>
            <a:ext cx="220846" cy="274631"/>
          </a:xfrm>
          <a:custGeom>
            <a:avLst/>
            <a:gdLst>
              <a:gd name="connsiteX0" fmla="*/ 0 w 220846"/>
              <a:gd name="connsiteY0" fmla="*/ 0 h 274631"/>
              <a:gd name="connsiteX1" fmla="*/ 220846 w 220846"/>
              <a:gd name="connsiteY1" fmla="*/ 0 h 274631"/>
              <a:gd name="connsiteX2" fmla="*/ 220846 w 220846"/>
              <a:gd name="connsiteY2" fmla="*/ 274631 h 274631"/>
              <a:gd name="connsiteX3" fmla="*/ 0 w 220846"/>
              <a:gd name="connsiteY3" fmla="*/ 274631 h 274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846" h="274631">
                <a:moveTo>
                  <a:pt x="0" y="0"/>
                </a:moveTo>
                <a:lnTo>
                  <a:pt x="220846" y="0"/>
                </a:lnTo>
                <a:lnTo>
                  <a:pt x="220846" y="274631"/>
                </a:lnTo>
                <a:lnTo>
                  <a:pt x="0" y="27463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5"/>
          </p:nvPr>
        </p:nvSpPr>
        <p:spPr>
          <a:xfrm>
            <a:off x="8495376" y="4934790"/>
            <a:ext cx="506818" cy="893045"/>
          </a:xfrm>
          <a:custGeom>
            <a:avLst/>
            <a:gdLst>
              <a:gd name="connsiteX0" fmla="*/ 0 w 506818"/>
              <a:gd name="connsiteY0" fmla="*/ 0 h 893045"/>
              <a:gd name="connsiteX1" fmla="*/ 506818 w 506818"/>
              <a:gd name="connsiteY1" fmla="*/ 0 h 893045"/>
              <a:gd name="connsiteX2" fmla="*/ 506818 w 506818"/>
              <a:gd name="connsiteY2" fmla="*/ 893045 h 893045"/>
              <a:gd name="connsiteX3" fmla="*/ 0 w 506818"/>
              <a:gd name="connsiteY3" fmla="*/ 893045 h 893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6818" h="893045">
                <a:moveTo>
                  <a:pt x="0" y="0"/>
                </a:moveTo>
                <a:lnTo>
                  <a:pt x="506818" y="0"/>
                </a:lnTo>
                <a:lnTo>
                  <a:pt x="506818" y="893045"/>
                </a:lnTo>
                <a:lnTo>
                  <a:pt x="0" y="89304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4"/>
          </p:nvPr>
        </p:nvSpPr>
        <p:spPr>
          <a:xfrm>
            <a:off x="7447394" y="4339593"/>
            <a:ext cx="1087644" cy="1452596"/>
          </a:xfrm>
          <a:custGeom>
            <a:avLst/>
            <a:gdLst>
              <a:gd name="connsiteX0" fmla="*/ 0 w 1087644"/>
              <a:gd name="connsiteY0" fmla="*/ 0 h 1452596"/>
              <a:gd name="connsiteX1" fmla="*/ 1087644 w 1087644"/>
              <a:gd name="connsiteY1" fmla="*/ 0 h 1452596"/>
              <a:gd name="connsiteX2" fmla="*/ 1087644 w 1087644"/>
              <a:gd name="connsiteY2" fmla="*/ 1452596 h 1452596"/>
              <a:gd name="connsiteX3" fmla="*/ 0 w 1087644"/>
              <a:gd name="connsiteY3" fmla="*/ 1452596 h 145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7644" h="1452596">
                <a:moveTo>
                  <a:pt x="0" y="0"/>
                </a:moveTo>
                <a:lnTo>
                  <a:pt x="1087644" y="0"/>
                </a:lnTo>
                <a:lnTo>
                  <a:pt x="1087644" y="1452596"/>
                </a:lnTo>
                <a:lnTo>
                  <a:pt x="0" y="145259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>
          <a:xfrm>
            <a:off x="2696096" y="4426890"/>
            <a:ext cx="2127445" cy="1351064"/>
          </a:xfrm>
          <a:custGeom>
            <a:avLst/>
            <a:gdLst>
              <a:gd name="connsiteX0" fmla="*/ 0 w 2127445"/>
              <a:gd name="connsiteY0" fmla="*/ 0 h 1351064"/>
              <a:gd name="connsiteX1" fmla="*/ 2127445 w 2127445"/>
              <a:gd name="connsiteY1" fmla="*/ 0 h 1351064"/>
              <a:gd name="connsiteX2" fmla="*/ 2127445 w 2127445"/>
              <a:gd name="connsiteY2" fmla="*/ 1351064 h 1351064"/>
              <a:gd name="connsiteX3" fmla="*/ 0 w 2127445"/>
              <a:gd name="connsiteY3" fmla="*/ 1351064 h 1351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7445" h="1351064">
                <a:moveTo>
                  <a:pt x="0" y="0"/>
                </a:moveTo>
                <a:lnTo>
                  <a:pt x="2127445" y="0"/>
                </a:lnTo>
                <a:lnTo>
                  <a:pt x="2127445" y="1351064"/>
                </a:lnTo>
                <a:lnTo>
                  <a:pt x="0" y="135106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1371600" y="1383505"/>
            <a:ext cx="3206754" cy="4641634"/>
          </a:xfrm>
          <a:custGeom>
            <a:avLst/>
            <a:gdLst>
              <a:gd name="connsiteX0" fmla="*/ 0 w 3206754"/>
              <a:gd name="connsiteY0" fmla="*/ 0 h 4641634"/>
              <a:gd name="connsiteX1" fmla="*/ 3206754 w 3206754"/>
              <a:gd name="connsiteY1" fmla="*/ 0 h 4641634"/>
              <a:gd name="connsiteX2" fmla="*/ 3206754 w 3206754"/>
              <a:gd name="connsiteY2" fmla="*/ 4641634 h 4641634"/>
              <a:gd name="connsiteX3" fmla="*/ 0 w 3206754"/>
              <a:gd name="connsiteY3" fmla="*/ 4641634 h 4641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6754" h="4641634">
                <a:moveTo>
                  <a:pt x="0" y="0"/>
                </a:moveTo>
                <a:lnTo>
                  <a:pt x="3206754" y="0"/>
                </a:lnTo>
                <a:lnTo>
                  <a:pt x="3206754" y="4641634"/>
                </a:lnTo>
                <a:lnTo>
                  <a:pt x="0" y="464163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图片占位符 24"/>
          <p:cNvSpPr>
            <a:spLocks noGrp="1"/>
          </p:cNvSpPr>
          <p:nvPr>
            <p:ph type="pic" sz="quarter" idx="12"/>
          </p:nvPr>
        </p:nvSpPr>
        <p:spPr>
          <a:xfrm>
            <a:off x="3291965" y="1736725"/>
            <a:ext cx="1372840" cy="1372112"/>
          </a:xfrm>
          <a:custGeom>
            <a:avLst/>
            <a:gdLst>
              <a:gd name="connsiteX0" fmla="*/ 679198 w 1372840"/>
              <a:gd name="connsiteY0" fmla="*/ 0 h 1372112"/>
              <a:gd name="connsiteX1" fmla="*/ 693642 w 1372840"/>
              <a:gd name="connsiteY1" fmla="*/ 0 h 1372112"/>
              <a:gd name="connsiteX2" fmla="*/ 824758 w 1372840"/>
              <a:gd name="connsiteY2" fmla="*/ 13218 h 1372112"/>
              <a:gd name="connsiteX3" fmla="*/ 1372840 w 1372840"/>
              <a:gd name="connsiteY3" fmla="*/ 685692 h 1372112"/>
              <a:gd name="connsiteX4" fmla="*/ 686420 w 1372840"/>
              <a:gd name="connsiteY4" fmla="*/ 1372112 h 1372112"/>
              <a:gd name="connsiteX5" fmla="*/ 0 w 1372840"/>
              <a:gd name="connsiteY5" fmla="*/ 685692 h 1372112"/>
              <a:gd name="connsiteX6" fmla="*/ 548083 w 1372840"/>
              <a:gd name="connsiteY6" fmla="*/ 13218 h 1372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2840" h="1372112">
                <a:moveTo>
                  <a:pt x="679198" y="0"/>
                </a:moveTo>
                <a:lnTo>
                  <a:pt x="693642" y="0"/>
                </a:lnTo>
                <a:lnTo>
                  <a:pt x="824758" y="13218"/>
                </a:lnTo>
                <a:cubicBezTo>
                  <a:pt x="1137548" y="77224"/>
                  <a:pt x="1372840" y="353980"/>
                  <a:pt x="1372840" y="685692"/>
                </a:cubicBezTo>
                <a:cubicBezTo>
                  <a:pt x="1372840" y="1064791"/>
                  <a:pt x="1065519" y="1372112"/>
                  <a:pt x="686420" y="1372112"/>
                </a:cubicBezTo>
                <a:cubicBezTo>
                  <a:pt x="307321" y="1372112"/>
                  <a:pt x="0" y="1064791"/>
                  <a:pt x="0" y="685692"/>
                </a:cubicBezTo>
                <a:cubicBezTo>
                  <a:pt x="0" y="353980"/>
                  <a:pt x="235293" y="77224"/>
                  <a:pt x="548083" y="13218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6" name="图片占位符 25"/>
          <p:cNvSpPr>
            <a:spLocks noGrp="1"/>
          </p:cNvSpPr>
          <p:nvPr>
            <p:ph type="pic" sz="quarter" idx="13"/>
          </p:nvPr>
        </p:nvSpPr>
        <p:spPr>
          <a:xfrm>
            <a:off x="5185679" y="1512096"/>
            <a:ext cx="1820642" cy="1820642"/>
          </a:xfrm>
          <a:custGeom>
            <a:avLst/>
            <a:gdLst>
              <a:gd name="connsiteX0" fmla="*/ 910321 w 1820642"/>
              <a:gd name="connsiteY0" fmla="*/ 0 h 1820642"/>
              <a:gd name="connsiteX1" fmla="*/ 1820642 w 1820642"/>
              <a:gd name="connsiteY1" fmla="*/ 910321 h 1820642"/>
              <a:gd name="connsiteX2" fmla="*/ 910321 w 1820642"/>
              <a:gd name="connsiteY2" fmla="*/ 1820642 h 1820642"/>
              <a:gd name="connsiteX3" fmla="*/ 0 w 1820642"/>
              <a:gd name="connsiteY3" fmla="*/ 910321 h 1820642"/>
              <a:gd name="connsiteX4" fmla="*/ 910321 w 1820642"/>
              <a:gd name="connsiteY4" fmla="*/ 0 h 1820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0642" h="1820642">
                <a:moveTo>
                  <a:pt x="910321" y="0"/>
                </a:moveTo>
                <a:cubicBezTo>
                  <a:pt x="1413077" y="0"/>
                  <a:pt x="1820642" y="407565"/>
                  <a:pt x="1820642" y="910321"/>
                </a:cubicBezTo>
                <a:cubicBezTo>
                  <a:pt x="1820642" y="1413077"/>
                  <a:pt x="1413077" y="1820642"/>
                  <a:pt x="910321" y="1820642"/>
                </a:cubicBezTo>
                <a:cubicBezTo>
                  <a:pt x="407565" y="1820642"/>
                  <a:pt x="0" y="1413077"/>
                  <a:pt x="0" y="910321"/>
                </a:cubicBezTo>
                <a:cubicBezTo>
                  <a:pt x="0" y="407565"/>
                  <a:pt x="407565" y="0"/>
                  <a:pt x="91032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7" name="图片占位符 26"/>
          <p:cNvSpPr>
            <a:spLocks noGrp="1"/>
          </p:cNvSpPr>
          <p:nvPr>
            <p:ph type="pic" sz="quarter" idx="14"/>
          </p:nvPr>
        </p:nvSpPr>
        <p:spPr>
          <a:xfrm>
            <a:off x="7527196" y="1735997"/>
            <a:ext cx="1372840" cy="1372840"/>
          </a:xfrm>
          <a:custGeom>
            <a:avLst/>
            <a:gdLst>
              <a:gd name="connsiteX0" fmla="*/ 686420 w 1372840"/>
              <a:gd name="connsiteY0" fmla="*/ 0 h 1372840"/>
              <a:gd name="connsiteX1" fmla="*/ 1372840 w 1372840"/>
              <a:gd name="connsiteY1" fmla="*/ 686420 h 1372840"/>
              <a:gd name="connsiteX2" fmla="*/ 686420 w 1372840"/>
              <a:gd name="connsiteY2" fmla="*/ 1372840 h 1372840"/>
              <a:gd name="connsiteX3" fmla="*/ 0 w 1372840"/>
              <a:gd name="connsiteY3" fmla="*/ 686420 h 1372840"/>
              <a:gd name="connsiteX4" fmla="*/ 686420 w 1372840"/>
              <a:gd name="connsiteY4" fmla="*/ 0 h 137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2840" h="1372840">
                <a:moveTo>
                  <a:pt x="686420" y="0"/>
                </a:moveTo>
                <a:cubicBezTo>
                  <a:pt x="1065519" y="0"/>
                  <a:pt x="1372840" y="307321"/>
                  <a:pt x="1372840" y="686420"/>
                </a:cubicBezTo>
                <a:cubicBezTo>
                  <a:pt x="1372840" y="1065519"/>
                  <a:pt x="1065519" y="1372840"/>
                  <a:pt x="686420" y="1372840"/>
                </a:cubicBezTo>
                <a:cubicBezTo>
                  <a:pt x="307321" y="1372840"/>
                  <a:pt x="0" y="1065519"/>
                  <a:pt x="0" y="686420"/>
                </a:cubicBezTo>
                <a:cubicBezTo>
                  <a:pt x="0" y="307321"/>
                  <a:pt x="307321" y="0"/>
                  <a:pt x="6864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8" name="图片占位符 27"/>
          <p:cNvSpPr>
            <a:spLocks noGrp="1"/>
          </p:cNvSpPr>
          <p:nvPr>
            <p:ph type="pic" sz="quarter" idx="15"/>
          </p:nvPr>
        </p:nvSpPr>
        <p:spPr>
          <a:xfrm>
            <a:off x="9630771" y="1835326"/>
            <a:ext cx="1174184" cy="1174182"/>
          </a:xfrm>
          <a:custGeom>
            <a:avLst/>
            <a:gdLst>
              <a:gd name="connsiteX0" fmla="*/ 587092 w 1174184"/>
              <a:gd name="connsiteY0" fmla="*/ 0 h 1174182"/>
              <a:gd name="connsiteX1" fmla="*/ 1174184 w 1174184"/>
              <a:gd name="connsiteY1" fmla="*/ 587091 h 1174182"/>
              <a:gd name="connsiteX2" fmla="*/ 587092 w 1174184"/>
              <a:gd name="connsiteY2" fmla="*/ 1174182 h 1174182"/>
              <a:gd name="connsiteX3" fmla="*/ 0 w 1174184"/>
              <a:gd name="connsiteY3" fmla="*/ 587091 h 1174182"/>
              <a:gd name="connsiteX4" fmla="*/ 587092 w 1174184"/>
              <a:gd name="connsiteY4" fmla="*/ 0 h 1174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184" h="1174182">
                <a:moveTo>
                  <a:pt x="587092" y="0"/>
                </a:moveTo>
                <a:cubicBezTo>
                  <a:pt x="911334" y="0"/>
                  <a:pt x="1174184" y="262850"/>
                  <a:pt x="1174184" y="587091"/>
                </a:cubicBezTo>
                <a:cubicBezTo>
                  <a:pt x="1174184" y="911332"/>
                  <a:pt x="911334" y="1174182"/>
                  <a:pt x="587092" y="1174182"/>
                </a:cubicBezTo>
                <a:cubicBezTo>
                  <a:pt x="262850" y="1174182"/>
                  <a:pt x="0" y="911332"/>
                  <a:pt x="0" y="587091"/>
                </a:cubicBezTo>
                <a:cubicBezTo>
                  <a:pt x="0" y="262850"/>
                  <a:pt x="262850" y="0"/>
                  <a:pt x="58709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" name="图片占位符 23"/>
          <p:cNvSpPr>
            <a:spLocks noGrp="1"/>
          </p:cNvSpPr>
          <p:nvPr>
            <p:ph type="pic" sz="quarter" idx="11"/>
          </p:nvPr>
        </p:nvSpPr>
        <p:spPr>
          <a:xfrm>
            <a:off x="1387047" y="1835326"/>
            <a:ext cx="1174184" cy="1174182"/>
          </a:xfrm>
          <a:custGeom>
            <a:avLst/>
            <a:gdLst>
              <a:gd name="connsiteX0" fmla="*/ 587092 w 1174184"/>
              <a:gd name="connsiteY0" fmla="*/ 0 h 1174182"/>
              <a:gd name="connsiteX1" fmla="*/ 1174184 w 1174184"/>
              <a:gd name="connsiteY1" fmla="*/ 587091 h 1174182"/>
              <a:gd name="connsiteX2" fmla="*/ 587092 w 1174184"/>
              <a:gd name="connsiteY2" fmla="*/ 1174182 h 1174182"/>
              <a:gd name="connsiteX3" fmla="*/ 0 w 1174184"/>
              <a:gd name="connsiteY3" fmla="*/ 587091 h 1174182"/>
              <a:gd name="connsiteX4" fmla="*/ 587092 w 1174184"/>
              <a:gd name="connsiteY4" fmla="*/ 0 h 1174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184" h="1174182">
                <a:moveTo>
                  <a:pt x="587092" y="0"/>
                </a:moveTo>
                <a:cubicBezTo>
                  <a:pt x="911334" y="0"/>
                  <a:pt x="1174184" y="262850"/>
                  <a:pt x="1174184" y="587091"/>
                </a:cubicBezTo>
                <a:cubicBezTo>
                  <a:pt x="1174184" y="911332"/>
                  <a:pt x="911334" y="1174182"/>
                  <a:pt x="587092" y="1174182"/>
                </a:cubicBezTo>
                <a:cubicBezTo>
                  <a:pt x="262850" y="1174182"/>
                  <a:pt x="0" y="911332"/>
                  <a:pt x="0" y="587091"/>
                </a:cubicBezTo>
                <a:cubicBezTo>
                  <a:pt x="0" y="262850"/>
                  <a:pt x="262850" y="0"/>
                  <a:pt x="58709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9" Type="http://schemas.openxmlformats.org/officeDocument/2006/relationships/theme" Target="../theme/theme3.xml"/><Relationship Id="rId28" Type="http://schemas.openxmlformats.org/officeDocument/2006/relationships/slideLayout" Target="../slideLayouts/slideLayout54.xml"/><Relationship Id="rId27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F9E12-90AA-4790-BC12-98F68239B59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93084-0C9D-4595-8435-69B4F8846BA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222C5-DF54-4BD7-B776-8C19CDAF53B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  <p:sldLayoutId id="2147483701" r:id="rId25"/>
    <p:sldLayoutId id="2147483702" r:id="rId26"/>
    <p:sldLayoutId id="2147483703" r:id="rId27"/>
    <p:sldLayoutId id="2147483704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3.xml"/><Relationship Id="rId3" Type="http://schemas.openxmlformats.org/officeDocument/2006/relationships/themeOverride" Target="../theme/themeOverride1.xml"/><Relationship Id="rId2" Type="http://schemas.openxmlformats.org/officeDocument/2006/relationships/image" Target="../media/image3.webp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4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26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9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image" Target="../media/image37.png"/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1" Type="http://schemas.openxmlformats.org/officeDocument/2006/relationships/notesSlide" Target="../notesSlides/notesSlide33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65314" y="-25400"/>
            <a:ext cx="12257314" cy="6908800"/>
          </a:xfrm>
          <a:prstGeom prst="rect">
            <a:avLst/>
          </a:prstGeom>
          <a:solidFill>
            <a:srgbClr val="FA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ZJU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70" y="90805"/>
            <a:ext cx="1976120" cy="52578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3325495" y="90805"/>
            <a:ext cx="1445260" cy="670560"/>
          </a:xfrm>
          <a:prstGeom prst="rect">
            <a:avLst/>
          </a:prstGeom>
        </p:spPr>
      </p:pic>
      <p:sp>
        <p:nvSpPr>
          <p:cNvPr id="9" name="文本占位符 4"/>
          <p:cNvSpPr>
            <a:spLocks noGrp="1"/>
          </p:cNvSpPr>
          <p:nvPr/>
        </p:nvSpPr>
        <p:spPr>
          <a:xfrm>
            <a:off x="376555" y="1300480"/>
            <a:ext cx="6273165" cy="2735580"/>
          </a:xfrm>
          <a:prstGeom prst="rect">
            <a:avLst/>
          </a:prstGeom>
          <a:solidFill>
            <a:schemeClr val="bg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200" dirty="0"/>
              <a:t> </a:t>
            </a:r>
            <a:endParaRPr lang="zh-CN" altLang="en-US" dirty="0"/>
          </a:p>
        </p:txBody>
      </p:sp>
      <p:sp>
        <p:nvSpPr>
          <p:cNvPr id="2" name="文本框 1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<p:cNvSpPr txBox="1">
            <a:spLocks noChangeArrowheads="1"/>
          </p:cNvSpPr>
          <p:nvPr/>
        </p:nvSpPr>
        <p:spPr bwMode="auto">
          <a:xfrm>
            <a:off x="436880" y="1452880"/>
            <a:ext cx="6272530" cy="24561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964565" fontAlgn="base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tabLst>
                <a:tab pos="4029710" algn="l"/>
              </a:tabLst>
            </a:pPr>
            <a:r>
              <a:rPr lang="en-US" altLang="zh-CN" sz="4265" b="1">
                <a:solidFill>
                  <a:srgbClr val="C00000"/>
                </a:solidFill>
                <a:sym typeface="Calibri" panose="020F0502020204030204" pitchFamily="34" charset="0"/>
              </a:rPr>
              <a:t>Stablepay Agentic Payment</a:t>
            </a:r>
            <a:endParaRPr lang="en-US" altLang="zh-CN" sz="4265" b="1">
              <a:solidFill>
                <a:srgbClr val="C00000"/>
              </a:solidFill>
              <a:sym typeface="Calibri" panose="020F050202020403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027667" y="537616"/>
            <a:ext cx="6961907" cy="7021575"/>
            <a:chOff x="4038600" y="2259880"/>
            <a:chExt cx="2647060" cy="2669747"/>
          </a:xfrm>
          <a:solidFill>
            <a:srgbClr val="A6A6A6">
              <a:alpha val="20000"/>
            </a:srgbClr>
          </a:solidFill>
        </p:grpSpPr>
        <p:sp>
          <p:nvSpPr>
            <p:cNvPr id="11" name="Freeform 105"/>
            <p:cNvSpPr>
              <a:spLocks noEditPoints="1"/>
            </p:cNvSpPr>
            <p:nvPr userDrawn="1"/>
          </p:nvSpPr>
          <p:spPr bwMode="auto">
            <a:xfrm>
              <a:off x="4038600" y="2259880"/>
              <a:ext cx="2647060" cy="2669747"/>
            </a:xfrm>
            <a:custGeom>
              <a:avLst/>
              <a:gdLst>
                <a:gd name="T0" fmla="*/ 142 w 283"/>
                <a:gd name="T1" fmla="*/ 0 h 283"/>
                <a:gd name="T2" fmla="*/ 283 w 283"/>
                <a:gd name="T3" fmla="*/ 142 h 283"/>
                <a:gd name="T4" fmla="*/ 142 w 283"/>
                <a:gd name="T5" fmla="*/ 283 h 283"/>
                <a:gd name="T6" fmla="*/ 0 w 283"/>
                <a:gd name="T7" fmla="*/ 142 h 283"/>
                <a:gd name="T8" fmla="*/ 142 w 283"/>
                <a:gd name="T9" fmla="*/ 0 h 283"/>
                <a:gd name="T10" fmla="*/ 142 w 283"/>
                <a:gd name="T11" fmla="*/ 6 h 283"/>
                <a:gd name="T12" fmla="*/ 6 w 283"/>
                <a:gd name="T13" fmla="*/ 142 h 283"/>
                <a:gd name="T14" fmla="*/ 142 w 283"/>
                <a:gd name="T15" fmla="*/ 277 h 283"/>
                <a:gd name="T16" fmla="*/ 278 w 283"/>
                <a:gd name="T17" fmla="*/ 142 h 283"/>
                <a:gd name="T18" fmla="*/ 142 w 283"/>
                <a:gd name="T19" fmla="*/ 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" h="283">
                  <a:moveTo>
                    <a:pt x="142" y="0"/>
                  </a:moveTo>
                  <a:cubicBezTo>
                    <a:pt x="220" y="0"/>
                    <a:pt x="283" y="64"/>
                    <a:pt x="283" y="142"/>
                  </a:cubicBezTo>
                  <a:cubicBezTo>
                    <a:pt x="283" y="219"/>
                    <a:pt x="220" y="283"/>
                    <a:pt x="142" y="283"/>
                  </a:cubicBezTo>
                  <a:cubicBezTo>
                    <a:pt x="64" y="283"/>
                    <a:pt x="0" y="219"/>
                    <a:pt x="0" y="142"/>
                  </a:cubicBezTo>
                  <a:cubicBezTo>
                    <a:pt x="0" y="64"/>
                    <a:pt x="64" y="0"/>
                    <a:pt x="142" y="0"/>
                  </a:cubicBezTo>
                  <a:moveTo>
                    <a:pt x="142" y="6"/>
                  </a:moveTo>
                  <a:cubicBezTo>
                    <a:pt x="67" y="6"/>
                    <a:pt x="6" y="67"/>
                    <a:pt x="6" y="142"/>
                  </a:cubicBezTo>
                  <a:cubicBezTo>
                    <a:pt x="6" y="216"/>
                    <a:pt x="67" y="277"/>
                    <a:pt x="142" y="277"/>
                  </a:cubicBezTo>
                  <a:cubicBezTo>
                    <a:pt x="217" y="277"/>
                    <a:pt x="278" y="216"/>
                    <a:pt x="278" y="142"/>
                  </a:cubicBezTo>
                  <a:cubicBezTo>
                    <a:pt x="278" y="67"/>
                    <a:pt x="217" y="6"/>
                    <a:pt x="142" y="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" name="Freeform 106"/>
            <p:cNvSpPr/>
            <p:nvPr userDrawn="1"/>
          </p:nvSpPr>
          <p:spPr bwMode="auto">
            <a:xfrm>
              <a:off x="4636079" y="2857359"/>
              <a:ext cx="1459664" cy="1308403"/>
            </a:xfrm>
            <a:custGeom>
              <a:avLst/>
              <a:gdLst>
                <a:gd name="T0" fmla="*/ 28 w 156"/>
                <a:gd name="T1" fmla="*/ 139 h 139"/>
                <a:gd name="T2" fmla="*/ 7 w 156"/>
                <a:gd name="T3" fmla="*/ 112 h 139"/>
                <a:gd name="T4" fmla="*/ 0 w 156"/>
                <a:gd name="T5" fmla="*/ 79 h 139"/>
                <a:gd name="T6" fmla="*/ 78 w 156"/>
                <a:gd name="T7" fmla="*/ 0 h 139"/>
                <a:gd name="T8" fmla="*/ 156 w 156"/>
                <a:gd name="T9" fmla="*/ 79 h 139"/>
                <a:gd name="T10" fmla="*/ 149 w 156"/>
                <a:gd name="T11" fmla="*/ 112 h 139"/>
                <a:gd name="T12" fmla="*/ 128 w 156"/>
                <a:gd name="T13" fmla="*/ 139 h 139"/>
                <a:gd name="T14" fmla="*/ 126 w 156"/>
                <a:gd name="T15" fmla="*/ 137 h 139"/>
                <a:gd name="T16" fmla="*/ 146 w 156"/>
                <a:gd name="T17" fmla="*/ 111 h 139"/>
                <a:gd name="T18" fmla="*/ 153 w 156"/>
                <a:gd name="T19" fmla="*/ 79 h 139"/>
                <a:gd name="T20" fmla="*/ 78 w 156"/>
                <a:gd name="T21" fmla="*/ 3 h 139"/>
                <a:gd name="T22" fmla="*/ 3 w 156"/>
                <a:gd name="T23" fmla="*/ 79 h 139"/>
                <a:gd name="T24" fmla="*/ 10 w 156"/>
                <a:gd name="T25" fmla="*/ 111 h 139"/>
                <a:gd name="T26" fmla="*/ 30 w 156"/>
                <a:gd name="T27" fmla="*/ 137 h 139"/>
                <a:gd name="T28" fmla="*/ 28 w 156"/>
                <a:gd name="T2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6" h="139">
                  <a:moveTo>
                    <a:pt x="28" y="139"/>
                  </a:moveTo>
                  <a:cubicBezTo>
                    <a:pt x="19" y="132"/>
                    <a:pt x="12" y="122"/>
                    <a:pt x="7" y="112"/>
                  </a:cubicBezTo>
                  <a:cubicBezTo>
                    <a:pt x="2" y="102"/>
                    <a:pt x="0" y="90"/>
                    <a:pt x="0" y="79"/>
                  </a:cubicBezTo>
                  <a:cubicBezTo>
                    <a:pt x="0" y="36"/>
                    <a:pt x="35" y="0"/>
                    <a:pt x="78" y="0"/>
                  </a:cubicBezTo>
                  <a:cubicBezTo>
                    <a:pt x="121" y="0"/>
                    <a:pt x="156" y="36"/>
                    <a:pt x="156" y="79"/>
                  </a:cubicBezTo>
                  <a:cubicBezTo>
                    <a:pt x="156" y="90"/>
                    <a:pt x="153" y="102"/>
                    <a:pt x="149" y="112"/>
                  </a:cubicBezTo>
                  <a:cubicBezTo>
                    <a:pt x="144" y="122"/>
                    <a:pt x="136" y="132"/>
                    <a:pt x="128" y="139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34" y="130"/>
                    <a:pt x="141" y="121"/>
                    <a:pt x="146" y="111"/>
                  </a:cubicBezTo>
                  <a:cubicBezTo>
                    <a:pt x="151" y="101"/>
                    <a:pt x="153" y="90"/>
                    <a:pt x="153" y="79"/>
                  </a:cubicBezTo>
                  <a:cubicBezTo>
                    <a:pt x="153" y="37"/>
                    <a:pt x="119" y="3"/>
                    <a:pt x="78" y="3"/>
                  </a:cubicBezTo>
                  <a:cubicBezTo>
                    <a:pt x="36" y="3"/>
                    <a:pt x="3" y="37"/>
                    <a:pt x="3" y="79"/>
                  </a:cubicBezTo>
                  <a:cubicBezTo>
                    <a:pt x="3" y="90"/>
                    <a:pt x="5" y="101"/>
                    <a:pt x="10" y="111"/>
                  </a:cubicBezTo>
                  <a:cubicBezTo>
                    <a:pt x="14" y="121"/>
                    <a:pt x="21" y="130"/>
                    <a:pt x="30" y="137"/>
                  </a:cubicBezTo>
                  <a:lnTo>
                    <a:pt x="28" y="13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" name="Freeform 107"/>
            <p:cNvSpPr/>
            <p:nvPr userDrawn="1"/>
          </p:nvSpPr>
          <p:spPr bwMode="auto">
            <a:xfrm>
              <a:off x="4174734" y="3825426"/>
              <a:ext cx="302521" cy="219328"/>
            </a:xfrm>
            <a:custGeom>
              <a:avLst/>
              <a:gdLst>
                <a:gd name="T0" fmla="*/ 8 w 40"/>
                <a:gd name="T1" fmla="*/ 29 h 29"/>
                <a:gd name="T2" fmla="*/ 0 w 40"/>
                <a:gd name="T3" fmla="*/ 10 h 29"/>
                <a:gd name="T4" fmla="*/ 4 w 40"/>
                <a:gd name="T5" fmla="*/ 9 h 29"/>
                <a:gd name="T6" fmla="*/ 35 w 40"/>
                <a:gd name="T7" fmla="*/ 14 h 29"/>
                <a:gd name="T8" fmla="*/ 30 w 40"/>
                <a:gd name="T9" fmla="*/ 1 h 29"/>
                <a:gd name="T10" fmla="*/ 34 w 40"/>
                <a:gd name="T11" fmla="*/ 0 h 29"/>
                <a:gd name="T12" fmla="*/ 40 w 40"/>
                <a:gd name="T13" fmla="*/ 16 h 29"/>
                <a:gd name="T14" fmla="*/ 36 w 40"/>
                <a:gd name="T15" fmla="*/ 17 h 29"/>
                <a:gd name="T16" fmla="*/ 7 w 40"/>
                <a:gd name="T17" fmla="*/ 14 h 29"/>
                <a:gd name="T18" fmla="*/ 12 w 40"/>
                <a:gd name="T19" fmla="*/ 27 h 29"/>
                <a:gd name="T20" fmla="*/ 8 w 40"/>
                <a:gd name="T2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29">
                  <a:moveTo>
                    <a:pt x="8" y="29"/>
                  </a:moveTo>
                  <a:lnTo>
                    <a:pt x="0" y="10"/>
                  </a:lnTo>
                  <a:lnTo>
                    <a:pt x="4" y="9"/>
                  </a:lnTo>
                  <a:lnTo>
                    <a:pt x="35" y="14"/>
                  </a:lnTo>
                  <a:lnTo>
                    <a:pt x="30" y="1"/>
                  </a:lnTo>
                  <a:lnTo>
                    <a:pt x="34" y="0"/>
                  </a:lnTo>
                  <a:lnTo>
                    <a:pt x="40" y="16"/>
                  </a:lnTo>
                  <a:lnTo>
                    <a:pt x="36" y="17"/>
                  </a:lnTo>
                  <a:lnTo>
                    <a:pt x="7" y="14"/>
                  </a:lnTo>
                  <a:lnTo>
                    <a:pt x="12" y="27"/>
                  </a:lnTo>
                  <a:lnTo>
                    <a:pt x="8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" name="Freeform 108"/>
            <p:cNvSpPr/>
            <p:nvPr userDrawn="1"/>
          </p:nvSpPr>
          <p:spPr bwMode="auto">
            <a:xfrm>
              <a:off x="4265491" y="3984249"/>
              <a:ext cx="287395" cy="234454"/>
            </a:xfrm>
            <a:custGeom>
              <a:avLst/>
              <a:gdLst>
                <a:gd name="T0" fmla="*/ 7 w 38"/>
                <a:gd name="T1" fmla="*/ 31 h 31"/>
                <a:gd name="T2" fmla="*/ 6 w 38"/>
                <a:gd name="T3" fmla="*/ 28 h 31"/>
                <a:gd name="T4" fmla="*/ 19 w 38"/>
                <a:gd name="T5" fmla="*/ 21 h 31"/>
                <a:gd name="T6" fmla="*/ 14 w 38"/>
                <a:gd name="T7" fmla="*/ 11 h 31"/>
                <a:gd name="T8" fmla="*/ 1 w 38"/>
                <a:gd name="T9" fmla="*/ 19 h 31"/>
                <a:gd name="T10" fmla="*/ 0 w 38"/>
                <a:gd name="T11" fmla="*/ 15 h 31"/>
                <a:gd name="T12" fmla="*/ 29 w 38"/>
                <a:gd name="T13" fmla="*/ 0 h 31"/>
                <a:gd name="T14" fmla="*/ 32 w 38"/>
                <a:gd name="T15" fmla="*/ 4 h 31"/>
                <a:gd name="T16" fmla="*/ 18 w 38"/>
                <a:gd name="T17" fmla="*/ 10 h 31"/>
                <a:gd name="T18" fmla="*/ 23 w 38"/>
                <a:gd name="T19" fmla="*/ 19 h 31"/>
                <a:gd name="T20" fmla="*/ 35 w 38"/>
                <a:gd name="T21" fmla="*/ 13 h 31"/>
                <a:gd name="T22" fmla="*/ 38 w 38"/>
                <a:gd name="T23" fmla="*/ 16 h 31"/>
                <a:gd name="T24" fmla="*/ 7 w 38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1">
                  <a:moveTo>
                    <a:pt x="7" y="31"/>
                  </a:moveTo>
                  <a:lnTo>
                    <a:pt x="6" y="28"/>
                  </a:lnTo>
                  <a:lnTo>
                    <a:pt x="19" y="21"/>
                  </a:lnTo>
                  <a:lnTo>
                    <a:pt x="14" y="11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29" y="0"/>
                  </a:lnTo>
                  <a:lnTo>
                    <a:pt x="32" y="4"/>
                  </a:lnTo>
                  <a:lnTo>
                    <a:pt x="18" y="10"/>
                  </a:lnTo>
                  <a:lnTo>
                    <a:pt x="23" y="19"/>
                  </a:lnTo>
                  <a:lnTo>
                    <a:pt x="35" y="13"/>
                  </a:lnTo>
                  <a:lnTo>
                    <a:pt x="38" y="16"/>
                  </a:lnTo>
                  <a:lnTo>
                    <a:pt x="7" y="3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" name="Freeform 109"/>
            <p:cNvSpPr/>
            <p:nvPr userDrawn="1"/>
          </p:nvSpPr>
          <p:spPr bwMode="auto">
            <a:xfrm>
              <a:off x="4348684" y="4120384"/>
              <a:ext cx="287395" cy="249580"/>
            </a:xfrm>
            <a:custGeom>
              <a:avLst/>
              <a:gdLst>
                <a:gd name="T0" fmla="*/ 11 w 38"/>
                <a:gd name="T1" fmla="*/ 33 h 33"/>
                <a:gd name="T2" fmla="*/ 0 w 38"/>
                <a:gd name="T3" fmla="*/ 18 h 33"/>
                <a:gd name="T4" fmla="*/ 28 w 38"/>
                <a:gd name="T5" fmla="*/ 0 h 33"/>
                <a:gd name="T6" fmla="*/ 38 w 38"/>
                <a:gd name="T7" fmla="*/ 15 h 33"/>
                <a:gd name="T8" fmla="*/ 36 w 38"/>
                <a:gd name="T9" fmla="*/ 17 h 33"/>
                <a:gd name="T10" fmla="*/ 27 w 38"/>
                <a:gd name="T11" fmla="*/ 6 h 33"/>
                <a:gd name="T12" fmla="*/ 18 w 38"/>
                <a:gd name="T13" fmla="*/ 11 h 33"/>
                <a:gd name="T14" fmla="*/ 26 w 38"/>
                <a:gd name="T15" fmla="*/ 21 h 33"/>
                <a:gd name="T16" fmla="*/ 23 w 38"/>
                <a:gd name="T17" fmla="*/ 23 h 33"/>
                <a:gd name="T18" fmla="*/ 16 w 38"/>
                <a:gd name="T19" fmla="*/ 13 h 33"/>
                <a:gd name="T20" fmla="*/ 6 w 38"/>
                <a:gd name="T21" fmla="*/ 20 h 33"/>
                <a:gd name="T22" fmla="*/ 13 w 38"/>
                <a:gd name="T23" fmla="*/ 31 h 33"/>
                <a:gd name="T24" fmla="*/ 11 w 38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3">
                  <a:moveTo>
                    <a:pt x="11" y="33"/>
                  </a:moveTo>
                  <a:lnTo>
                    <a:pt x="0" y="18"/>
                  </a:lnTo>
                  <a:lnTo>
                    <a:pt x="28" y="0"/>
                  </a:lnTo>
                  <a:lnTo>
                    <a:pt x="38" y="15"/>
                  </a:lnTo>
                  <a:lnTo>
                    <a:pt x="36" y="17"/>
                  </a:lnTo>
                  <a:lnTo>
                    <a:pt x="27" y="6"/>
                  </a:lnTo>
                  <a:lnTo>
                    <a:pt x="18" y="11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16" y="13"/>
                  </a:lnTo>
                  <a:lnTo>
                    <a:pt x="6" y="20"/>
                  </a:lnTo>
                  <a:lnTo>
                    <a:pt x="13" y="31"/>
                  </a:lnTo>
                  <a:lnTo>
                    <a:pt x="11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" name="Freeform 110"/>
            <p:cNvSpPr/>
            <p:nvPr userDrawn="1"/>
          </p:nvSpPr>
          <p:spPr bwMode="auto">
            <a:xfrm>
              <a:off x="4583138" y="4332148"/>
              <a:ext cx="181513" cy="219328"/>
            </a:xfrm>
            <a:custGeom>
              <a:avLst/>
              <a:gdLst>
                <a:gd name="T0" fmla="*/ 3 w 24"/>
                <a:gd name="T1" fmla="*/ 29 h 29"/>
                <a:gd name="T2" fmla="*/ 0 w 24"/>
                <a:gd name="T3" fmla="*/ 26 h 29"/>
                <a:gd name="T4" fmla="*/ 21 w 24"/>
                <a:gd name="T5" fmla="*/ 0 h 29"/>
                <a:gd name="T6" fmla="*/ 24 w 24"/>
                <a:gd name="T7" fmla="*/ 3 h 29"/>
                <a:gd name="T8" fmla="*/ 3 w 2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3" y="29"/>
                  </a:moveTo>
                  <a:lnTo>
                    <a:pt x="0" y="26"/>
                  </a:lnTo>
                  <a:lnTo>
                    <a:pt x="21" y="0"/>
                  </a:lnTo>
                  <a:lnTo>
                    <a:pt x="24" y="3"/>
                  </a:lnTo>
                  <a:lnTo>
                    <a:pt x="3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" name="Freeform 111"/>
            <p:cNvSpPr>
              <a:spLocks noEditPoints="1"/>
            </p:cNvSpPr>
            <p:nvPr userDrawn="1"/>
          </p:nvSpPr>
          <p:spPr bwMode="auto">
            <a:xfrm>
              <a:off x="4643642" y="4392652"/>
              <a:ext cx="219328" cy="264706"/>
            </a:xfrm>
            <a:custGeom>
              <a:avLst/>
              <a:gdLst>
                <a:gd name="T0" fmla="*/ 11 w 29"/>
                <a:gd name="T1" fmla="*/ 32 h 35"/>
                <a:gd name="T2" fmla="*/ 16 w 29"/>
                <a:gd name="T3" fmla="*/ 23 h 35"/>
                <a:gd name="T4" fmla="*/ 11 w 29"/>
                <a:gd name="T5" fmla="*/ 20 h 35"/>
                <a:gd name="T6" fmla="*/ 3 w 29"/>
                <a:gd name="T7" fmla="*/ 27 h 35"/>
                <a:gd name="T8" fmla="*/ 0 w 29"/>
                <a:gd name="T9" fmla="*/ 25 h 35"/>
                <a:gd name="T10" fmla="*/ 24 w 29"/>
                <a:gd name="T11" fmla="*/ 0 h 35"/>
                <a:gd name="T12" fmla="*/ 29 w 29"/>
                <a:gd name="T13" fmla="*/ 2 h 35"/>
                <a:gd name="T14" fmla="*/ 16 w 29"/>
                <a:gd name="T15" fmla="*/ 35 h 35"/>
                <a:gd name="T16" fmla="*/ 11 w 29"/>
                <a:gd name="T17" fmla="*/ 32 h 35"/>
                <a:gd name="T18" fmla="*/ 19 w 29"/>
                <a:gd name="T19" fmla="*/ 18 h 35"/>
                <a:gd name="T20" fmla="*/ 24 w 29"/>
                <a:gd name="T21" fmla="*/ 7 h 35"/>
                <a:gd name="T22" fmla="*/ 23 w 29"/>
                <a:gd name="T23" fmla="*/ 6 h 35"/>
                <a:gd name="T24" fmla="*/ 14 w 29"/>
                <a:gd name="T25" fmla="*/ 16 h 35"/>
                <a:gd name="T26" fmla="*/ 19 w 29"/>
                <a:gd name="T27" fmla="*/ 1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11" y="32"/>
                  </a:moveTo>
                  <a:lnTo>
                    <a:pt x="16" y="23"/>
                  </a:lnTo>
                  <a:lnTo>
                    <a:pt x="11" y="20"/>
                  </a:lnTo>
                  <a:lnTo>
                    <a:pt x="3" y="27"/>
                  </a:lnTo>
                  <a:lnTo>
                    <a:pt x="0" y="25"/>
                  </a:lnTo>
                  <a:lnTo>
                    <a:pt x="24" y="0"/>
                  </a:lnTo>
                  <a:lnTo>
                    <a:pt x="29" y="2"/>
                  </a:lnTo>
                  <a:lnTo>
                    <a:pt x="16" y="35"/>
                  </a:lnTo>
                  <a:lnTo>
                    <a:pt x="11" y="32"/>
                  </a:lnTo>
                  <a:close/>
                  <a:moveTo>
                    <a:pt x="19" y="18"/>
                  </a:moveTo>
                  <a:lnTo>
                    <a:pt x="24" y="7"/>
                  </a:lnTo>
                  <a:lnTo>
                    <a:pt x="23" y="6"/>
                  </a:lnTo>
                  <a:lnTo>
                    <a:pt x="14" y="16"/>
                  </a:lnTo>
                  <a:lnTo>
                    <a:pt x="19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" name="Freeform 112"/>
            <p:cNvSpPr/>
            <p:nvPr/>
          </p:nvSpPr>
          <p:spPr bwMode="auto">
            <a:xfrm>
              <a:off x="4794903" y="4438031"/>
              <a:ext cx="242017" cy="294958"/>
            </a:xfrm>
            <a:custGeom>
              <a:avLst/>
              <a:gdLst>
                <a:gd name="T0" fmla="*/ 16 w 32"/>
                <a:gd name="T1" fmla="*/ 39 h 39"/>
                <a:gd name="T2" fmla="*/ 13 w 32"/>
                <a:gd name="T3" fmla="*/ 36 h 39"/>
                <a:gd name="T4" fmla="*/ 15 w 32"/>
                <a:gd name="T5" fmla="*/ 12 h 39"/>
                <a:gd name="T6" fmla="*/ 5 w 32"/>
                <a:gd name="T7" fmla="*/ 32 h 39"/>
                <a:gd name="T8" fmla="*/ 0 w 32"/>
                <a:gd name="T9" fmla="*/ 30 h 39"/>
                <a:gd name="T10" fmla="*/ 16 w 32"/>
                <a:gd name="T11" fmla="*/ 0 h 39"/>
                <a:gd name="T12" fmla="*/ 20 w 32"/>
                <a:gd name="T13" fmla="*/ 1 h 39"/>
                <a:gd name="T14" fmla="*/ 19 w 32"/>
                <a:gd name="T15" fmla="*/ 25 h 39"/>
                <a:gd name="T16" fmla="*/ 29 w 32"/>
                <a:gd name="T17" fmla="*/ 5 h 39"/>
                <a:gd name="T18" fmla="*/ 32 w 32"/>
                <a:gd name="T19" fmla="*/ 7 h 39"/>
                <a:gd name="T20" fmla="*/ 16 w 32"/>
                <a:gd name="T2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39">
                  <a:moveTo>
                    <a:pt x="16" y="39"/>
                  </a:moveTo>
                  <a:lnTo>
                    <a:pt x="13" y="36"/>
                  </a:lnTo>
                  <a:lnTo>
                    <a:pt x="15" y="12"/>
                  </a:lnTo>
                  <a:lnTo>
                    <a:pt x="5" y="32"/>
                  </a:lnTo>
                  <a:lnTo>
                    <a:pt x="0" y="30"/>
                  </a:lnTo>
                  <a:lnTo>
                    <a:pt x="16" y="0"/>
                  </a:lnTo>
                  <a:lnTo>
                    <a:pt x="20" y="1"/>
                  </a:lnTo>
                  <a:lnTo>
                    <a:pt x="19" y="25"/>
                  </a:lnTo>
                  <a:lnTo>
                    <a:pt x="29" y="5"/>
                  </a:lnTo>
                  <a:lnTo>
                    <a:pt x="32" y="7"/>
                  </a:lnTo>
                  <a:lnTo>
                    <a:pt x="16" y="3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" name="Freeform 114"/>
            <p:cNvSpPr/>
            <p:nvPr userDrawn="1"/>
          </p:nvSpPr>
          <p:spPr bwMode="auto">
            <a:xfrm>
              <a:off x="5301626" y="4543913"/>
              <a:ext cx="143698" cy="249580"/>
            </a:xfrm>
            <a:custGeom>
              <a:avLst/>
              <a:gdLst>
                <a:gd name="T0" fmla="*/ 15 w 15"/>
                <a:gd name="T1" fmla="*/ 19 h 27"/>
                <a:gd name="T2" fmla="*/ 13 w 15"/>
                <a:gd name="T3" fmla="*/ 25 h 27"/>
                <a:gd name="T4" fmla="*/ 7 w 15"/>
                <a:gd name="T5" fmla="*/ 27 h 27"/>
                <a:gd name="T6" fmla="*/ 1 w 15"/>
                <a:gd name="T7" fmla="*/ 25 h 27"/>
                <a:gd name="T8" fmla="*/ 0 w 15"/>
                <a:gd name="T9" fmla="*/ 19 h 27"/>
                <a:gd name="T10" fmla="*/ 0 w 15"/>
                <a:gd name="T11" fmla="*/ 0 h 27"/>
                <a:gd name="T12" fmla="*/ 4 w 15"/>
                <a:gd name="T13" fmla="*/ 0 h 27"/>
                <a:gd name="T14" fmla="*/ 3 w 15"/>
                <a:gd name="T15" fmla="*/ 19 h 27"/>
                <a:gd name="T16" fmla="*/ 4 w 15"/>
                <a:gd name="T17" fmla="*/ 23 h 27"/>
                <a:gd name="T18" fmla="*/ 7 w 15"/>
                <a:gd name="T19" fmla="*/ 24 h 27"/>
                <a:gd name="T20" fmla="*/ 10 w 15"/>
                <a:gd name="T21" fmla="*/ 23 h 27"/>
                <a:gd name="T22" fmla="*/ 11 w 15"/>
                <a:gd name="T23" fmla="*/ 19 h 27"/>
                <a:gd name="T24" fmla="*/ 12 w 15"/>
                <a:gd name="T25" fmla="*/ 0 h 27"/>
                <a:gd name="T26" fmla="*/ 15 w 15"/>
                <a:gd name="T27" fmla="*/ 0 h 27"/>
                <a:gd name="T28" fmla="*/ 15 w 15"/>
                <a:gd name="T29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7">
                  <a:moveTo>
                    <a:pt x="15" y="19"/>
                  </a:moveTo>
                  <a:cubicBezTo>
                    <a:pt x="15" y="22"/>
                    <a:pt x="14" y="24"/>
                    <a:pt x="13" y="25"/>
                  </a:cubicBezTo>
                  <a:cubicBezTo>
                    <a:pt x="11" y="27"/>
                    <a:pt x="10" y="27"/>
                    <a:pt x="7" y="27"/>
                  </a:cubicBezTo>
                  <a:cubicBezTo>
                    <a:pt x="4" y="27"/>
                    <a:pt x="2" y="26"/>
                    <a:pt x="1" y="25"/>
                  </a:cubicBezTo>
                  <a:cubicBezTo>
                    <a:pt x="0" y="23"/>
                    <a:pt x="0" y="21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1"/>
                    <a:pt x="3" y="22"/>
                    <a:pt x="4" y="23"/>
                  </a:cubicBezTo>
                  <a:cubicBezTo>
                    <a:pt x="5" y="24"/>
                    <a:pt x="6" y="24"/>
                    <a:pt x="7" y="24"/>
                  </a:cubicBezTo>
                  <a:cubicBezTo>
                    <a:pt x="8" y="24"/>
                    <a:pt x="9" y="24"/>
                    <a:pt x="10" y="23"/>
                  </a:cubicBezTo>
                  <a:cubicBezTo>
                    <a:pt x="11" y="22"/>
                    <a:pt x="11" y="21"/>
                    <a:pt x="11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" name="Freeform 115"/>
            <p:cNvSpPr/>
            <p:nvPr userDrawn="1"/>
          </p:nvSpPr>
          <p:spPr bwMode="auto">
            <a:xfrm>
              <a:off x="5460449" y="4521224"/>
              <a:ext cx="158824" cy="272269"/>
            </a:xfrm>
            <a:custGeom>
              <a:avLst/>
              <a:gdLst>
                <a:gd name="T0" fmla="*/ 21 w 21"/>
                <a:gd name="T1" fmla="*/ 33 h 36"/>
                <a:gd name="T2" fmla="*/ 17 w 21"/>
                <a:gd name="T3" fmla="*/ 34 h 36"/>
                <a:gd name="T4" fmla="*/ 5 w 21"/>
                <a:gd name="T5" fmla="*/ 11 h 36"/>
                <a:gd name="T6" fmla="*/ 8 w 21"/>
                <a:gd name="T7" fmla="*/ 35 h 36"/>
                <a:gd name="T8" fmla="*/ 3 w 21"/>
                <a:gd name="T9" fmla="*/ 36 h 36"/>
                <a:gd name="T10" fmla="*/ 0 w 21"/>
                <a:gd name="T11" fmla="*/ 3 h 36"/>
                <a:gd name="T12" fmla="*/ 5 w 21"/>
                <a:gd name="T13" fmla="*/ 1 h 36"/>
                <a:gd name="T14" fmla="*/ 15 w 21"/>
                <a:gd name="T15" fmla="*/ 18 h 36"/>
                <a:gd name="T16" fmla="*/ 12 w 21"/>
                <a:gd name="T17" fmla="*/ 0 h 36"/>
                <a:gd name="T18" fmla="*/ 16 w 21"/>
                <a:gd name="T19" fmla="*/ 0 h 36"/>
                <a:gd name="T20" fmla="*/ 21 w 21"/>
                <a:gd name="T21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36">
                  <a:moveTo>
                    <a:pt x="21" y="33"/>
                  </a:moveTo>
                  <a:lnTo>
                    <a:pt x="17" y="34"/>
                  </a:lnTo>
                  <a:lnTo>
                    <a:pt x="5" y="11"/>
                  </a:lnTo>
                  <a:lnTo>
                    <a:pt x="8" y="35"/>
                  </a:lnTo>
                  <a:lnTo>
                    <a:pt x="3" y="36"/>
                  </a:lnTo>
                  <a:lnTo>
                    <a:pt x="0" y="3"/>
                  </a:lnTo>
                  <a:lnTo>
                    <a:pt x="5" y="1"/>
                  </a:lnTo>
                  <a:lnTo>
                    <a:pt x="15" y="18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1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3" name="Freeform 116"/>
            <p:cNvSpPr/>
            <p:nvPr userDrawn="1"/>
          </p:nvSpPr>
          <p:spPr bwMode="auto">
            <a:xfrm>
              <a:off x="5611710" y="4506098"/>
              <a:ext cx="105882" cy="249580"/>
            </a:xfrm>
            <a:custGeom>
              <a:avLst/>
              <a:gdLst>
                <a:gd name="T0" fmla="*/ 14 w 14"/>
                <a:gd name="T1" fmla="*/ 31 h 33"/>
                <a:gd name="T2" fmla="*/ 9 w 14"/>
                <a:gd name="T3" fmla="*/ 33 h 33"/>
                <a:gd name="T4" fmla="*/ 0 w 14"/>
                <a:gd name="T5" fmla="*/ 1 h 33"/>
                <a:gd name="T6" fmla="*/ 4 w 14"/>
                <a:gd name="T7" fmla="*/ 0 h 33"/>
                <a:gd name="T8" fmla="*/ 14 w 14"/>
                <a:gd name="T9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3">
                  <a:moveTo>
                    <a:pt x="14" y="31"/>
                  </a:moveTo>
                  <a:lnTo>
                    <a:pt x="9" y="33"/>
                  </a:lnTo>
                  <a:lnTo>
                    <a:pt x="0" y="1"/>
                  </a:lnTo>
                  <a:lnTo>
                    <a:pt x="4" y="0"/>
                  </a:lnTo>
                  <a:lnTo>
                    <a:pt x="14" y="3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4" name="Freeform 117"/>
            <p:cNvSpPr/>
            <p:nvPr userDrawn="1"/>
          </p:nvSpPr>
          <p:spPr bwMode="auto">
            <a:xfrm>
              <a:off x="5664651" y="4438031"/>
              <a:ext cx="173950" cy="279832"/>
            </a:xfrm>
            <a:custGeom>
              <a:avLst/>
              <a:gdLst>
                <a:gd name="T0" fmla="*/ 18 w 23"/>
                <a:gd name="T1" fmla="*/ 0 h 37"/>
                <a:gd name="T2" fmla="*/ 23 w 23"/>
                <a:gd name="T3" fmla="*/ 35 h 37"/>
                <a:gd name="T4" fmla="*/ 19 w 23"/>
                <a:gd name="T5" fmla="*/ 37 h 37"/>
                <a:gd name="T6" fmla="*/ 0 w 23"/>
                <a:gd name="T7" fmla="*/ 7 h 37"/>
                <a:gd name="T8" fmla="*/ 4 w 23"/>
                <a:gd name="T9" fmla="*/ 6 h 37"/>
                <a:gd name="T10" fmla="*/ 18 w 23"/>
                <a:gd name="T11" fmla="*/ 26 h 37"/>
                <a:gd name="T12" fmla="*/ 14 w 23"/>
                <a:gd name="T13" fmla="*/ 1 h 37"/>
                <a:gd name="T14" fmla="*/ 18 w 23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7">
                  <a:moveTo>
                    <a:pt x="18" y="0"/>
                  </a:moveTo>
                  <a:lnTo>
                    <a:pt x="23" y="35"/>
                  </a:lnTo>
                  <a:lnTo>
                    <a:pt x="19" y="37"/>
                  </a:lnTo>
                  <a:lnTo>
                    <a:pt x="0" y="7"/>
                  </a:lnTo>
                  <a:lnTo>
                    <a:pt x="4" y="6"/>
                  </a:lnTo>
                  <a:lnTo>
                    <a:pt x="18" y="26"/>
                  </a:lnTo>
                  <a:lnTo>
                    <a:pt x="14" y="1"/>
                  </a:ln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5" name="Freeform 118"/>
            <p:cNvSpPr/>
            <p:nvPr userDrawn="1"/>
          </p:nvSpPr>
          <p:spPr bwMode="auto">
            <a:xfrm>
              <a:off x="5808348" y="4369963"/>
              <a:ext cx="249580" cy="287395"/>
            </a:xfrm>
            <a:custGeom>
              <a:avLst/>
              <a:gdLst>
                <a:gd name="T0" fmla="*/ 33 w 33"/>
                <a:gd name="T1" fmla="*/ 29 h 38"/>
                <a:gd name="T2" fmla="*/ 17 w 33"/>
                <a:gd name="T3" fmla="*/ 38 h 38"/>
                <a:gd name="T4" fmla="*/ 0 w 33"/>
                <a:gd name="T5" fmla="*/ 8 h 38"/>
                <a:gd name="T6" fmla="*/ 15 w 33"/>
                <a:gd name="T7" fmla="*/ 0 h 38"/>
                <a:gd name="T8" fmla="*/ 17 w 33"/>
                <a:gd name="T9" fmla="*/ 3 h 38"/>
                <a:gd name="T10" fmla="*/ 6 w 33"/>
                <a:gd name="T11" fmla="*/ 9 h 38"/>
                <a:gd name="T12" fmla="*/ 11 w 33"/>
                <a:gd name="T13" fmla="*/ 19 h 38"/>
                <a:gd name="T14" fmla="*/ 22 w 33"/>
                <a:gd name="T15" fmla="*/ 13 h 38"/>
                <a:gd name="T16" fmla="*/ 23 w 33"/>
                <a:gd name="T17" fmla="*/ 16 h 38"/>
                <a:gd name="T18" fmla="*/ 14 w 33"/>
                <a:gd name="T19" fmla="*/ 21 h 38"/>
                <a:gd name="T20" fmla="*/ 20 w 33"/>
                <a:gd name="T21" fmla="*/ 33 h 38"/>
                <a:gd name="T22" fmla="*/ 31 w 33"/>
                <a:gd name="T23" fmla="*/ 25 h 38"/>
                <a:gd name="T24" fmla="*/ 33 w 33"/>
                <a:gd name="T25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8">
                  <a:moveTo>
                    <a:pt x="33" y="29"/>
                  </a:moveTo>
                  <a:lnTo>
                    <a:pt x="17" y="38"/>
                  </a:lnTo>
                  <a:lnTo>
                    <a:pt x="0" y="8"/>
                  </a:lnTo>
                  <a:lnTo>
                    <a:pt x="15" y="0"/>
                  </a:lnTo>
                  <a:lnTo>
                    <a:pt x="17" y="3"/>
                  </a:lnTo>
                  <a:lnTo>
                    <a:pt x="6" y="9"/>
                  </a:lnTo>
                  <a:lnTo>
                    <a:pt x="11" y="19"/>
                  </a:lnTo>
                  <a:lnTo>
                    <a:pt x="22" y="13"/>
                  </a:lnTo>
                  <a:lnTo>
                    <a:pt x="23" y="16"/>
                  </a:lnTo>
                  <a:lnTo>
                    <a:pt x="14" y="21"/>
                  </a:lnTo>
                  <a:lnTo>
                    <a:pt x="20" y="33"/>
                  </a:lnTo>
                  <a:lnTo>
                    <a:pt x="31" y="25"/>
                  </a:lnTo>
                  <a:lnTo>
                    <a:pt x="33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6" name="Freeform 119"/>
            <p:cNvSpPr>
              <a:spLocks noEditPoints="1"/>
            </p:cNvSpPr>
            <p:nvPr userDrawn="1"/>
          </p:nvSpPr>
          <p:spPr bwMode="auto">
            <a:xfrm>
              <a:off x="5936920" y="4309459"/>
              <a:ext cx="257143" cy="257143"/>
            </a:xfrm>
            <a:custGeom>
              <a:avLst/>
              <a:gdLst>
                <a:gd name="T0" fmla="*/ 27 w 27"/>
                <a:gd name="T1" fmla="*/ 20 h 28"/>
                <a:gd name="T2" fmla="*/ 24 w 27"/>
                <a:gd name="T3" fmla="*/ 22 h 28"/>
                <a:gd name="T4" fmla="*/ 15 w 27"/>
                <a:gd name="T5" fmla="*/ 14 h 28"/>
                <a:gd name="T6" fmla="*/ 12 w 27"/>
                <a:gd name="T7" fmla="*/ 17 h 28"/>
                <a:gd name="T8" fmla="*/ 19 w 27"/>
                <a:gd name="T9" fmla="*/ 26 h 28"/>
                <a:gd name="T10" fmla="*/ 16 w 27"/>
                <a:gd name="T11" fmla="*/ 28 h 28"/>
                <a:gd name="T12" fmla="*/ 0 w 27"/>
                <a:gd name="T13" fmla="*/ 6 h 28"/>
                <a:gd name="T14" fmla="*/ 5 w 27"/>
                <a:gd name="T15" fmla="*/ 2 h 28"/>
                <a:gd name="T16" fmla="*/ 11 w 27"/>
                <a:gd name="T17" fmla="*/ 0 h 28"/>
                <a:gd name="T18" fmla="*/ 18 w 27"/>
                <a:gd name="T19" fmla="*/ 8 h 28"/>
                <a:gd name="T20" fmla="*/ 17 w 27"/>
                <a:gd name="T21" fmla="*/ 12 h 28"/>
                <a:gd name="T22" fmla="*/ 27 w 27"/>
                <a:gd name="T23" fmla="*/ 20 h 28"/>
                <a:gd name="T24" fmla="*/ 10 w 27"/>
                <a:gd name="T25" fmla="*/ 4 h 28"/>
                <a:gd name="T26" fmla="*/ 5 w 27"/>
                <a:gd name="T27" fmla="*/ 6 h 28"/>
                <a:gd name="T28" fmla="*/ 10 w 27"/>
                <a:gd name="T29" fmla="*/ 13 h 28"/>
                <a:gd name="T30" fmla="*/ 14 w 27"/>
                <a:gd name="T31" fmla="*/ 10 h 28"/>
                <a:gd name="T32" fmla="*/ 10 w 27"/>
                <a:gd name="T33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8">
                  <a:moveTo>
                    <a:pt x="27" y="20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1"/>
                    <a:pt x="9" y="0"/>
                    <a:pt x="11" y="0"/>
                  </a:cubicBezTo>
                  <a:cubicBezTo>
                    <a:pt x="16" y="1"/>
                    <a:pt x="18" y="4"/>
                    <a:pt x="18" y="8"/>
                  </a:cubicBezTo>
                  <a:cubicBezTo>
                    <a:pt x="18" y="9"/>
                    <a:pt x="18" y="11"/>
                    <a:pt x="17" y="12"/>
                  </a:cubicBezTo>
                  <a:lnTo>
                    <a:pt x="27" y="20"/>
                  </a:lnTo>
                  <a:close/>
                  <a:moveTo>
                    <a:pt x="10" y="4"/>
                  </a:moveTo>
                  <a:cubicBezTo>
                    <a:pt x="8" y="3"/>
                    <a:pt x="6" y="5"/>
                    <a:pt x="5" y="6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2" y="12"/>
                    <a:pt x="12" y="12"/>
                    <a:pt x="14" y="10"/>
                  </a:cubicBezTo>
                  <a:cubicBezTo>
                    <a:pt x="14" y="7"/>
                    <a:pt x="13" y="5"/>
                    <a:pt x="10" y="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7" name="Freeform 120"/>
            <p:cNvSpPr/>
            <p:nvPr userDrawn="1"/>
          </p:nvSpPr>
          <p:spPr bwMode="auto">
            <a:xfrm>
              <a:off x="6073054" y="4196014"/>
              <a:ext cx="257143" cy="219328"/>
            </a:xfrm>
            <a:custGeom>
              <a:avLst/>
              <a:gdLst>
                <a:gd name="T0" fmla="*/ 22 w 28"/>
                <a:gd name="T1" fmla="*/ 10 h 24"/>
                <a:gd name="T2" fmla="*/ 19 w 28"/>
                <a:gd name="T3" fmla="*/ 24 h 24"/>
                <a:gd name="T4" fmla="*/ 14 w 28"/>
                <a:gd name="T5" fmla="*/ 23 h 24"/>
                <a:gd name="T6" fmla="*/ 15 w 28"/>
                <a:gd name="T7" fmla="*/ 20 h 24"/>
                <a:gd name="T8" fmla="*/ 18 w 28"/>
                <a:gd name="T9" fmla="*/ 21 h 24"/>
                <a:gd name="T10" fmla="*/ 20 w 28"/>
                <a:gd name="T11" fmla="*/ 13 h 24"/>
                <a:gd name="T12" fmla="*/ 17 w 28"/>
                <a:gd name="T13" fmla="*/ 12 h 24"/>
                <a:gd name="T14" fmla="*/ 8 w 28"/>
                <a:gd name="T15" fmla="*/ 15 h 24"/>
                <a:gd name="T16" fmla="*/ 0 w 28"/>
                <a:gd name="T17" fmla="*/ 9 h 24"/>
                <a:gd name="T18" fmla="*/ 2 w 28"/>
                <a:gd name="T19" fmla="*/ 4 h 24"/>
                <a:gd name="T20" fmla="*/ 11 w 28"/>
                <a:gd name="T21" fmla="*/ 2 h 24"/>
                <a:gd name="T22" fmla="*/ 10 w 28"/>
                <a:gd name="T23" fmla="*/ 5 h 24"/>
                <a:gd name="T24" fmla="*/ 4 w 28"/>
                <a:gd name="T25" fmla="*/ 6 h 24"/>
                <a:gd name="T26" fmla="*/ 3 w 28"/>
                <a:gd name="T27" fmla="*/ 9 h 24"/>
                <a:gd name="T28" fmla="*/ 7 w 28"/>
                <a:gd name="T29" fmla="*/ 12 h 24"/>
                <a:gd name="T30" fmla="*/ 17 w 28"/>
                <a:gd name="T31" fmla="*/ 9 h 24"/>
                <a:gd name="T32" fmla="*/ 22 w 28"/>
                <a:gd name="T33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" h="24">
                  <a:moveTo>
                    <a:pt x="22" y="10"/>
                  </a:moveTo>
                  <a:cubicBezTo>
                    <a:pt x="28" y="13"/>
                    <a:pt x="26" y="23"/>
                    <a:pt x="19" y="24"/>
                  </a:cubicBezTo>
                  <a:cubicBezTo>
                    <a:pt x="17" y="24"/>
                    <a:pt x="15" y="24"/>
                    <a:pt x="14" y="23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23" y="20"/>
                    <a:pt x="23" y="15"/>
                    <a:pt x="20" y="13"/>
                  </a:cubicBezTo>
                  <a:cubicBezTo>
                    <a:pt x="19" y="12"/>
                    <a:pt x="18" y="12"/>
                    <a:pt x="17" y="12"/>
                  </a:cubicBezTo>
                  <a:cubicBezTo>
                    <a:pt x="13" y="13"/>
                    <a:pt x="11" y="15"/>
                    <a:pt x="8" y="15"/>
                  </a:cubicBezTo>
                  <a:cubicBezTo>
                    <a:pt x="4" y="15"/>
                    <a:pt x="1" y="13"/>
                    <a:pt x="0" y="9"/>
                  </a:cubicBezTo>
                  <a:cubicBezTo>
                    <a:pt x="0" y="7"/>
                    <a:pt x="1" y="5"/>
                    <a:pt x="2" y="4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8" y="4"/>
                    <a:pt x="5" y="4"/>
                    <a:pt x="4" y="6"/>
                  </a:cubicBezTo>
                  <a:cubicBezTo>
                    <a:pt x="3" y="7"/>
                    <a:pt x="3" y="8"/>
                    <a:pt x="3" y="9"/>
                  </a:cubicBezTo>
                  <a:cubicBezTo>
                    <a:pt x="4" y="11"/>
                    <a:pt x="5" y="12"/>
                    <a:pt x="7" y="12"/>
                  </a:cubicBezTo>
                  <a:cubicBezTo>
                    <a:pt x="11" y="11"/>
                    <a:pt x="13" y="8"/>
                    <a:pt x="17" y="9"/>
                  </a:cubicBezTo>
                  <a:cubicBezTo>
                    <a:pt x="18" y="9"/>
                    <a:pt x="20" y="9"/>
                    <a:pt x="22" y="1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8" name="Freeform 121"/>
            <p:cNvSpPr/>
            <p:nvPr userDrawn="1"/>
          </p:nvSpPr>
          <p:spPr bwMode="auto">
            <a:xfrm>
              <a:off x="6156248" y="4120384"/>
              <a:ext cx="234454" cy="158823"/>
            </a:xfrm>
            <a:custGeom>
              <a:avLst/>
              <a:gdLst>
                <a:gd name="T0" fmla="*/ 31 w 31"/>
                <a:gd name="T1" fmla="*/ 17 h 21"/>
                <a:gd name="T2" fmla="*/ 28 w 31"/>
                <a:gd name="T3" fmla="*/ 21 h 21"/>
                <a:gd name="T4" fmla="*/ 0 w 31"/>
                <a:gd name="T5" fmla="*/ 2 h 21"/>
                <a:gd name="T6" fmla="*/ 2 w 31"/>
                <a:gd name="T7" fmla="*/ 0 h 21"/>
                <a:gd name="T8" fmla="*/ 31 w 31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1">
                  <a:moveTo>
                    <a:pt x="31" y="17"/>
                  </a:moveTo>
                  <a:lnTo>
                    <a:pt x="28" y="21"/>
                  </a:lnTo>
                  <a:lnTo>
                    <a:pt x="0" y="2"/>
                  </a:lnTo>
                  <a:lnTo>
                    <a:pt x="2" y="0"/>
                  </a:lnTo>
                  <a:lnTo>
                    <a:pt x="31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9" name="Freeform 122"/>
            <p:cNvSpPr/>
            <p:nvPr userDrawn="1"/>
          </p:nvSpPr>
          <p:spPr bwMode="auto">
            <a:xfrm>
              <a:off x="6194063" y="3953997"/>
              <a:ext cx="272269" cy="211765"/>
            </a:xfrm>
            <a:custGeom>
              <a:avLst/>
              <a:gdLst>
                <a:gd name="T0" fmla="*/ 11 w 36"/>
                <a:gd name="T1" fmla="*/ 3 h 28"/>
                <a:gd name="T2" fmla="*/ 8 w 36"/>
                <a:gd name="T3" fmla="*/ 9 h 28"/>
                <a:gd name="T4" fmla="*/ 36 w 36"/>
                <a:gd name="T5" fmla="*/ 25 h 28"/>
                <a:gd name="T6" fmla="*/ 33 w 36"/>
                <a:gd name="T7" fmla="*/ 28 h 28"/>
                <a:gd name="T8" fmla="*/ 6 w 36"/>
                <a:gd name="T9" fmla="*/ 13 h 28"/>
                <a:gd name="T10" fmla="*/ 3 w 36"/>
                <a:gd name="T11" fmla="*/ 18 h 28"/>
                <a:gd name="T12" fmla="*/ 0 w 36"/>
                <a:gd name="T13" fmla="*/ 17 h 28"/>
                <a:gd name="T14" fmla="*/ 7 w 36"/>
                <a:gd name="T15" fmla="*/ 0 h 28"/>
                <a:gd name="T16" fmla="*/ 11 w 36"/>
                <a:gd name="T17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28">
                  <a:moveTo>
                    <a:pt x="11" y="3"/>
                  </a:moveTo>
                  <a:lnTo>
                    <a:pt x="8" y="9"/>
                  </a:lnTo>
                  <a:lnTo>
                    <a:pt x="36" y="25"/>
                  </a:lnTo>
                  <a:lnTo>
                    <a:pt x="33" y="28"/>
                  </a:lnTo>
                  <a:lnTo>
                    <a:pt x="6" y="13"/>
                  </a:lnTo>
                  <a:lnTo>
                    <a:pt x="3" y="18"/>
                  </a:lnTo>
                  <a:lnTo>
                    <a:pt x="0" y="17"/>
                  </a:lnTo>
                  <a:lnTo>
                    <a:pt x="7" y="0"/>
                  </a:lnTo>
                  <a:lnTo>
                    <a:pt x="11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0" name="Freeform 123"/>
            <p:cNvSpPr/>
            <p:nvPr userDrawn="1"/>
          </p:nvSpPr>
          <p:spPr bwMode="auto">
            <a:xfrm>
              <a:off x="6254567" y="3810300"/>
              <a:ext cx="272269" cy="173950"/>
            </a:xfrm>
            <a:custGeom>
              <a:avLst/>
              <a:gdLst>
                <a:gd name="T0" fmla="*/ 8 w 36"/>
                <a:gd name="T1" fmla="*/ 0 h 23"/>
                <a:gd name="T2" fmla="*/ 25 w 36"/>
                <a:gd name="T3" fmla="*/ 14 h 23"/>
                <a:gd name="T4" fmla="*/ 36 w 36"/>
                <a:gd name="T5" fmla="*/ 19 h 23"/>
                <a:gd name="T6" fmla="*/ 34 w 36"/>
                <a:gd name="T7" fmla="*/ 23 h 23"/>
                <a:gd name="T8" fmla="*/ 24 w 36"/>
                <a:gd name="T9" fmla="*/ 18 h 23"/>
                <a:gd name="T10" fmla="*/ 0 w 36"/>
                <a:gd name="T11" fmla="*/ 18 h 23"/>
                <a:gd name="T12" fmla="*/ 2 w 36"/>
                <a:gd name="T13" fmla="*/ 14 h 23"/>
                <a:gd name="T14" fmla="*/ 18 w 36"/>
                <a:gd name="T15" fmla="*/ 14 h 23"/>
                <a:gd name="T16" fmla="*/ 7 w 36"/>
                <a:gd name="T17" fmla="*/ 5 h 23"/>
                <a:gd name="T18" fmla="*/ 8 w 36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3">
                  <a:moveTo>
                    <a:pt x="8" y="0"/>
                  </a:moveTo>
                  <a:lnTo>
                    <a:pt x="25" y="14"/>
                  </a:lnTo>
                  <a:lnTo>
                    <a:pt x="36" y="19"/>
                  </a:lnTo>
                  <a:lnTo>
                    <a:pt x="34" y="23"/>
                  </a:lnTo>
                  <a:lnTo>
                    <a:pt x="24" y="18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18" y="14"/>
                  </a:lnTo>
                  <a:lnTo>
                    <a:pt x="7" y="5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1" name="Freeform 124"/>
            <p:cNvSpPr/>
            <p:nvPr userDrawn="1"/>
          </p:nvSpPr>
          <p:spPr bwMode="auto">
            <a:xfrm>
              <a:off x="4462130" y="4286770"/>
              <a:ext cx="257143" cy="189076"/>
            </a:xfrm>
            <a:custGeom>
              <a:avLst/>
              <a:gdLst>
                <a:gd name="T0" fmla="*/ 14 w 28"/>
                <a:gd name="T1" fmla="*/ 16 h 20"/>
                <a:gd name="T2" fmla="*/ 8 w 28"/>
                <a:gd name="T3" fmla="*/ 20 h 20"/>
                <a:gd name="T4" fmla="*/ 2 w 28"/>
                <a:gd name="T5" fmla="*/ 17 h 20"/>
                <a:gd name="T6" fmla="*/ 0 w 28"/>
                <a:gd name="T7" fmla="*/ 12 h 20"/>
                <a:gd name="T8" fmla="*/ 1 w 28"/>
                <a:gd name="T9" fmla="*/ 9 h 20"/>
                <a:gd name="T10" fmla="*/ 4 w 28"/>
                <a:gd name="T11" fmla="*/ 10 h 20"/>
                <a:gd name="T12" fmla="*/ 3 w 28"/>
                <a:gd name="T13" fmla="*/ 12 h 20"/>
                <a:gd name="T14" fmla="*/ 4 w 28"/>
                <a:gd name="T15" fmla="*/ 15 h 20"/>
                <a:gd name="T16" fmla="*/ 8 w 28"/>
                <a:gd name="T17" fmla="*/ 16 h 20"/>
                <a:gd name="T18" fmla="*/ 12 w 28"/>
                <a:gd name="T19" fmla="*/ 14 h 20"/>
                <a:gd name="T20" fmla="*/ 25 w 28"/>
                <a:gd name="T21" fmla="*/ 0 h 20"/>
                <a:gd name="T22" fmla="*/ 28 w 28"/>
                <a:gd name="T23" fmla="*/ 3 h 20"/>
                <a:gd name="T24" fmla="*/ 14 w 28"/>
                <a:gd name="T25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20">
                  <a:moveTo>
                    <a:pt x="14" y="16"/>
                  </a:moveTo>
                  <a:cubicBezTo>
                    <a:pt x="12" y="18"/>
                    <a:pt x="10" y="20"/>
                    <a:pt x="8" y="20"/>
                  </a:cubicBezTo>
                  <a:cubicBezTo>
                    <a:pt x="6" y="20"/>
                    <a:pt x="4" y="19"/>
                    <a:pt x="2" y="17"/>
                  </a:cubicBezTo>
                  <a:cubicBezTo>
                    <a:pt x="1" y="16"/>
                    <a:pt x="0" y="14"/>
                    <a:pt x="0" y="12"/>
                  </a:cubicBezTo>
                  <a:cubicBezTo>
                    <a:pt x="0" y="11"/>
                    <a:pt x="0" y="10"/>
                    <a:pt x="1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3"/>
                    <a:pt x="4" y="14"/>
                    <a:pt x="4" y="15"/>
                  </a:cubicBezTo>
                  <a:cubicBezTo>
                    <a:pt x="5" y="16"/>
                    <a:pt x="6" y="16"/>
                    <a:pt x="8" y="16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8" y="3"/>
                    <a:pt x="28" y="3"/>
                    <a:pt x="28" y="3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2" name="Freeform 125"/>
            <p:cNvSpPr>
              <a:spLocks noEditPoints="1"/>
            </p:cNvSpPr>
            <p:nvPr userDrawn="1"/>
          </p:nvSpPr>
          <p:spPr bwMode="auto">
            <a:xfrm>
              <a:off x="4938600" y="4203577"/>
              <a:ext cx="801681" cy="249580"/>
            </a:xfrm>
            <a:custGeom>
              <a:avLst/>
              <a:gdLst>
                <a:gd name="T0" fmla="*/ 0 w 86"/>
                <a:gd name="T1" fmla="*/ 15 h 27"/>
                <a:gd name="T2" fmla="*/ 4 w 86"/>
                <a:gd name="T3" fmla="*/ 15 h 27"/>
                <a:gd name="T4" fmla="*/ 6 w 86"/>
                <a:gd name="T5" fmla="*/ 3 h 27"/>
                <a:gd name="T6" fmla="*/ 10 w 86"/>
                <a:gd name="T7" fmla="*/ 3 h 27"/>
                <a:gd name="T8" fmla="*/ 14 w 86"/>
                <a:gd name="T9" fmla="*/ 4 h 27"/>
                <a:gd name="T10" fmla="*/ 10 w 86"/>
                <a:gd name="T11" fmla="*/ 19 h 27"/>
                <a:gd name="T12" fmla="*/ 37 w 86"/>
                <a:gd name="T13" fmla="*/ 14 h 27"/>
                <a:gd name="T14" fmla="*/ 33 w 86"/>
                <a:gd name="T15" fmla="*/ 11 h 27"/>
                <a:gd name="T16" fmla="*/ 28 w 86"/>
                <a:gd name="T17" fmla="*/ 13 h 27"/>
                <a:gd name="T18" fmla="*/ 30 w 86"/>
                <a:gd name="T19" fmla="*/ 16 h 27"/>
                <a:gd name="T20" fmla="*/ 34 w 86"/>
                <a:gd name="T21" fmla="*/ 17 h 27"/>
                <a:gd name="T22" fmla="*/ 37 w 86"/>
                <a:gd name="T23" fmla="*/ 14 h 27"/>
                <a:gd name="T24" fmla="*/ 36 w 86"/>
                <a:gd name="T25" fmla="*/ 21 h 27"/>
                <a:gd name="T26" fmla="*/ 32 w 86"/>
                <a:gd name="T27" fmla="*/ 19 h 27"/>
                <a:gd name="T28" fmla="*/ 27 w 86"/>
                <a:gd name="T29" fmla="*/ 19 h 27"/>
                <a:gd name="T30" fmla="*/ 27 w 86"/>
                <a:gd name="T31" fmla="*/ 24 h 27"/>
                <a:gd name="T32" fmla="*/ 34 w 86"/>
                <a:gd name="T33" fmla="*/ 25 h 27"/>
                <a:gd name="T34" fmla="*/ 30 w 86"/>
                <a:gd name="T35" fmla="*/ 27 h 27"/>
                <a:gd name="T36" fmla="*/ 24 w 86"/>
                <a:gd name="T37" fmla="*/ 25 h 27"/>
                <a:gd name="T38" fmla="*/ 23 w 86"/>
                <a:gd name="T39" fmla="*/ 21 h 27"/>
                <a:gd name="T40" fmla="*/ 28 w 86"/>
                <a:gd name="T41" fmla="*/ 17 h 27"/>
                <a:gd name="T42" fmla="*/ 25 w 86"/>
                <a:gd name="T43" fmla="*/ 15 h 27"/>
                <a:gd name="T44" fmla="*/ 28 w 86"/>
                <a:gd name="T45" fmla="*/ 10 h 27"/>
                <a:gd name="T46" fmla="*/ 39 w 86"/>
                <a:gd name="T47" fmla="*/ 11 h 27"/>
                <a:gd name="T48" fmla="*/ 39 w 86"/>
                <a:gd name="T49" fmla="*/ 17 h 27"/>
                <a:gd name="T50" fmla="*/ 36 w 86"/>
                <a:gd name="T51" fmla="*/ 18 h 27"/>
                <a:gd name="T52" fmla="*/ 39 w 86"/>
                <a:gd name="T53" fmla="*/ 23 h 27"/>
                <a:gd name="T54" fmla="*/ 30 w 86"/>
                <a:gd name="T55" fmla="*/ 27 h 27"/>
                <a:gd name="T56" fmla="*/ 62 w 86"/>
                <a:gd name="T57" fmla="*/ 14 h 27"/>
                <a:gd name="T58" fmla="*/ 59 w 86"/>
                <a:gd name="T59" fmla="*/ 11 h 27"/>
                <a:gd name="T60" fmla="*/ 54 w 86"/>
                <a:gd name="T61" fmla="*/ 12 h 27"/>
                <a:gd name="T62" fmla="*/ 53 w 86"/>
                <a:gd name="T63" fmla="*/ 17 h 27"/>
                <a:gd name="T64" fmla="*/ 56 w 86"/>
                <a:gd name="T65" fmla="*/ 19 h 27"/>
                <a:gd name="T66" fmla="*/ 60 w 86"/>
                <a:gd name="T67" fmla="*/ 18 h 27"/>
                <a:gd name="T68" fmla="*/ 63 w 86"/>
                <a:gd name="T69" fmla="*/ 17 h 27"/>
                <a:gd name="T70" fmla="*/ 50 w 86"/>
                <a:gd name="T71" fmla="*/ 15 h 27"/>
                <a:gd name="T72" fmla="*/ 52 w 86"/>
                <a:gd name="T73" fmla="*/ 11 h 27"/>
                <a:gd name="T74" fmla="*/ 58 w 86"/>
                <a:gd name="T75" fmla="*/ 9 h 27"/>
                <a:gd name="T76" fmla="*/ 63 w 86"/>
                <a:gd name="T77" fmla="*/ 11 h 27"/>
                <a:gd name="T78" fmla="*/ 66 w 86"/>
                <a:gd name="T79" fmla="*/ 17 h 27"/>
                <a:gd name="T80" fmla="*/ 63 w 86"/>
                <a:gd name="T81" fmla="*/ 24 h 27"/>
                <a:gd name="T82" fmla="*/ 55 w 86"/>
                <a:gd name="T83" fmla="*/ 27 h 27"/>
                <a:gd name="T84" fmla="*/ 52 w 86"/>
                <a:gd name="T85" fmla="*/ 27 h 27"/>
                <a:gd name="T86" fmla="*/ 52 w 86"/>
                <a:gd name="T87" fmla="*/ 25 h 27"/>
                <a:gd name="T88" fmla="*/ 55 w 86"/>
                <a:gd name="T89" fmla="*/ 25 h 27"/>
                <a:gd name="T90" fmla="*/ 62 w 86"/>
                <a:gd name="T91" fmla="*/ 19 h 27"/>
                <a:gd name="T92" fmla="*/ 57 w 86"/>
                <a:gd name="T93" fmla="*/ 21 h 27"/>
                <a:gd name="T94" fmla="*/ 52 w 86"/>
                <a:gd name="T95" fmla="*/ 20 h 27"/>
                <a:gd name="T96" fmla="*/ 50 w 86"/>
                <a:gd name="T97" fmla="*/ 15 h 27"/>
                <a:gd name="T98" fmla="*/ 86 w 86"/>
                <a:gd name="T99" fmla="*/ 18 h 27"/>
                <a:gd name="T100" fmla="*/ 83 w 86"/>
                <a:gd name="T101" fmla="*/ 3 h 27"/>
                <a:gd name="T102" fmla="*/ 72 w 86"/>
                <a:gd name="T103" fmla="*/ 6 h 27"/>
                <a:gd name="T104" fmla="*/ 86 w 86"/>
                <a:gd name="T10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" h="27">
                  <a:moveTo>
                    <a:pt x="9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3"/>
                    <a:pt x="9" y="3"/>
                    <a:pt x="10" y="3"/>
                  </a:cubicBezTo>
                  <a:cubicBezTo>
                    <a:pt x="11" y="3"/>
                    <a:pt x="11" y="3"/>
                    <a:pt x="12" y="2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0" y="19"/>
                    <a:pt x="10" y="19"/>
                    <a:pt x="10" y="19"/>
                  </a:cubicBezTo>
                  <a:lnTo>
                    <a:pt x="9" y="20"/>
                  </a:lnTo>
                  <a:close/>
                  <a:moveTo>
                    <a:pt x="37" y="14"/>
                  </a:moveTo>
                  <a:cubicBezTo>
                    <a:pt x="37" y="14"/>
                    <a:pt x="37" y="13"/>
                    <a:pt x="36" y="12"/>
                  </a:cubicBezTo>
                  <a:cubicBezTo>
                    <a:pt x="36" y="12"/>
                    <a:pt x="35" y="11"/>
                    <a:pt x="33" y="11"/>
                  </a:cubicBezTo>
                  <a:cubicBezTo>
                    <a:pt x="32" y="11"/>
                    <a:pt x="31" y="11"/>
                    <a:pt x="30" y="11"/>
                  </a:cubicBezTo>
                  <a:cubicBezTo>
                    <a:pt x="29" y="12"/>
                    <a:pt x="29" y="12"/>
                    <a:pt x="28" y="13"/>
                  </a:cubicBezTo>
                  <a:cubicBezTo>
                    <a:pt x="28" y="14"/>
                    <a:pt x="28" y="14"/>
                    <a:pt x="29" y="15"/>
                  </a:cubicBezTo>
                  <a:cubicBezTo>
                    <a:pt x="29" y="15"/>
                    <a:pt x="30" y="15"/>
                    <a:pt x="30" y="16"/>
                  </a:cubicBezTo>
                  <a:cubicBezTo>
                    <a:pt x="31" y="16"/>
                    <a:pt x="31" y="16"/>
                    <a:pt x="32" y="17"/>
                  </a:cubicBezTo>
                  <a:cubicBezTo>
                    <a:pt x="33" y="17"/>
                    <a:pt x="33" y="17"/>
                    <a:pt x="34" y="17"/>
                  </a:cubicBezTo>
                  <a:cubicBezTo>
                    <a:pt x="35" y="17"/>
                    <a:pt x="36" y="17"/>
                    <a:pt x="36" y="16"/>
                  </a:cubicBezTo>
                  <a:cubicBezTo>
                    <a:pt x="37" y="16"/>
                    <a:pt x="37" y="15"/>
                    <a:pt x="37" y="14"/>
                  </a:cubicBezTo>
                  <a:moveTo>
                    <a:pt x="36" y="23"/>
                  </a:moveTo>
                  <a:cubicBezTo>
                    <a:pt x="36" y="22"/>
                    <a:pt x="36" y="22"/>
                    <a:pt x="36" y="21"/>
                  </a:cubicBezTo>
                  <a:cubicBezTo>
                    <a:pt x="35" y="21"/>
                    <a:pt x="34" y="20"/>
                    <a:pt x="33" y="20"/>
                  </a:cubicBezTo>
                  <a:cubicBezTo>
                    <a:pt x="33" y="19"/>
                    <a:pt x="33" y="19"/>
                    <a:pt x="32" y="19"/>
                  </a:cubicBezTo>
                  <a:cubicBezTo>
                    <a:pt x="31" y="19"/>
                    <a:pt x="31" y="18"/>
                    <a:pt x="30" y="18"/>
                  </a:cubicBezTo>
                  <a:cubicBezTo>
                    <a:pt x="29" y="18"/>
                    <a:pt x="28" y="19"/>
                    <a:pt x="27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2"/>
                    <a:pt x="26" y="23"/>
                    <a:pt x="27" y="24"/>
                  </a:cubicBezTo>
                  <a:cubicBezTo>
                    <a:pt x="28" y="25"/>
                    <a:pt x="29" y="25"/>
                    <a:pt x="30" y="25"/>
                  </a:cubicBezTo>
                  <a:cubicBezTo>
                    <a:pt x="32" y="26"/>
                    <a:pt x="33" y="25"/>
                    <a:pt x="34" y="25"/>
                  </a:cubicBezTo>
                  <a:cubicBezTo>
                    <a:pt x="35" y="24"/>
                    <a:pt x="36" y="24"/>
                    <a:pt x="36" y="23"/>
                  </a:cubicBezTo>
                  <a:moveTo>
                    <a:pt x="30" y="27"/>
                  </a:moveTo>
                  <a:cubicBezTo>
                    <a:pt x="29" y="27"/>
                    <a:pt x="28" y="27"/>
                    <a:pt x="27" y="26"/>
                  </a:cubicBezTo>
                  <a:cubicBezTo>
                    <a:pt x="26" y="26"/>
                    <a:pt x="25" y="25"/>
                    <a:pt x="24" y="25"/>
                  </a:cubicBezTo>
                  <a:cubicBezTo>
                    <a:pt x="23" y="24"/>
                    <a:pt x="23" y="24"/>
                    <a:pt x="23" y="23"/>
                  </a:cubicBezTo>
                  <a:cubicBezTo>
                    <a:pt x="23" y="22"/>
                    <a:pt x="22" y="21"/>
                    <a:pt x="23" y="21"/>
                  </a:cubicBezTo>
                  <a:cubicBezTo>
                    <a:pt x="23" y="20"/>
                    <a:pt x="23" y="19"/>
                    <a:pt x="24" y="18"/>
                  </a:cubicBezTo>
                  <a:cubicBezTo>
                    <a:pt x="25" y="18"/>
                    <a:pt x="26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6"/>
                    <a:pt x="26" y="16"/>
                    <a:pt x="25" y="15"/>
                  </a:cubicBezTo>
                  <a:cubicBezTo>
                    <a:pt x="25" y="14"/>
                    <a:pt x="25" y="14"/>
                    <a:pt x="25" y="13"/>
                  </a:cubicBezTo>
                  <a:cubicBezTo>
                    <a:pt x="25" y="12"/>
                    <a:pt x="26" y="11"/>
                    <a:pt x="28" y="10"/>
                  </a:cubicBezTo>
                  <a:cubicBezTo>
                    <a:pt x="29" y="9"/>
                    <a:pt x="31" y="9"/>
                    <a:pt x="34" y="10"/>
                  </a:cubicBezTo>
                  <a:cubicBezTo>
                    <a:pt x="36" y="10"/>
                    <a:pt x="38" y="10"/>
                    <a:pt x="39" y="11"/>
                  </a:cubicBezTo>
                  <a:cubicBezTo>
                    <a:pt x="40" y="12"/>
                    <a:pt x="41" y="14"/>
                    <a:pt x="40" y="15"/>
                  </a:cubicBezTo>
                  <a:cubicBezTo>
                    <a:pt x="40" y="16"/>
                    <a:pt x="40" y="16"/>
                    <a:pt x="39" y="17"/>
                  </a:cubicBezTo>
                  <a:cubicBezTo>
                    <a:pt x="38" y="18"/>
                    <a:pt x="37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7" y="19"/>
                    <a:pt x="38" y="20"/>
                    <a:pt x="39" y="20"/>
                  </a:cubicBezTo>
                  <a:cubicBezTo>
                    <a:pt x="39" y="21"/>
                    <a:pt x="40" y="22"/>
                    <a:pt x="39" y="23"/>
                  </a:cubicBezTo>
                  <a:cubicBezTo>
                    <a:pt x="39" y="25"/>
                    <a:pt x="38" y="26"/>
                    <a:pt x="36" y="26"/>
                  </a:cubicBezTo>
                  <a:cubicBezTo>
                    <a:pt x="34" y="27"/>
                    <a:pt x="32" y="27"/>
                    <a:pt x="30" y="27"/>
                  </a:cubicBezTo>
                  <a:moveTo>
                    <a:pt x="63" y="17"/>
                  </a:moveTo>
                  <a:cubicBezTo>
                    <a:pt x="63" y="15"/>
                    <a:pt x="62" y="15"/>
                    <a:pt x="62" y="14"/>
                  </a:cubicBezTo>
                  <a:cubicBezTo>
                    <a:pt x="62" y="13"/>
                    <a:pt x="61" y="13"/>
                    <a:pt x="61" y="12"/>
                  </a:cubicBezTo>
                  <a:cubicBezTo>
                    <a:pt x="60" y="12"/>
                    <a:pt x="60" y="12"/>
                    <a:pt x="59" y="11"/>
                  </a:cubicBezTo>
                  <a:cubicBezTo>
                    <a:pt x="59" y="11"/>
                    <a:pt x="58" y="11"/>
                    <a:pt x="58" y="11"/>
                  </a:cubicBezTo>
                  <a:cubicBezTo>
                    <a:pt x="56" y="11"/>
                    <a:pt x="55" y="12"/>
                    <a:pt x="54" y="12"/>
                  </a:cubicBezTo>
                  <a:cubicBezTo>
                    <a:pt x="53" y="13"/>
                    <a:pt x="53" y="14"/>
                    <a:pt x="53" y="15"/>
                  </a:cubicBezTo>
                  <a:cubicBezTo>
                    <a:pt x="53" y="16"/>
                    <a:pt x="53" y="16"/>
                    <a:pt x="53" y="17"/>
                  </a:cubicBezTo>
                  <a:cubicBezTo>
                    <a:pt x="54" y="17"/>
                    <a:pt x="54" y="18"/>
                    <a:pt x="55" y="18"/>
                  </a:cubicBezTo>
                  <a:cubicBezTo>
                    <a:pt x="55" y="18"/>
                    <a:pt x="56" y="18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9" y="19"/>
                    <a:pt x="59" y="19"/>
                    <a:pt x="60" y="18"/>
                  </a:cubicBezTo>
                  <a:cubicBezTo>
                    <a:pt x="61" y="18"/>
                    <a:pt x="62" y="18"/>
                    <a:pt x="62" y="18"/>
                  </a:cubicBezTo>
                  <a:cubicBezTo>
                    <a:pt x="63" y="18"/>
                    <a:pt x="63" y="17"/>
                    <a:pt x="63" y="17"/>
                  </a:cubicBezTo>
                  <a:cubicBezTo>
                    <a:pt x="63" y="17"/>
                    <a:pt x="63" y="17"/>
                    <a:pt x="63" y="17"/>
                  </a:cubicBezTo>
                  <a:moveTo>
                    <a:pt x="50" y="15"/>
                  </a:moveTo>
                  <a:cubicBezTo>
                    <a:pt x="50" y="14"/>
                    <a:pt x="50" y="14"/>
                    <a:pt x="50" y="13"/>
                  </a:cubicBezTo>
                  <a:cubicBezTo>
                    <a:pt x="51" y="12"/>
                    <a:pt x="51" y="11"/>
                    <a:pt x="52" y="11"/>
                  </a:cubicBezTo>
                  <a:cubicBezTo>
                    <a:pt x="53" y="10"/>
                    <a:pt x="53" y="10"/>
                    <a:pt x="55" y="10"/>
                  </a:cubicBezTo>
                  <a:cubicBezTo>
                    <a:pt x="56" y="9"/>
                    <a:pt x="57" y="9"/>
                    <a:pt x="58" y="9"/>
                  </a:cubicBezTo>
                  <a:cubicBezTo>
                    <a:pt x="59" y="9"/>
                    <a:pt x="60" y="9"/>
                    <a:pt x="61" y="10"/>
                  </a:cubicBezTo>
                  <a:cubicBezTo>
                    <a:pt x="62" y="10"/>
                    <a:pt x="63" y="10"/>
                    <a:pt x="63" y="11"/>
                  </a:cubicBezTo>
                  <a:cubicBezTo>
                    <a:pt x="64" y="11"/>
                    <a:pt x="65" y="12"/>
                    <a:pt x="65" y="13"/>
                  </a:cubicBezTo>
                  <a:cubicBezTo>
                    <a:pt x="66" y="14"/>
                    <a:pt x="66" y="16"/>
                    <a:pt x="66" y="17"/>
                  </a:cubicBezTo>
                  <a:cubicBezTo>
                    <a:pt x="66" y="19"/>
                    <a:pt x="66" y="20"/>
                    <a:pt x="65" y="21"/>
                  </a:cubicBezTo>
                  <a:cubicBezTo>
                    <a:pt x="65" y="22"/>
                    <a:pt x="64" y="23"/>
                    <a:pt x="63" y="24"/>
                  </a:cubicBezTo>
                  <a:cubicBezTo>
                    <a:pt x="62" y="25"/>
                    <a:pt x="61" y="26"/>
                    <a:pt x="60" y="26"/>
                  </a:cubicBezTo>
                  <a:cubicBezTo>
                    <a:pt x="58" y="27"/>
                    <a:pt x="57" y="27"/>
                    <a:pt x="55" y="27"/>
                  </a:cubicBezTo>
                  <a:cubicBezTo>
                    <a:pt x="54" y="27"/>
                    <a:pt x="54" y="27"/>
                    <a:pt x="53" y="27"/>
                  </a:cubicBezTo>
                  <a:cubicBezTo>
                    <a:pt x="53" y="27"/>
                    <a:pt x="52" y="27"/>
                    <a:pt x="52" y="27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3" y="25"/>
                    <a:pt x="53" y="25"/>
                  </a:cubicBezTo>
                  <a:cubicBezTo>
                    <a:pt x="54" y="25"/>
                    <a:pt x="54" y="25"/>
                    <a:pt x="55" y="25"/>
                  </a:cubicBezTo>
                  <a:cubicBezTo>
                    <a:pt x="57" y="25"/>
                    <a:pt x="59" y="25"/>
                    <a:pt x="60" y="24"/>
                  </a:cubicBezTo>
                  <a:cubicBezTo>
                    <a:pt x="62" y="23"/>
                    <a:pt x="62" y="21"/>
                    <a:pt x="62" y="19"/>
                  </a:cubicBezTo>
                  <a:cubicBezTo>
                    <a:pt x="62" y="20"/>
                    <a:pt x="61" y="20"/>
                    <a:pt x="60" y="20"/>
                  </a:cubicBezTo>
                  <a:cubicBezTo>
                    <a:pt x="59" y="20"/>
                    <a:pt x="58" y="21"/>
                    <a:pt x="57" y="21"/>
                  </a:cubicBezTo>
                  <a:cubicBezTo>
                    <a:pt x="56" y="21"/>
                    <a:pt x="55" y="20"/>
                    <a:pt x="55" y="20"/>
                  </a:cubicBezTo>
                  <a:cubicBezTo>
                    <a:pt x="54" y="20"/>
                    <a:pt x="53" y="20"/>
                    <a:pt x="52" y="20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6"/>
                    <a:pt x="50" y="15"/>
                  </a:cubicBezTo>
                  <a:moveTo>
                    <a:pt x="86" y="1"/>
                  </a:moveTo>
                  <a:cubicBezTo>
                    <a:pt x="86" y="18"/>
                    <a:pt x="86" y="18"/>
                    <a:pt x="86" y="18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85" y="0"/>
                    <a:pt x="85" y="0"/>
                    <a:pt x="85" y="0"/>
                  </a:cubicBezTo>
                  <a:lnTo>
                    <a:pt x="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3" name="Freeform 126"/>
            <p:cNvSpPr/>
            <p:nvPr userDrawn="1"/>
          </p:nvSpPr>
          <p:spPr bwMode="auto">
            <a:xfrm>
              <a:off x="5778096" y="2774166"/>
              <a:ext cx="105882" cy="105882"/>
            </a:xfrm>
            <a:custGeom>
              <a:avLst/>
              <a:gdLst>
                <a:gd name="T0" fmla="*/ 2 w 11"/>
                <a:gd name="T1" fmla="*/ 12 h 12"/>
                <a:gd name="T2" fmla="*/ 2 w 11"/>
                <a:gd name="T3" fmla="*/ 8 h 12"/>
                <a:gd name="T4" fmla="*/ 1 w 11"/>
                <a:gd name="T5" fmla="*/ 3 h 12"/>
                <a:gd name="T6" fmla="*/ 8 w 11"/>
                <a:gd name="T7" fmla="*/ 3 h 12"/>
                <a:gd name="T8" fmla="*/ 9 w 11"/>
                <a:gd name="T9" fmla="*/ 5 h 12"/>
                <a:gd name="T10" fmla="*/ 8 w 11"/>
                <a:gd name="T11" fmla="*/ 11 h 12"/>
                <a:gd name="T12" fmla="*/ 2 w 1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2" y="12"/>
                  </a:moveTo>
                  <a:cubicBezTo>
                    <a:pt x="0" y="11"/>
                    <a:pt x="1" y="10"/>
                    <a:pt x="2" y="8"/>
                  </a:cubicBezTo>
                  <a:cubicBezTo>
                    <a:pt x="2" y="7"/>
                    <a:pt x="1" y="5"/>
                    <a:pt x="1" y="3"/>
                  </a:cubicBezTo>
                  <a:cubicBezTo>
                    <a:pt x="2" y="0"/>
                    <a:pt x="6" y="2"/>
                    <a:pt x="8" y="3"/>
                  </a:cubicBezTo>
                  <a:cubicBezTo>
                    <a:pt x="8" y="3"/>
                    <a:pt x="9" y="4"/>
                    <a:pt x="9" y="5"/>
                  </a:cubicBezTo>
                  <a:cubicBezTo>
                    <a:pt x="10" y="7"/>
                    <a:pt x="11" y="10"/>
                    <a:pt x="8" y="11"/>
                  </a:cubicBezTo>
                  <a:cubicBezTo>
                    <a:pt x="6" y="12"/>
                    <a:pt x="4" y="12"/>
                    <a:pt x="2" y="1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4" name="Freeform 127"/>
            <p:cNvSpPr/>
            <p:nvPr userDrawn="1"/>
          </p:nvSpPr>
          <p:spPr bwMode="auto">
            <a:xfrm>
              <a:off x="5505827" y="2456519"/>
              <a:ext cx="385714" cy="340336"/>
            </a:xfrm>
            <a:custGeom>
              <a:avLst/>
              <a:gdLst>
                <a:gd name="T0" fmla="*/ 7 w 41"/>
                <a:gd name="T1" fmla="*/ 35 h 36"/>
                <a:gd name="T2" fmla="*/ 7 w 41"/>
                <a:gd name="T3" fmla="*/ 35 h 36"/>
                <a:gd name="T4" fmla="*/ 7 w 41"/>
                <a:gd name="T5" fmla="*/ 34 h 36"/>
                <a:gd name="T6" fmla="*/ 15 w 41"/>
                <a:gd name="T7" fmla="*/ 32 h 36"/>
                <a:gd name="T8" fmla="*/ 20 w 41"/>
                <a:gd name="T9" fmla="*/ 28 h 36"/>
                <a:gd name="T10" fmla="*/ 6 w 41"/>
                <a:gd name="T11" fmla="*/ 29 h 36"/>
                <a:gd name="T12" fmla="*/ 2 w 41"/>
                <a:gd name="T13" fmla="*/ 26 h 36"/>
                <a:gd name="T14" fmla="*/ 2 w 41"/>
                <a:gd name="T15" fmla="*/ 26 h 36"/>
                <a:gd name="T16" fmla="*/ 3 w 41"/>
                <a:gd name="T17" fmla="*/ 21 h 36"/>
                <a:gd name="T18" fmla="*/ 19 w 41"/>
                <a:gd name="T19" fmla="*/ 21 h 36"/>
                <a:gd name="T20" fmla="*/ 24 w 41"/>
                <a:gd name="T21" fmla="*/ 20 h 36"/>
                <a:gd name="T22" fmla="*/ 29 w 41"/>
                <a:gd name="T23" fmla="*/ 3 h 36"/>
                <a:gd name="T24" fmla="*/ 35 w 41"/>
                <a:gd name="T25" fmla="*/ 6 h 36"/>
                <a:gd name="T26" fmla="*/ 36 w 41"/>
                <a:gd name="T27" fmla="*/ 7 h 36"/>
                <a:gd name="T28" fmla="*/ 36 w 41"/>
                <a:gd name="T29" fmla="*/ 7 h 36"/>
                <a:gd name="T30" fmla="*/ 35 w 41"/>
                <a:gd name="T31" fmla="*/ 11 h 36"/>
                <a:gd name="T32" fmla="*/ 31 w 41"/>
                <a:gd name="T33" fmla="*/ 20 h 36"/>
                <a:gd name="T34" fmla="*/ 40 w 41"/>
                <a:gd name="T35" fmla="*/ 19 h 36"/>
                <a:gd name="T36" fmla="*/ 38 w 41"/>
                <a:gd name="T37" fmla="*/ 23 h 36"/>
                <a:gd name="T38" fmla="*/ 29 w 41"/>
                <a:gd name="T39" fmla="*/ 24 h 36"/>
                <a:gd name="T40" fmla="*/ 23 w 41"/>
                <a:gd name="T41" fmla="*/ 32 h 36"/>
                <a:gd name="T42" fmla="*/ 21 w 41"/>
                <a:gd name="T43" fmla="*/ 34 h 36"/>
                <a:gd name="T44" fmla="*/ 14 w 41"/>
                <a:gd name="T45" fmla="*/ 35 h 36"/>
                <a:gd name="T46" fmla="*/ 7 w 41"/>
                <a:gd name="T47" fmla="*/ 3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6"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4"/>
                  </a:cubicBezTo>
                  <a:cubicBezTo>
                    <a:pt x="8" y="34"/>
                    <a:pt x="15" y="32"/>
                    <a:pt x="15" y="32"/>
                  </a:cubicBezTo>
                  <a:cubicBezTo>
                    <a:pt x="17" y="31"/>
                    <a:pt x="19" y="30"/>
                    <a:pt x="20" y="28"/>
                  </a:cubicBezTo>
                  <a:cubicBezTo>
                    <a:pt x="15" y="28"/>
                    <a:pt x="11" y="30"/>
                    <a:pt x="6" y="29"/>
                  </a:cubicBezTo>
                  <a:cubicBezTo>
                    <a:pt x="4" y="28"/>
                    <a:pt x="3" y="27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0" y="24"/>
                    <a:pt x="0" y="22"/>
                    <a:pt x="3" y="21"/>
                  </a:cubicBezTo>
                  <a:cubicBezTo>
                    <a:pt x="7" y="23"/>
                    <a:pt x="15" y="22"/>
                    <a:pt x="19" y="21"/>
                  </a:cubicBezTo>
                  <a:cubicBezTo>
                    <a:pt x="20" y="21"/>
                    <a:pt x="23" y="21"/>
                    <a:pt x="24" y="20"/>
                  </a:cubicBezTo>
                  <a:cubicBezTo>
                    <a:pt x="26" y="15"/>
                    <a:pt x="27" y="9"/>
                    <a:pt x="29" y="3"/>
                  </a:cubicBezTo>
                  <a:cubicBezTo>
                    <a:pt x="31" y="0"/>
                    <a:pt x="33" y="3"/>
                    <a:pt x="35" y="6"/>
                  </a:cubicBezTo>
                  <a:cubicBezTo>
                    <a:pt x="35" y="6"/>
                    <a:pt x="36" y="6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7" y="9"/>
                    <a:pt x="37" y="10"/>
                    <a:pt x="35" y="11"/>
                  </a:cubicBezTo>
                  <a:cubicBezTo>
                    <a:pt x="33" y="14"/>
                    <a:pt x="32" y="17"/>
                    <a:pt x="31" y="20"/>
                  </a:cubicBezTo>
                  <a:cubicBezTo>
                    <a:pt x="34" y="20"/>
                    <a:pt x="37" y="18"/>
                    <a:pt x="40" y="19"/>
                  </a:cubicBezTo>
                  <a:cubicBezTo>
                    <a:pt x="41" y="21"/>
                    <a:pt x="40" y="22"/>
                    <a:pt x="38" y="23"/>
                  </a:cubicBezTo>
                  <a:cubicBezTo>
                    <a:pt x="36" y="23"/>
                    <a:pt x="33" y="24"/>
                    <a:pt x="29" y="24"/>
                  </a:cubicBezTo>
                  <a:cubicBezTo>
                    <a:pt x="28" y="27"/>
                    <a:pt x="26" y="30"/>
                    <a:pt x="23" y="32"/>
                  </a:cubicBezTo>
                  <a:cubicBezTo>
                    <a:pt x="23" y="33"/>
                    <a:pt x="21" y="34"/>
                    <a:pt x="21" y="34"/>
                  </a:cubicBezTo>
                  <a:cubicBezTo>
                    <a:pt x="19" y="34"/>
                    <a:pt x="17" y="35"/>
                    <a:pt x="14" y="35"/>
                  </a:cubicBezTo>
                  <a:cubicBezTo>
                    <a:pt x="8" y="36"/>
                    <a:pt x="8" y="35"/>
                    <a:pt x="7" y="3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5" name="Freeform 128"/>
            <p:cNvSpPr/>
            <p:nvPr userDrawn="1"/>
          </p:nvSpPr>
          <p:spPr bwMode="auto">
            <a:xfrm>
              <a:off x="4862970" y="2668283"/>
              <a:ext cx="151261" cy="310084"/>
            </a:xfrm>
            <a:custGeom>
              <a:avLst/>
              <a:gdLst>
                <a:gd name="T0" fmla="*/ 7 w 16"/>
                <a:gd name="T1" fmla="*/ 33 h 33"/>
                <a:gd name="T2" fmla="*/ 0 w 16"/>
                <a:gd name="T3" fmla="*/ 30 h 33"/>
                <a:gd name="T4" fmla="*/ 0 w 16"/>
                <a:gd name="T5" fmla="*/ 28 h 33"/>
                <a:gd name="T6" fmla="*/ 10 w 16"/>
                <a:gd name="T7" fmla="*/ 11 h 33"/>
                <a:gd name="T8" fmla="*/ 12 w 16"/>
                <a:gd name="T9" fmla="*/ 3 h 33"/>
                <a:gd name="T10" fmla="*/ 12 w 16"/>
                <a:gd name="T11" fmla="*/ 2 h 33"/>
                <a:gd name="T12" fmla="*/ 12 w 16"/>
                <a:gd name="T13" fmla="*/ 2 h 33"/>
                <a:gd name="T14" fmla="*/ 15 w 16"/>
                <a:gd name="T15" fmla="*/ 2 h 33"/>
                <a:gd name="T16" fmla="*/ 14 w 16"/>
                <a:gd name="T17" fmla="*/ 7 h 33"/>
                <a:gd name="T18" fmla="*/ 13 w 16"/>
                <a:gd name="T19" fmla="*/ 16 h 33"/>
                <a:gd name="T20" fmla="*/ 13 w 16"/>
                <a:gd name="T21" fmla="*/ 19 h 33"/>
                <a:gd name="T22" fmla="*/ 11 w 16"/>
                <a:gd name="T23" fmla="*/ 26 h 33"/>
                <a:gd name="T24" fmla="*/ 9 w 16"/>
                <a:gd name="T25" fmla="*/ 33 h 33"/>
                <a:gd name="T26" fmla="*/ 7 w 16"/>
                <a:gd name="T2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33">
                  <a:moveTo>
                    <a:pt x="7" y="33"/>
                  </a:moveTo>
                  <a:cubicBezTo>
                    <a:pt x="5" y="33"/>
                    <a:pt x="2" y="31"/>
                    <a:pt x="0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4" y="23"/>
                    <a:pt x="7" y="17"/>
                    <a:pt x="10" y="11"/>
                  </a:cubicBezTo>
                  <a:cubicBezTo>
                    <a:pt x="11" y="8"/>
                    <a:pt x="11" y="5"/>
                    <a:pt x="12" y="3"/>
                  </a:cubicBezTo>
                  <a:cubicBezTo>
                    <a:pt x="12" y="3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1"/>
                    <a:pt x="14" y="0"/>
                    <a:pt x="15" y="2"/>
                  </a:cubicBezTo>
                  <a:cubicBezTo>
                    <a:pt x="16" y="3"/>
                    <a:pt x="14" y="5"/>
                    <a:pt x="14" y="7"/>
                  </a:cubicBezTo>
                  <a:cubicBezTo>
                    <a:pt x="14" y="10"/>
                    <a:pt x="14" y="13"/>
                    <a:pt x="13" y="16"/>
                  </a:cubicBezTo>
                  <a:cubicBezTo>
                    <a:pt x="13" y="16"/>
                    <a:pt x="13" y="16"/>
                    <a:pt x="13" y="19"/>
                  </a:cubicBezTo>
                  <a:cubicBezTo>
                    <a:pt x="12" y="21"/>
                    <a:pt x="11" y="24"/>
                    <a:pt x="11" y="26"/>
                  </a:cubicBezTo>
                  <a:cubicBezTo>
                    <a:pt x="10" y="28"/>
                    <a:pt x="10" y="31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6" name="Freeform 129"/>
            <p:cNvSpPr/>
            <p:nvPr userDrawn="1"/>
          </p:nvSpPr>
          <p:spPr bwMode="auto">
            <a:xfrm>
              <a:off x="5067172" y="2592653"/>
              <a:ext cx="121008" cy="121008"/>
            </a:xfrm>
            <a:custGeom>
              <a:avLst/>
              <a:gdLst>
                <a:gd name="T0" fmla="*/ 8 w 13"/>
                <a:gd name="T1" fmla="*/ 12 h 13"/>
                <a:gd name="T2" fmla="*/ 1 w 13"/>
                <a:gd name="T3" fmla="*/ 10 h 13"/>
                <a:gd name="T4" fmla="*/ 1 w 13"/>
                <a:gd name="T5" fmla="*/ 8 h 13"/>
                <a:gd name="T6" fmla="*/ 2 w 13"/>
                <a:gd name="T7" fmla="*/ 7 h 13"/>
                <a:gd name="T8" fmla="*/ 5 w 13"/>
                <a:gd name="T9" fmla="*/ 6 h 13"/>
                <a:gd name="T10" fmla="*/ 12 w 13"/>
                <a:gd name="T11" fmla="*/ 1 h 13"/>
                <a:gd name="T12" fmla="*/ 8 w 13"/>
                <a:gd name="T13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8" y="12"/>
                  </a:moveTo>
                  <a:cubicBezTo>
                    <a:pt x="5" y="13"/>
                    <a:pt x="3" y="12"/>
                    <a:pt x="1" y="10"/>
                  </a:cubicBezTo>
                  <a:cubicBezTo>
                    <a:pt x="0" y="10"/>
                    <a:pt x="1" y="9"/>
                    <a:pt x="1" y="8"/>
                  </a:cubicBezTo>
                  <a:cubicBezTo>
                    <a:pt x="1" y="8"/>
                    <a:pt x="1" y="8"/>
                    <a:pt x="2" y="7"/>
                  </a:cubicBezTo>
                  <a:cubicBezTo>
                    <a:pt x="3" y="7"/>
                    <a:pt x="3" y="7"/>
                    <a:pt x="5" y="6"/>
                  </a:cubicBezTo>
                  <a:cubicBezTo>
                    <a:pt x="6" y="5"/>
                    <a:pt x="10" y="0"/>
                    <a:pt x="12" y="1"/>
                  </a:cubicBezTo>
                  <a:cubicBezTo>
                    <a:pt x="13" y="4"/>
                    <a:pt x="11" y="10"/>
                    <a:pt x="8" y="1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7" name="Freeform 130"/>
            <p:cNvSpPr/>
            <p:nvPr userDrawn="1"/>
          </p:nvSpPr>
          <p:spPr bwMode="auto">
            <a:xfrm>
              <a:off x="4855407" y="2638031"/>
              <a:ext cx="90756" cy="105882"/>
            </a:xfrm>
            <a:custGeom>
              <a:avLst/>
              <a:gdLst>
                <a:gd name="T0" fmla="*/ 5 w 10"/>
                <a:gd name="T1" fmla="*/ 11 h 11"/>
                <a:gd name="T2" fmla="*/ 1 w 10"/>
                <a:gd name="T3" fmla="*/ 4 h 11"/>
                <a:gd name="T4" fmla="*/ 6 w 10"/>
                <a:gd name="T5" fmla="*/ 1 h 11"/>
                <a:gd name="T6" fmla="*/ 10 w 10"/>
                <a:gd name="T7" fmla="*/ 6 h 11"/>
                <a:gd name="T8" fmla="*/ 5 w 10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5" y="11"/>
                  </a:moveTo>
                  <a:cubicBezTo>
                    <a:pt x="3" y="10"/>
                    <a:pt x="1" y="5"/>
                    <a:pt x="1" y="4"/>
                  </a:cubicBezTo>
                  <a:cubicBezTo>
                    <a:pt x="0" y="1"/>
                    <a:pt x="3" y="0"/>
                    <a:pt x="6" y="1"/>
                  </a:cubicBezTo>
                  <a:cubicBezTo>
                    <a:pt x="9" y="2"/>
                    <a:pt x="10" y="3"/>
                    <a:pt x="10" y="6"/>
                  </a:cubicBezTo>
                  <a:cubicBezTo>
                    <a:pt x="8" y="9"/>
                    <a:pt x="7" y="9"/>
                    <a:pt x="5" y="1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8" name="Freeform 131"/>
            <p:cNvSpPr/>
            <p:nvPr userDrawn="1"/>
          </p:nvSpPr>
          <p:spPr bwMode="auto">
            <a:xfrm>
              <a:off x="5029357" y="2471645"/>
              <a:ext cx="143698" cy="158823"/>
            </a:xfrm>
            <a:custGeom>
              <a:avLst/>
              <a:gdLst>
                <a:gd name="T0" fmla="*/ 8 w 15"/>
                <a:gd name="T1" fmla="*/ 17 h 17"/>
                <a:gd name="T2" fmla="*/ 7 w 15"/>
                <a:gd name="T3" fmla="*/ 12 h 17"/>
                <a:gd name="T4" fmla="*/ 5 w 15"/>
                <a:gd name="T5" fmla="*/ 13 h 17"/>
                <a:gd name="T6" fmla="*/ 0 w 15"/>
                <a:gd name="T7" fmla="*/ 9 h 17"/>
                <a:gd name="T8" fmla="*/ 2 w 15"/>
                <a:gd name="T9" fmla="*/ 7 h 17"/>
                <a:gd name="T10" fmla="*/ 7 w 15"/>
                <a:gd name="T11" fmla="*/ 2 h 17"/>
                <a:gd name="T12" fmla="*/ 14 w 15"/>
                <a:gd name="T13" fmla="*/ 4 h 17"/>
                <a:gd name="T14" fmla="*/ 13 w 15"/>
                <a:gd name="T15" fmla="*/ 11 h 17"/>
                <a:gd name="T16" fmla="*/ 9 w 15"/>
                <a:gd name="T17" fmla="*/ 16 h 17"/>
                <a:gd name="T18" fmla="*/ 8 w 15"/>
                <a:gd name="T1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7">
                  <a:moveTo>
                    <a:pt x="8" y="17"/>
                  </a:moveTo>
                  <a:cubicBezTo>
                    <a:pt x="7" y="16"/>
                    <a:pt x="8" y="12"/>
                    <a:pt x="7" y="12"/>
                  </a:cubicBezTo>
                  <a:cubicBezTo>
                    <a:pt x="6" y="12"/>
                    <a:pt x="6" y="13"/>
                    <a:pt x="5" y="13"/>
                  </a:cubicBezTo>
                  <a:cubicBezTo>
                    <a:pt x="3" y="13"/>
                    <a:pt x="0" y="11"/>
                    <a:pt x="0" y="9"/>
                  </a:cubicBezTo>
                  <a:cubicBezTo>
                    <a:pt x="1" y="7"/>
                    <a:pt x="0" y="8"/>
                    <a:pt x="2" y="7"/>
                  </a:cubicBezTo>
                  <a:cubicBezTo>
                    <a:pt x="4" y="5"/>
                    <a:pt x="6" y="3"/>
                    <a:pt x="7" y="2"/>
                  </a:cubicBezTo>
                  <a:cubicBezTo>
                    <a:pt x="11" y="0"/>
                    <a:pt x="13" y="1"/>
                    <a:pt x="14" y="4"/>
                  </a:cubicBezTo>
                  <a:cubicBezTo>
                    <a:pt x="15" y="7"/>
                    <a:pt x="14" y="9"/>
                    <a:pt x="13" y="11"/>
                  </a:cubicBezTo>
                  <a:cubicBezTo>
                    <a:pt x="12" y="13"/>
                    <a:pt x="10" y="15"/>
                    <a:pt x="9" y="16"/>
                  </a:cubicBezTo>
                  <a:cubicBezTo>
                    <a:pt x="9" y="17"/>
                    <a:pt x="8" y="17"/>
                    <a:pt x="8" y="1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9" name="Freeform 132"/>
            <p:cNvSpPr/>
            <p:nvPr userDrawn="1"/>
          </p:nvSpPr>
          <p:spPr bwMode="auto">
            <a:xfrm>
              <a:off x="4855407" y="2509460"/>
              <a:ext cx="90756" cy="98319"/>
            </a:xfrm>
            <a:custGeom>
              <a:avLst/>
              <a:gdLst>
                <a:gd name="T0" fmla="*/ 4 w 10"/>
                <a:gd name="T1" fmla="*/ 11 h 11"/>
                <a:gd name="T2" fmla="*/ 3 w 10"/>
                <a:gd name="T3" fmla="*/ 9 h 11"/>
                <a:gd name="T4" fmla="*/ 1 w 10"/>
                <a:gd name="T5" fmla="*/ 6 h 11"/>
                <a:gd name="T6" fmla="*/ 1 w 10"/>
                <a:gd name="T7" fmla="*/ 0 h 11"/>
                <a:gd name="T8" fmla="*/ 10 w 10"/>
                <a:gd name="T9" fmla="*/ 5 h 11"/>
                <a:gd name="T10" fmla="*/ 4 w 10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1">
                  <a:moveTo>
                    <a:pt x="4" y="11"/>
                  </a:move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2" y="7"/>
                    <a:pt x="1" y="6"/>
                  </a:cubicBezTo>
                  <a:cubicBezTo>
                    <a:pt x="0" y="3"/>
                    <a:pt x="0" y="2"/>
                    <a:pt x="1" y="0"/>
                  </a:cubicBezTo>
                  <a:cubicBezTo>
                    <a:pt x="3" y="0"/>
                    <a:pt x="10" y="1"/>
                    <a:pt x="10" y="5"/>
                  </a:cubicBezTo>
                  <a:cubicBezTo>
                    <a:pt x="9" y="7"/>
                    <a:pt x="6" y="10"/>
                    <a:pt x="4" y="1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0" name="Freeform 133"/>
            <p:cNvSpPr/>
            <p:nvPr userDrawn="1"/>
          </p:nvSpPr>
          <p:spPr bwMode="auto">
            <a:xfrm>
              <a:off x="4356247" y="2880048"/>
              <a:ext cx="355462" cy="627731"/>
            </a:xfrm>
            <a:custGeom>
              <a:avLst/>
              <a:gdLst>
                <a:gd name="T0" fmla="*/ 22 w 38"/>
                <a:gd name="T1" fmla="*/ 64 h 66"/>
                <a:gd name="T2" fmla="*/ 13 w 38"/>
                <a:gd name="T3" fmla="*/ 61 h 66"/>
                <a:gd name="T4" fmla="*/ 13 w 38"/>
                <a:gd name="T5" fmla="*/ 59 h 66"/>
                <a:gd name="T6" fmla="*/ 13 w 38"/>
                <a:gd name="T7" fmla="*/ 59 h 66"/>
                <a:gd name="T8" fmla="*/ 8 w 38"/>
                <a:gd name="T9" fmla="*/ 46 h 66"/>
                <a:gd name="T10" fmla="*/ 7 w 38"/>
                <a:gd name="T11" fmla="*/ 42 h 66"/>
                <a:gd name="T12" fmla="*/ 10 w 38"/>
                <a:gd name="T13" fmla="*/ 44 h 66"/>
                <a:gd name="T14" fmla="*/ 11 w 38"/>
                <a:gd name="T15" fmla="*/ 42 h 66"/>
                <a:gd name="T16" fmla="*/ 11 w 38"/>
                <a:gd name="T17" fmla="*/ 33 h 66"/>
                <a:gd name="T18" fmla="*/ 8 w 38"/>
                <a:gd name="T19" fmla="*/ 31 h 66"/>
                <a:gd name="T20" fmla="*/ 4 w 38"/>
                <a:gd name="T21" fmla="*/ 34 h 66"/>
                <a:gd name="T22" fmla="*/ 4 w 38"/>
                <a:gd name="T23" fmla="*/ 27 h 66"/>
                <a:gd name="T24" fmla="*/ 0 w 38"/>
                <a:gd name="T25" fmla="*/ 23 h 66"/>
                <a:gd name="T26" fmla="*/ 6 w 38"/>
                <a:gd name="T27" fmla="*/ 21 h 66"/>
                <a:gd name="T28" fmla="*/ 10 w 38"/>
                <a:gd name="T29" fmla="*/ 23 h 66"/>
                <a:gd name="T30" fmla="*/ 11 w 38"/>
                <a:gd name="T31" fmla="*/ 25 h 66"/>
                <a:gd name="T32" fmla="*/ 12 w 38"/>
                <a:gd name="T33" fmla="*/ 24 h 66"/>
                <a:gd name="T34" fmla="*/ 12 w 38"/>
                <a:gd name="T35" fmla="*/ 17 h 66"/>
                <a:gd name="T36" fmla="*/ 7 w 38"/>
                <a:gd name="T37" fmla="*/ 10 h 66"/>
                <a:gd name="T38" fmla="*/ 12 w 38"/>
                <a:gd name="T39" fmla="*/ 6 h 66"/>
                <a:gd name="T40" fmla="*/ 13 w 38"/>
                <a:gd name="T41" fmla="*/ 1 h 66"/>
                <a:gd name="T42" fmla="*/ 14 w 38"/>
                <a:gd name="T43" fmla="*/ 0 h 66"/>
                <a:gd name="T44" fmla="*/ 16 w 38"/>
                <a:gd name="T45" fmla="*/ 1 h 66"/>
                <a:gd name="T46" fmla="*/ 18 w 38"/>
                <a:gd name="T47" fmla="*/ 12 h 66"/>
                <a:gd name="T48" fmla="*/ 17 w 38"/>
                <a:gd name="T49" fmla="*/ 8 h 66"/>
                <a:gd name="T50" fmla="*/ 22 w 38"/>
                <a:gd name="T51" fmla="*/ 3 h 66"/>
                <a:gd name="T52" fmla="*/ 25 w 38"/>
                <a:gd name="T53" fmla="*/ 7 h 66"/>
                <a:gd name="T54" fmla="*/ 26 w 38"/>
                <a:gd name="T55" fmla="*/ 8 h 66"/>
                <a:gd name="T56" fmla="*/ 35 w 38"/>
                <a:gd name="T57" fmla="*/ 15 h 66"/>
                <a:gd name="T58" fmla="*/ 37 w 38"/>
                <a:gd name="T59" fmla="*/ 19 h 66"/>
                <a:gd name="T60" fmla="*/ 37 w 38"/>
                <a:gd name="T61" fmla="*/ 20 h 66"/>
                <a:gd name="T62" fmla="*/ 37 w 38"/>
                <a:gd name="T63" fmla="*/ 20 h 66"/>
                <a:gd name="T64" fmla="*/ 36 w 38"/>
                <a:gd name="T65" fmla="*/ 24 h 66"/>
                <a:gd name="T66" fmla="*/ 23 w 38"/>
                <a:gd name="T67" fmla="*/ 15 h 66"/>
                <a:gd name="T68" fmla="*/ 23 w 38"/>
                <a:gd name="T69" fmla="*/ 15 h 66"/>
                <a:gd name="T70" fmla="*/ 27 w 38"/>
                <a:gd name="T71" fmla="*/ 25 h 66"/>
                <a:gd name="T72" fmla="*/ 22 w 38"/>
                <a:gd name="T73" fmla="*/ 27 h 66"/>
                <a:gd name="T74" fmla="*/ 22 w 38"/>
                <a:gd name="T75" fmla="*/ 25 h 66"/>
                <a:gd name="T76" fmla="*/ 15 w 38"/>
                <a:gd name="T77" fmla="*/ 19 h 66"/>
                <a:gd name="T78" fmla="*/ 16 w 38"/>
                <a:gd name="T79" fmla="*/ 27 h 66"/>
                <a:gd name="T80" fmla="*/ 17 w 38"/>
                <a:gd name="T81" fmla="*/ 31 h 66"/>
                <a:gd name="T82" fmla="*/ 21 w 38"/>
                <a:gd name="T83" fmla="*/ 35 h 66"/>
                <a:gd name="T84" fmla="*/ 22 w 38"/>
                <a:gd name="T85" fmla="*/ 38 h 66"/>
                <a:gd name="T86" fmla="*/ 22 w 38"/>
                <a:gd name="T87" fmla="*/ 39 h 66"/>
                <a:gd name="T88" fmla="*/ 22 w 38"/>
                <a:gd name="T89" fmla="*/ 44 h 66"/>
                <a:gd name="T90" fmla="*/ 21 w 38"/>
                <a:gd name="T91" fmla="*/ 44 h 66"/>
                <a:gd name="T92" fmla="*/ 17 w 38"/>
                <a:gd name="T93" fmla="*/ 38 h 66"/>
                <a:gd name="T94" fmla="*/ 16 w 38"/>
                <a:gd name="T95" fmla="*/ 44 h 66"/>
                <a:gd name="T96" fmla="*/ 13 w 38"/>
                <a:gd name="T97" fmla="*/ 46 h 66"/>
                <a:gd name="T98" fmla="*/ 13 w 38"/>
                <a:gd name="T99" fmla="*/ 46 h 66"/>
                <a:gd name="T100" fmla="*/ 12 w 38"/>
                <a:gd name="T101" fmla="*/ 47 h 66"/>
                <a:gd name="T102" fmla="*/ 14 w 38"/>
                <a:gd name="T103" fmla="*/ 50 h 66"/>
                <a:gd name="T104" fmla="*/ 23 w 38"/>
                <a:gd name="T105" fmla="*/ 62 h 66"/>
                <a:gd name="T106" fmla="*/ 22 w 38"/>
                <a:gd name="T107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8" h="66">
                  <a:moveTo>
                    <a:pt x="22" y="64"/>
                  </a:moveTo>
                  <a:cubicBezTo>
                    <a:pt x="19" y="66"/>
                    <a:pt x="12" y="65"/>
                    <a:pt x="13" y="61"/>
                  </a:cubicBezTo>
                  <a:cubicBezTo>
                    <a:pt x="13" y="60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2" y="54"/>
                    <a:pt x="9" y="50"/>
                    <a:pt x="8" y="46"/>
                  </a:cubicBezTo>
                  <a:cubicBezTo>
                    <a:pt x="7" y="45"/>
                    <a:pt x="7" y="44"/>
                    <a:pt x="7" y="42"/>
                  </a:cubicBezTo>
                  <a:cubicBezTo>
                    <a:pt x="8" y="42"/>
                    <a:pt x="9" y="43"/>
                    <a:pt x="10" y="44"/>
                  </a:cubicBezTo>
                  <a:cubicBezTo>
                    <a:pt x="11" y="44"/>
                    <a:pt x="11" y="43"/>
                    <a:pt x="11" y="42"/>
                  </a:cubicBezTo>
                  <a:cubicBezTo>
                    <a:pt x="11" y="39"/>
                    <a:pt x="11" y="36"/>
                    <a:pt x="11" y="33"/>
                  </a:cubicBezTo>
                  <a:cubicBezTo>
                    <a:pt x="10" y="32"/>
                    <a:pt x="9" y="31"/>
                    <a:pt x="8" y="31"/>
                  </a:cubicBezTo>
                  <a:cubicBezTo>
                    <a:pt x="8" y="32"/>
                    <a:pt x="6" y="37"/>
                    <a:pt x="4" y="34"/>
                  </a:cubicBezTo>
                  <a:cubicBezTo>
                    <a:pt x="5" y="32"/>
                    <a:pt x="5" y="29"/>
                    <a:pt x="4" y="27"/>
                  </a:cubicBezTo>
                  <a:cubicBezTo>
                    <a:pt x="2" y="25"/>
                    <a:pt x="0" y="24"/>
                    <a:pt x="0" y="23"/>
                  </a:cubicBezTo>
                  <a:cubicBezTo>
                    <a:pt x="0" y="20"/>
                    <a:pt x="4" y="20"/>
                    <a:pt x="6" y="21"/>
                  </a:cubicBezTo>
                  <a:cubicBezTo>
                    <a:pt x="8" y="21"/>
                    <a:pt x="8" y="17"/>
                    <a:pt x="10" y="23"/>
                  </a:cubicBezTo>
                  <a:cubicBezTo>
                    <a:pt x="10" y="24"/>
                    <a:pt x="11" y="24"/>
                    <a:pt x="11" y="25"/>
                  </a:cubicBezTo>
                  <a:cubicBezTo>
                    <a:pt x="12" y="25"/>
                    <a:pt x="12" y="24"/>
                    <a:pt x="12" y="24"/>
                  </a:cubicBezTo>
                  <a:cubicBezTo>
                    <a:pt x="12" y="22"/>
                    <a:pt x="12" y="19"/>
                    <a:pt x="12" y="17"/>
                  </a:cubicBezTo>
                  <a:cubicBezTo>
                    <a:pt x="10" y="15"/>
                    <a:pt x="8" y="13"/>
                    <a:pt x="7" y="10"/>
                  </a:cubicBezTo>
                  <a:cubicBezTo>
                    <a:pt x="7" y="8"/>
                    <a:pt x="10" y="6"/>
                    <a:pt x="12" y="6"/>
                  </a:cubicBezTo>
                  <a:cubicBezTo>
                    <a:pt x="13" y="4"/>
                    <a:pt x="13" y="3"/>
                    <a:pt x="13" y="1"/>
                  </a:cubicBezTo>
                  <a:cubicBezTo>
                    <a:pt x="13" y="1"/>
                    <a:pt x="13" y="1"/>
                    <a:pt x="14" y="0"/>
                  </a:cubicBezTo>
                  <a:cubicBezTo>
                    <a:pt x="15" y="0"/>
                    <a:pt x="15" y="0"/>
                    <a:pt x="16" y="1"/>
                  </a:cubicBezTo>
                  <a:cubicBezTo>
                    <a:pt x="18" y="3"/>
                    <a:pt x="14" y="11"/>
                    <a:pt x="18" y="12"/>
                  </a:cubicBezTo>
                  <a:cubicBezTo>
                    <a:pt x="19" y="11"/>
                    <a:pt x="18" y="9"/>
                    <a:pt x="17" y="8"/>
                  </a:cubicBezTo>
                  <a:cubicBezTo>
                    <a:pt x="17" y="6"/>
                    <a:pt x="20" y="4"/>
                    <a:pt x="22" y="3"/>
                  </a:cubicBezTo>
                  <a:cubicBezTo>
                    <a:pt x="26" y="3"/>
                    <a:pt x="25" y="4"/>
                    <a:pt x="25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30" y="11"/>
                    <a:pt x="30" y="11"/>
                    <a:pt x="35" y="15"/>
                  </a:cubicBezTo>
                  <a:cubicBezTo>
                    <a:pt x="36" y="16"/>
                    <a:pt x="37" y="17"/>
                    <a:pt x="37" y="19"/>
                  </a:cubicBezTo>
                  <a:cubicBezTo>
                    <a:pt x="37" y="19"/>
                    <a:pt x="37" y="19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1"/>
                    <a:pt x="38" y="24"/>
                    <a:pt x="36" y="24"/>
                  </a:cubicBezTo>
                  <a:cubicBezTo>
                    <a:pt x="32" y="21"/>
                    <a:pt x="27" y="18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7"/>
                    <a:pt x="27" y="22"/>
                    <a:pt x="27" y="25"/>
                  </a:cubicBezTo>
                  <a:cubicBezTo>
                    <a:pt x="26" y="26"/>
                    <a:pt x="24" y="27"/>
                    <a:pt x="22" y="27"/>
                  </a:cubicBezTo>
                  <a:cubicBezTo>
                    <a:pt x="22" y="26"/>
                    <a:pt x="22" y="26"/>
                    <a:pt x="22" y="25"/>
                  </a:cubicBezTo>
                  <a:cubicBezTo>
                    <a:pt x="21" y="23"/>
                    <a:pt x="17" y="21"/>
                    <a:pt x="15" y="19"/>
                  </a:cubicBezTo>
                  <a:cubicBezTo>
                    <a:pt x="14" y="21"/>
                    <a:pt x="16" y="25"/>
                    <a:pt x="16" y="27"/>
                  </a:cubicBezTo>
                  <a:cubicBezTo>
                    <a:pt x="16" y="28"/>
                    <a:pt x="16" y="30"/>
                    <a:pt x="17" y="31"/>
                  </a:cubicBezTo>
                  <a:cubicBezTo>
                    <a:pt x="18" y="32"/>
                    <a:pt x="19" y="34"/>
                    <a:pt x="21" y="35"/>
                  </a:cubicBezTo>
                  <a:cubicBezTo>
                    <a:pt x="21" y="36"/>
                    <a:pt x="22" y="37"/>
                    <a:pt x="22" y="38"/>
                  </a:cubicBezTo>
                  <a:cubicBezTo>
                    <a:pt x="22" y="38"/>
                    <a:pt x="22" y="38"/>
                    <a:pt x="22" y="39"/>
                  </a:cubicBezTo>
                  <a:cubicBezTo>
                    <a:pt x="23" y="40"/>
                    <a:pt x="24" y="44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0" y="41"/>
                    <a:pt x="18" y="39"/>
                    <a:pt x="17" y="38"/>
                  </a:cubicBezTo>
                  <a:cubicBezTo>
                    <a:pt x="16" y="40"/>
                    <a:pt x="17" y="42"/>
                    <a:pt x="16" y="44"/>
                  </a:cubicBezTo>
                  <a:cubicBezTo>
                    <a:pt x="15" y="45"/>
                    <a:pt x="14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6"/>
                    <a:pt x="12" y="46"/>
                    <a:pt x="12" y="47"/>
                  </a:cubicBezTo>
                  <a:cubicBezTo>
                    <a:pt x="12" y="48"/>
                    <a:pt x="13" y="49"/>
                    <a:pt x="14" y="50"/>
                  </a:cubicBezTo>
                  <a:cubicBezTo>
                    <a:pt x="16" y="54"/>
                    <a:pt x="19" y="58"/>
                    <a:pt x="23" y="62"/>
                  </a:cubicBezTo>
                  <a:cubicBezTo>
                    <a:pt x="23" y="63"/>
                    <a:pt x="23" y="63"/>
                    <a:pt x="22" y="6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1" name="Freeform 134"/>
            <p:cNvSpPr/>
            <p:nvPr userDrawn="1"/>
          </p:nvSpPr>
          <p:spPr bwMode="auto">
            <a:xfrm>
              <a:off x="4303306" y="3235510"/>
              <a:ext cx="98319" cy="83193"/>
            </a:xfrm>
            <a:custGeom>
              <a:avLst/>
              <a:gdLst>
                <a:gd name="T0" fmla="*/ 9 w 11"/>
                <a:gd name="T1" fmla="*/ 9 h 9"/>
                <a:gd name="T2" fmla="*/ 7 w 11"/>
                <a:gd name="T3" fmla="*/ 7 h 9"/>
                <a:gd name="T4" fmla="*/ 0 w 11"/>
                <a:gd name="T5" fmla="*/ 2 h 9"/>
                <a:gd name="T6" fmla="*/ 0 w 11"/>
                <a:gd name="T7" fmla="*/ 1 h 9"/>
                <a:gd name="T8" fmla="*/ 7 w 11"/>
                <a:gd name="T9" fmla="*/ 0 h 9"/>
                <a:gd name="T10" fmla="*/ 9 w 11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9" y="9"/>
                  </a:moveTo>
                  <a:cubicBezTo>
                    <a:pt x="8" y="9"/>
                    <a:pt x="7" y="8"/>
                    <a:pt x="7" y="7"/>
                  </a:cubicBezTo>
                  <a:cubicBezTo>
                    <a:pt x="3" y="6"/>
                    <a:pt x="1" y="5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2" y="1"/>
                    <a:pt x="5" y="0"/>
                    <a:pt x="7" y="0"/>
                  </a:cubicBezTo>
                  <a:cubicBezTo>
                    <a:pt x="11" y="1"/>
                    <a:pt x="10" y="6"/>
                    <a:pt x="9" y="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2" name="Freeform 135"/>
            <p:cNvSpPr/>
            <p:nvPr userDrawn="1"/>
          </p:nvSpPr>
          <p:spPr bwMode="auto">
            <a:xfrm>
              <a:off x="4212550" y="3137191"/>
              <a:ext cx="105882" cy="98319"/>
            </a:xfrm>
            <a:custGeom>
              <a:avLst/>
              <a:gdLst>
                <a:gd name="T0" fmla="*/ 10 w 11"/>
                <a:gd name="T1" fmla="*/ 10 h 10"/>
                <a:gd name="T2" fmla="*/ 9 w 11"/>
                <a:gd name="T3" fmla="*/ 10 h 10"/>
                <a:gd name="T4" fmla="*/ 8 w 11"/>
                <a:gd name="T5" fmla="*/ 8 h 10"/>
                <a:gd name="T6" fmla="*/ 1 w 11"/>
                <a:gd name="T7" fmla="*/ 2 h 10"/>
                <a:gd name="T8" fmla="*/ 4 w 11"/>
                <a:gd name="T9" fmla="*/ 2 h 10"/>
                <a:gd name="T10" fmla="*/ 11 w 11"/>
                <a:gd name="T11" fmla="*/ 5 h 10"/>
                <a:gd name="T12" fmla="*/ 10 w 11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10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4" y="8"/>
                    <a:pt x="0" y="6"/>
                    <a:pt x="1" y="2"/>
                  </a:cubicBezTo>
                  <a:cubicBezTo>
                    <a:pt x="2" y="1"/>
                    <a:pt x="2" y="2"/>
                    <a:pt x="4" y="2"/>
                  </a:cubicBezTo>
                  <a:cubicBezTo>
                    <a:pt x="7" y="2"/>
                    <a:pt x="11" y="0"/>
                    <a:pt x="11" y="5"/>
                  </a:cubicBezTo>
                  <a:cubicBezTo>
                    <a:pt x="11" y="6"/>
                    <a:pt x="10" y="8"/>
                    <a:pt x="10" y="1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3" name="Freeform 136"/>
            <p:cNvSpPr/>
            <p:nvPr userDrawn="1"/>
          </p:nvSpPr>
          <p:spPr bwMode="auto">
            <a:xfrm>
              <a:off x="4749525" y="3212821"/>
              <a:ext cx="1232773" cy="1066386"/>
            </a:xfrm>
            <a:custGeom>
              <a:avLst/>
              <a:gdLst>
                <a:gd name="T0" fmla="*/ 132 w 132"/>
                <a:gd name="T1" fmla="*/ 6 h 113"/>
                <a:gd name="T2" fmla="*/ 98 w 132"/>
                <a:gd name="T3" fmla="*/ 6 h 113"/>
                <a:gd name="T4" fmla="*/ 79 w 132"/>
                <a:gd name="T5" fmla="*/ 25 h 113"/>
                <a:gd name="T6" fmla="*/ 73 w 132"/>
                <a:gd name="T7" fmla="*/ 12 h 113"/>
                <a:gd name="T8" fmla="*/ 83 w 132"/>
                <a:gd name="T9" fmla="*/ 8 h 113"/>
                <a:gd name="T10" fmla="*/ 57 w 132"/>
                <a:gd name="T11" fmla="*/ 8 h 113"/>
                <a:gd name="T12" fmla="*/ 53 w 132"/>
                <a:gd name="T13" fmla="*/ 25 h 113"/>
                <a:gd name="T14" fmla="*/ 34 w 132"/>
                <a:gd name="T15" fmla="*/ 6 h 113"/>
                <a:gd name="T16" fmla="*/ 0 w 132"/>
                <a:gd name="T17" fmla="*/ 6 h 113"/>
                <a:gd name="T18" fmla="*/ 24 w 132"/>
                <a:gd name="T19" fmla="*/ 16 h 113"/>
                <a:gd name="T20" fmla="*/ 27 w 132"/>
                <a:gd name="T21" fmla="*/ 22 h 113"/>
                <a:gd name="T22" fmla="*/ 9 w 132"/>
                <a:gd name="T23" fmla="*/ 22 h 113"/>
                <a:gd name="T24" fmla="*/ 31 w 132"/>
                <a:gd name="T25" fmla="*/ 32 h 113"/>
                <a:gd name="T26" fmla="*/ 34 w 132"/>
                <a:gd name="T27" fmla="*/ 38 h 113"/>
                <a:gd name="T28" fmla="*/ 20 w 132"/>
                <a:gd name="T29" fmla="*/ 39 h 113"/>
                <a:gd name="T30" fmla="*/ 38 w 132"/>
                <a:gd name="T31" fmla="*/ 48 h 113"/>
                <a:gd name="T32" fmla="*/ 41 w 132"/>
                <a:gd name="T33" fmla="*/ 54 h 113"/>
                <a:gd name="T34" fmla="*/ 30 w 132"/>
                <a:gd name="T35" fmla="*/ 54 h 113"/>
                <a:gd name="T36" fmla="*/ 45 w 132"/>
                <a:gd name="T37" fmla="*/ 63 h 113"/>
                <a:gd name="T38" fmla="*/ 47 w 132"/>
                <a:gd name="T39" fmla="*/ 69 h 113"/>
                <a:gd name="T40" fmla="*/ 39 w 132"/>
                <a:gd name="T41" fmla="*/ 69 h 113"/>
                <a:gd name="T42" fmla="*/ 51 w 132"/>
                <a:gd name="T43" fmla="*/ 78 h 113"/>
                <a:gd name="T44" fmla="*/ 51 w 132"/>
                <a:gd name="T45" fmla="*/ 89 h 113"/>
                <a:gd name="T46" fmla="*/ 66 w 132"/>
                <a:gd name="T47" fmla="*/ 113 h 113"/>
                <a:gd name="T48" fmla="*/ 81 w 132"/>
                <a:gd name="T49" fmla="*/ 89 h 113"/>
                <a:gd name="T50" fmla="*/ 81 w 132"/>
                <a:gd name="T51" fmla="*/ 78 h 113"/>
                <a:gd name="T52" fmla="*/ 92 w 132"/>
                <a:gd name="T53" fmla="*/ 69 h 113"/>
                <a:gd name="T54" fmla="*/ 85 w 132"/>
                <a:gd name="T55" fmla="*/ 69 h 113"/>
                <a:gd name="T56" fmla="*/ 87 w 132"/>
                <a:gd name="T57" fmla="*/ 63 h 113"/>
                <a:gd name="T58" fmla="*/ 102 w 132"/>
                <a:gd name="T59" fmla="*/ 54 h 113"/>
                <a:gd name="T60" fmla="*/ 91 w 132"/>
                <a:gd name="T61" fmla="*/ 54 h 113"/>
                <a:gd name="T62" fmla="*/ 93 w 132"/>
                <a:gd name="T63" fmla="*/ 48 h 113"/>
                <a:gd name="T64" fmla="*/ 111 w 132"/>
                <a:gd name="T65" fmla="*/ 39 h 113"/>
                <a:gd name="T66" fmla="*/ 97 w 132"/>
                <a:gd name="T67" fmla="*/ 38 h 113"/>
                <a:gd name="T68" fmla="*/ 100 w 132"/>
                <a:gd name="T69" fmla="*/ 32 h 113"/>
                <a:gd name="T70" fmla="*/ 123 w 132"/>
                <a:gd name="T71" fmla="*/ 22 h 113"/>
                <a:gd name="T72" fmla="*/ 105 w 132"/>
                <a:gd name="T73" fmla="*/ 22 h 113"/>
                <a:gd name="T74" fmla="*/ 107 w 132"/>
                <a:gd name="T75" fmla="*/ 16 h 113"/>
                <a:gd name="T76" fmla="*/ 132 w 132"/>
                <a:gd name="T77" fmla="*/ 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2" h="113">
                  <a:moveTo>
                    <a:pt x="132" y="6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88" y="6"/>
                    <a:pt x="83" y="16"/>
                    <a:pt x="79" y="25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77" y="3"/>
                    <a:pt x="59" y="0"/>
                    <a:pt x="57" y="8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0" y="17"/>
                    <a:pt x="45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8" y="17"/>
                    <a:pt x="24" y="16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2"/>
                    <a:pt x="17" y="32"/>
                    <a:pt x="31" y="32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3" y="45"/>
                    <a:pt x="27" y="48"/>
                    <a:pt x="38" y="48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4" y="61"/>
                    <a:pt x="36" y="64"/>
                    <a:pt x="45" y="6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3" y="77"/>
                    <a:pt x="46" y="77"/>
                    <a:pt x="51" y="78"/>
                  </a:cubicBezTo>
                  <a:cubicBezTo>
                    <a:pt x="55" y="78"/>
                    <a:pt x="56" y="86"/>
                    <a:pt x="51" y="89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76" y="86"/>
                    <a:pt x="76" y="78"/>
                    <a:pt x="81" y="78"/>
                  </a:cubicBezTo>
                  <a:cubicBezTo>
                    <a:pt x="85" y="77"/>
                    <a:pt x="89" y="77"/>
                    <a:pt x="92" y="69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96" y="64"/>
                    <a:pt x="98" y="60"/>
                    <a:pt x="102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105" y="48"/>
                    <a:pt x="108" y="45"/>
                    <a:pt x="111" y="39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15" y="32"/>
                    <a:pt x="118" y="32"/>
                    <a:pt x="123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23" y="17"/>
                    <a:pt x="128" y="14"/>
                    <a:pt x="132" y="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4" name="Freeform 137"/>
            <p:cNvSpPr>
              <a:spLocks noEditPoints="1"/>
            </p:cNvSpPr>
            <p:nvPr userDrawn="1"/>
          </p:nvSpPr>
          <p:spPr bwMode="auto">
            <a:xfrm>
              <a:off x="6004987" y="2993493"/>
              <a:ext cx="484034" cy="325210"/>
            </a:xfrm>
            <a:custGeom>
              <a:avLst/>
              <a:gdLst>
                <a:gd name="T0" fmla="*/ 51 w 52"/>
                <a:gd name="T1" fmla="*/ 10 h 34"/>
                <a:gd name="T2" fmla="*/ 48 w 52"/>
                <a:gd name="T3" fmla="*/ 10 h 34"/>
                <a:gd name="T4" fmla="*/ 47 w 52"/>
                <a:gd name="T5" fmla="*/ 8 h 34"/>
                <a:gd name="T6" fmla="*/ 50 w 52"/>
                <a:gd name="T7" fmla="*/ 7 h 34"/>
                <a:gd name="T8" fmla="*/ 52 w 52"/>
                <a:gd name="T9" fmla="*/ 2 h 34"/>
                <a:gd name="T10" fmla="*/ 44 w 52"/>
                <a:gd name="T11" fmla="*/ 3 h 34"/>
                <a:gd name="T12" fmla="*/ 36 w 52"/>
                <a:gd name="T13" fmla="*/ 1 h 34"/>
                <a:gd name="T14" fmla="*/ 36 w 52"/>
                <a:gd name="T15" fmla="*/ 3 h 34"/>
                <a:gd name="T16" fmla="*/ 35 w 52"/>
                <a:gd name="T17" fmla="*/ 4 h 34"/>
                <a:gd name="T18" fmla="*/ 35 w 52"/>
                <a:gd name="T19" fmla="*/ 5 h 34"/>
                <a:gd name="T20" fmla="*/ 34 w 52"/>
                <a:gd name="T21" fmla="*/ 7 h 34"/>
                <a:gd name="T22" fmla="*/ 34 w 52"/>
                <a:gd name="T23" fmla="*/ 6 h 34"/>
                <a:gd name="T24" fmla="*/ 30 w 52"/>
                <a:gd name="T25" fmla="*/ 5 h 34"/>
                <a:gd name="T26" fmla="*/ 28 w 52"/>
                <a:gd name="T27" fmla="*/ 9 h 34"/>
                <a:gd name="T28" fmla="*/ 28 w 52"/>
                <a:gd name="T29" fmla="*/ 10 h 34"/>
                <a:gd name="T30" fmla="*/ 31 w 52"/>
                <a:gd name="T31" fmla="*/ 11 h 34"/>
                <a:gd name="T32" fmla="*/ 33 w 52"/>
                <a:gd name="T33" fmla="*/ 12 h 34"/>
                <a:gd name="T34" fmla="*/ 30 w 52"/>
                <a:gd name="T35" fmla="*/ 14 h 34"/>
                <a:gd name="T36" fmla="*/ 26 w 52"/>
                <a:gd name="T37" fmla="*/ 14 h 34"/>
                <a:gd name="T38" fmla="*/ 13 w 52"/>
                <a:gd name="T39" fmla="*/ 11 h 34"/>
                <a:gd name="T40" fmla="*/ 13 w 52"/>
                <a:gd name="T41" fmla="*/ 12 h 34"/>
                <a:gd name="T42" fmla="*/ 20 w 52"/>
                <a:gd name="T43" fmla="*/ 16 h 34"/>
                <a:gd name="T44" fmla="*/ 32 w 52"/>
                <a:gd name="T45" fmla="*/ 20 h 34"/>
                <a:gd name="T46" fmla="*/ 31 w 52"/>
                <a:gd name="T47" fmla="*/ 20 h 34"/>
                <a:gd name="T48" fmla="*/ 24 w 52"/>
                <a:gd name="T49" fmla="*/ 20 h 34"/>
                <a:gd name="T50" fmla="*/ 19 w 52"/>
                <a:gd name="T51" fmla="*/ 19 h 34"/>
                <a:gd name="T52" fmla="*/ 18 w 52"/>
                <a:gd name="T53" fmla="*/ 19 h 34"/>
                <a:gd name="T54" fmla="*/ 4 w 52"/>
                <a:gd name="T55" fmla="*/ 14 h 34"/>
                <a:gd name="T56" fmla="*/ 2 w 52"/>
                <a:gd name="T57" fmla="*/ 12 h 34"/>
                <a:gd name="T58" fmla="*/ 3 w 52"/>
                <a:gd name="T59" fmla="*/ 20 h 34"/>
                <a:gd name="T60" fmla="*/ 13 w 52"/>
                <a:gd name="T61" fmla="*/ 23 h 34"/>
                <a:gd name="T62" fmla="*/ 13 w 52"/>
                <a:gd name="T63" fmla="*/ 24 h 34"/>
                <a:gd name="T64" fmla="*/ 9 w 52"/>
                <a:gd name="T65" fmla="*/ 27 h 34"/>
                <a:gd name="T66" fmla="*/ 4 w 52"/>
                <a:gd name="T67" fmla="*/ 26 h 34"/>
                <a:gd name="T68" fmla="*/ 9 w 52"/>
                <a:gd name="T69" fmla="*/ 33 h 34"/>
                <a:gd name="T70" fmla="*/ 10 w 52"/>
                <a:gd name="T71" fmla="*/ 34 h 34"/>
                <a:gd name="T72" fmla="*/ 18 w 52"/>
                <a:gd name="T73" fmla="*/ 28 h 34"/>
                <a:gd name="T74" fmla="*/ 23 w 52"/>
                <a:gd name="T75" fmla="*/ 28 h 34"/>
                <a:gd name="T76" fmla="*/ 22 w 52"/>
                <a:gd name="T77" fmla="*/ 23 h 34"/>
                <a:gd name="T78" fmla="*/ 23 w 52"/>
                <a:gd name="T79" fmla="*/ 21 h 34"/>
                <a:gd name="T80" fmla="*/ 30 w 52"/>
                <a:gd name="T81" fmla="*/ 22 h 34"/>
                <a:gd name="T82" fmla="*/ 36 w 52"/>
                <a:gd name="T83" fmla="*/ 25 h 34"/>
                <a:gd name="T84" fmla="*/ 39 w 52"/>
                <a:gd name="T85" fmla="*/ 21 h 34"/>
                <a:gd name="T86" fmla="*/ 39 w 52"/>
                <a:gd name="T87" fmla="*/ 20 h 34"/>
                <a:gd name="T88" fmla="*/ 51 w 52"/>
                <a:gd name="T89" fmla="*/ 14 h 34"/>
                <a:gd name="T90" fmla="*/ 38 w 52"/>
                <a:gd name="T91" fmla="*/ 14 h 34"/>
                <a:gd name="T92" fmla="*/ 38 w 52"/>
                <a:gd name="T93" fmla="*/ 12 h 34"/>
                <a:gd name="T94" fmla="*/ 36 w 52"/>
                <a:gd name="T95" fmla="*/ 11 h 34"/>
                <a:gd name="T96" fmla="*/ 36 w 52"/>
                <a:gd name="T97" fmla="*/ 10 h 34"/>
                <a:gd name="T98" fmla="*/ 40 w 52"/>
                <a:gd name="T99" fmla="*/ 9 h 34"/>
                <a:gd name="T100" fmla="*/ 43 w 52"/>
                <a:gd name="T101" fmla="*/ 14 h 34"/>
                <a:gd name="T102" fmla="*/ 38 w 52"/>
                <a:gd name="T103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" h="34">
                  <a:moveTo>
                    <a:pt x="51" y="13"/>
                  </a:move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1" y="11"/>
                    <a:pt x="51" y="10"/>
                  </a:cubicBezTo>
                  <a:cubicBezTo>
                    <a:pt x="51" y="10"/>
                    <a:pt x="50" y="10"/>
                    <a:pt x="50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7"/>
                    <a:pt x="49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6"/>
                    <a:pt x="52" y="4"/>
                    <a:pt x="52" y="2"/>
                  </a:cubicBezTo>
                  <a:cubicBezTo>
                    <a:pt x="52" y="2"/>
                    <a:pt x="51" y="2"/>
                    <a:pt x="50" y="2"/>
                  </a:cubicBezTo>
                  <a:cubicBezTo>
                    <a:pt x="49" y="2"/>
                    <a:pt x="48" y="2"/>
                    <a:pt x="46" y="3"/>
                  </a:cubicBezTo>
                  <a:cubicBezTo>
                    <a:pt x="46" y="3"/>
                    <a:pt x="45" y="3"/>
                    <a:pt x="44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1" y="2"/>
                    <a:pt x="41" y="2"/>
                    <a:pt x="36" y="0"/>
                  </a:cubicBezTo>
                  <a:cubicBezTo>
                    <a:pt x="36" y="0"/>
                    <a:pt x="36" y="0"/>
                    <a:pt x="36" y="1"/>
                  </a:cubicBezTo>
                  <a:cubicBezTo>
                    <a:pt x="35" y="1"/>
                    <a:pt x="35" y="2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3" y="6"/>
                    <a:pt x="33" y="6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8"/>
                    <a:pt x="28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8"/>
                    <a:pt x="26" y="9"/>
                    <a:pt x="26" y="9"/>
                  </a:cubicBezTo>
                  <a:cubicBezTo>
                    <a:pt x="26" y="10"/>
                    <a:pt x="26" y="10"/>
                    <a:pt x="28" y="10"/>
                  </a:cubicBezTo>
                  <a:cubicBezTo>
                    <a:pt x="29" y="10"/>
                    <a:pt x="29" y="11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4"/>
                    <a:pt x="27" y="14"/>
                    <a:pt x="26" y="14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3"/>
                    <a:pt x="18" y="12"/>
                    <a:pt x="15" y="11"/>
                  </a:cubicBezTo>
                  <a:cubicBezTo>
                    <a:pt x="15" y="11"/>
                    <a:pt x="14" y="11"/>
                    <a:pt x="13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2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13"/>
                    <a:pt x="14" y="15"/>
                    <a:pt x="16" y="16"/>
                  </a:cubicBezTo>
                  <a:cubicBezTo>
                    <a:pt x="17" y="16"/>
                    <a:pt x="18" y="16"/>
                    <a:pt x="20" y="16"/>
                  </a:cubicBezTo>
                  <a:cubicBezTo>
                    <a:pt x="23" y="16"/>
                    <a:pt x="28" y="17"/>
                    <a:pt x="31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0"/>
                    <a:pt x="30" y="21"/>
                    <a:pt x="30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20"/>
                    <a:pt x="26" y="20"/>
                    <a:pt x="24" y="20"/>
                  </a:cubicBezTo>
                  <a:cubicBezTo>
                    <a:pt x="23" y="19"/>
                    <a:pt x="22" y="18"/>
                    <a:pt x="21" y="18"/>
                  </a:cubicBezTo>
                  <a:cubicBezTo>
                    <a:pt x="21" y="18"/>
                    <a:pt x="20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7" y="19"/>
                  </a:cubicBezTo>
                  <a:cubicBezTo>
                    <a:pt x="16" y="19"/>
                    <a:pt x="15" y="18"/>
                    <a:pt x="14" y="18"/>
                  </a:cubicBezTo>
                  <a:cubicBezTo>
                    <a:pt x="10" y="17"/>
                    <a:pt x="7" y="16"/>
                    <a:pt x="4" y="14"/>
                  </a:cubicBezTo>
                  <a:cubicBezTo>
                    <a:pt x="3" y="13"/>
                    <a:pt x="3" y="13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0" y="14"/>
                    <a:pt x="2" y="19"/>
                    <a:pt x="3" y="20"/>
                  </a:cubicBezTo>
                  <a:cubicBezTo>
                    <a:pt x="4" y="20"/>
                    <a:pt x="5" y="21"/>
                    <a:pt x="6" y="21"/>
                  </a:cubicBezTo>
                  <a:cubicBezTo>
                    <a:pt x="8" y="21"/>
                    <a:pt x="11" y="22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5"/>
                    <a:pt x="11" y="26"/>
                    <a:pt x="10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8" y="28"/>
                    <a:pt x="8" y="28"/>
                  </a:cubicBezTo>
                  <a:cubicBezTo>
                    <a:pt x="7" y="28"/>
                    <a:pt x="5" y="27"/>
                    <a:pt x="4" y="26"/>
                  </a:cubicBezTo>
                  <a:cubicBezTo>
                    <a:pt x="4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9"/>
                    <a:pt x="6" y="31"/>
                    <a:pt x="9" y="33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4"/>
                    <a:pt x="15" y="31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1" y="27"/>
                    <a:pt x="22" y="27"/>
                    <a:pt x="23" y="28"/>
                  </a:cubicBezTo>
                  <a:cubicBezTo>
                    <a:pt x="24" y="28"/>
                    <a:pt x="25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6" y="21"/>
                    <a:pt x="28" y="22"/>
                    <a:pt x="30" y="2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4"/>
                    <a:pt x="35" y="25"/>
                    <a:pt x="36" y="25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3"/>
                    <a:pt x="39" y="22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40" y="21"/>
                    <a:pt x="40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40" y="20"/>
                    <a:pt x="40" y="20"/>
                  </a:cubicBezTo>
                  <a:cubicBezTo>
                    <a:pt x="43" y="19"/>
                    <a:pt x="47" y="17"/>
                    <a:pt x="50" y="16"/>
                  </a:cubicBezTo>
                  <a:cubicBezTo>
                    <a:pt x="51" y="15"/>
                    <a:pt x="52" y="15"/>
                    <a:pt x="51" y="14"/>
                  </a:cubicBezTo>
                  <a:cubicBezTo>
                    <a:pt x="51" y="13"/>
                    <a:pt x="51" y="13"/>
                    <a:pt x="51" y="13"/>
                  </a:cubicBezTo>
                  <a:moveTo>
                    <a:pt x="37" y="15"/>
                  </a:moveTo>
                  <a:cubicBezTo>
                    <a:pt x="38" y="14"/>
                    <a:pt x="38" y="14"/>
                    <a:pt x="38" y="14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10"/>
                    <a:pt x="43" y="11"/>
                    <a:pt x="43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0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7" y="15"/>
                    <a:pt x="37" y="15"/>
                    <a:pt x="3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5" name="Freeform 138"/>
            <p:cNvSpPr/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0 w 8"/>
                <a:gd name="T3" fmla="*/ 14 h 15"/>
                <a:gd name="T4" fmla="*/ 2 w 8"/>
                <a:gd name="T5" fmla="*/ 9 h 15"/>
                <a:gd name="T6" fmla="*/ 3 w 8"/>
                <a:gd name="T7" fmla="*/ 8 h 15"/>
                <a:gd name="T8" fmla="*/ 3 w 8"/>
                <a:gd name="T9" fmla="*/ 8 h 15"/>
                <a:gd name="T10" fmla="*/ 3 w 8"/>
                <a:gd name="T11" fmla="*/ 7 h 15"/>
                <a:gd name="T12" fmla="*/ 4 w 8"/>
                <a:gd name="T13" fmla="*/ 5 h 15"/>
                <a:gd name="T14" fmla="*/ 5 w 8"/>
                <a:gd name="T15" fmla="*/ 4 h 15"/>
                <a:gd name="T16" fmla="*/ 7 w 8"/>
                <a:gd name="T17" fmla="*/ 0 h 15"/>
                <a:gd name="T18" fmla="*/ 8 w 8"/>
                <a:gd name="T19" fmla="*/ 1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3 h 15"/>
                <a:gd name="T26" fmla="*/ 8 w 8"/>
                <a:gd name="T27" fmla="*/ 7 h 15"/>
                <a:gd name="T28" fmla="*/ 8 w 8"/>
                <a:gd name="T29" fmla="*/ 8 h 15"/>
                <a:gd name="T30" fmla="*/ 8 w 8"/>
                <a:gd name="T31" fmla="*/ 9 h 15"/>
                <a:gd name="T32" fmla="*/ 6 w 8"/>
                <a:gd name="T33" fmla="*/ 13 h 15"/>
                <a:gd name="T34" fmla="*/ 5 w 8"/>
                <a:gd name="T35" fmla="*/ 14 h 15"/>
                <a:gd name="T36" fmla="*/ 5 w 8"/>
                <a:gd name="T37" fmla="*/ 14 h 15"/>
                <a:gd name="T38" fmla="*/ 3 w 8"/>
                <a:gd name="T39" fmla="*/ 15 h 15"/>
                <a:gd name="T40" fmla="*/ 2 w 8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2" y="15"/>
                    <a:pt x="1" y="14"/>
                    <a:pt x="0" y="14"/>
                  </a:cubicBezTo>
                  <a:cubicBezTo>
                    <a:pt x="0" y="12"/>
                    <a:pt x="1" y="11"/>
                    <a:pt x="2" y="9"/>
                  </a:cubicBezTo>
                  <a:cubicBezTo>
                    <a:pt x="2" y="9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6"/>
                    <a:pt x="4" y="5"/>
                  </a:cubicBezTo>
                  <a:cubicBezTo>
                    <a:pt x="4" y="5"/>
                    <a:pt x="4" y="4"/>
                    <a:pt x="5" y="4"/>
                  </a:cubicBezTo>
                  <a:cubicBezTo>
                    <a:pt x="5" y="2"/>
                    <a:pt x="6" y="0"/>
                    <a:pt x="7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6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9"/>
                    <a:pt x="8" y="9"/>
                  </a:cubicBezTo>
                  <a:cubicBezTo>
                    <a:pt x="7" y="11"/>
                    <a:pt x="7" y="12"/>
                    <a:pt x="6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3" y="15"/>
                    <a:pt x="3" y="15"/>
                  </a:cubicBezTo>
                  <a:lnTo>
                    <a:pt x="2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6" name="Freeform 139"/>
            <p:cNvSpPr/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3 w 8"/>
                <a:gd name="T3" fmla="*/ 15 h 15"/>
                <a:gd name="T4" fmla="*/ 5 w 8"/>
                <a:gd name="T5" fmla="*/ 14 h 15"/>
                <a:gd name="T6" fmla="*/ 5 w 8"/>
                <a:gd name="T7" fmla="*/ 14 h 15"/>
                <a:gd name="T8" fmla="*/ 6 w 8"/>
                <a:gd name="T9" fmla="*/ 13 h 15"/>
                <a:gd name="T10" fmla="*/ 8 w 8"/>
                <a:gd name="T11" fmla="*/ 9 h 15"/>
                <a:gd name="T12" fmla="*/ 8 w 8"/>
                <a:gd name="T13" fmla="*/ 8 h 15"/>
                <a:gd name="T14" fmla="*/ 8 w 8"/>
                <a:gd name="T15" fmla="*/ 7 h 15"/>
                <a:gd name="T16" fmla="*/ 8 w 8"/>
                <a:gd name="T17" fmla="*/ 3 h 15"/>
                <a:gd name="T18" fmla="*/ 8 w 8"/>
                <a:gd name="T19" fmla="*/ 2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1 h 15"/>
                <a:gd name="T26" fmla="*/ 7 w 8"/>
                <a:gd name="T27" fmla="*/ 0 h 15"/>
                <a:gd name="T28" fmla="*/ 5 w 8"/>
                <a:gd name="T29" fmla="*/ 4 h 15"/>
                <a:gd name="T30" fmla="*/ 4 w 8"/>
                <a:gd name="T31" fmla="*/ 5 h 15"/>
                <a:gd name="T32" fmla="*/ 3 w 8"/>
                <a:gd name="T33" fmla="*/ 7 h 15"/>
                <a:gd name="T34" fmla="*/ 3 w 8"/>
                <a:gd name="T35" fmla="*/ 8 h 15"/>
                <a:gd name="T36" fmla="*/ 3 w 8"/>
                <a:gd name="T37" fmla="*/ 8 h 15"/>
                <a:gd name="T38" fmla="*/ 2 w 8"/>
                <a:gd name="T39" fmla="*/ 9 h 15"/>
                <a:gd name="T40" fmla="*/ 0 w 8"/>
                <a:gd name="T41" fmla="*/ 14 h 15"/>
                <a:gd name="T42" fmla="*/ 2 w 8"/>
                <a:gd name="T4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4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2"/>
                    <a:pt x="7" y="10"/>
                    <a:pt x="8" y="9"/>
                  </a:cubicBezTo>
                  <a:cubicBezTo>
                    <a:pt x="8" y="9"/>
                    <a:pt x="8" y="8"/>
                    <a:pt x="8" y="8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5"/>
                    <a:pt x="8" y="3"/>
                  </a:cubicBezTo>
                  <a:cubicBezTo>
                    <a:pt x="8" y="3"/>
                    <a:pt x="8" y="3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2"/>
                    <a:pt x="5" y="4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9"/>
                    <a:pt x="2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1" y="14"/>
                    <a:pt x="2" y="15"/>
                    <a:pt x="2" y="1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7" name="Freeform 140"/>
            <p:cNvSpPr/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1 w 6"/>
                <a:gd name="T3" fmla="*/ 6 h 7"/>
                <a:gd name="T4" fmla="*/ 5 w 6"/>
                <a:gd name="T5" fmla="*/ 0 h 7"/>
                <a:gd name="T6" fmla="*/ 6 w 6"/>
                <a:gd name="T7" fmla="*/ 1 h 7"/>
                <a:gd name="T8" fmla="*/ 5 w 6"/>
                <a:gd name="T9" fmla="*/ 5 h 7"/>
                <a:gd name="T10" fmla="*/ 3 w 6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2" y="6"/>
                    <a:pt x="1" y="6"/>
                  </a:cubicBezTo>
                  <a:cubicBezTo>
                    <a:pt x="0" y="3"/>
                    <a:pt x="4" y="0"/>
                    <a:pt x="5" y="0"/>
                  </a:cubicBezTo>
                  <a:cubicBezTo>
                    <a:pt x="5" y="0"/>
                    <a:pt x="6" y="1"/>
                    <a:pt x="6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8" name="Freeform 141"/>
            <p:cNvSpPr/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3 w 6"/>
                <a:gd name="T3" fmla="*/ 7 h 7"/>
                <a:gd name="T4" fmla="*/ 5 w 6"/>
                <a:gd name="T5" fmla="*/ 5 h 7"/>
                <a:gd name="T6" fmla="*/ 6 w 6"/>
                <a:gd name="T7" fmla="*/ 1 h 7"/>
                <a:gd name="T8" fmla="*/ 5 w 6"/>
                <a:gd name="T9" fmla="*/ 0 h 7"/>
                <a:gd name="T10" fmla="*/ 1 w 6"/>
                <a:gd name="T11" fmla="*/ 6 h 7"/>
                <a:gd name="T12" fmla="*/ 3 w 6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6" y="4"/>
                    <a:pt x="6" y="2"/>
                    <a:pt x="6" y="1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4" y="0"/>
                    <a:pt x="0" y="3"/>
                    <a:pt x="1" y="6"/>
                  </a:cubicBezTo>
                  <a:cubicBezTo>
                    <a:pt x="2" y="6"/>
                    <a:pt x="3" y="7"/>
                    <a:pt x="3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615315" y="4775200"/>
            <a:ext cx="3010535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汇报人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: </a:t>
            </a: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包博文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贾越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杨世博</a:t>
            </a:r>
            <a:endParaRPr lang="en-US" altLang="zh-CN" b="1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指导老师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: </a:t>
            </a: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谭俊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endParaRPr lang="en-US" altLang="zh-CN" b="1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ChangeArrowheads="1"/>
          </p:cNvSpPr>
          <p:nvPr/>
        </p:nvSpPr>
        <p:spPr bwMode="auto">
          <a:xfrm>
            <a:off x="0" y="0"/>
            <a:ext cx="4008438" cy="6858000"/>
          </a:xfrm>
          <a:prstGeom prst="rect">
            <a:avLst/>
          </a:prstGeom>
          <a:solidFill>
            <a:srgbClr val="A123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395E8A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99" name="TextBox 15"/>
          <p:cNvSpPr>
            <a:spLocks noChangeArrowheads="1"/>
          </p:cNvSpPr>
          <p:nvPr/>
        </p:nvSpPr>
        <p:spPr bwMode="auto">
          <a:xfrm>
            <a:off x="817245" y="2586038"/>
            <a:ext cx="23749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zh-CN" sz="3200">
                <a:solidFill>
                  <a:schemeClr val="bg1"/>
                </a:solidFill>
                <a:latin typeface="Times New Roman" panose="02020603050405020304" pitchFamily="18" charset="0"/>
                <a:ea typeface="Adobe 宋体 Std L" pitchFamily="2" charset="-122"/>
                <a:cs typeface="Times New Roman" panose="02020603050405020304" pitchFamily="18" charset="0"/>
                <a:sym typeface="微软简中圆" charset="0"/>
              </a:rPr>
              <a:t>Contents Page</a:t>
            </a:r>
            <a:endParaRPr lang="zh-CN" altLang="zh-CN" sz="3200">
              <a:solidFill>
                <a:schemeClr val="bg1"/>
              </a:solidFill>
              <a:latin typeface="Times New Roman" panose="02020603050405020304" pitchFamily="18" charset="0"/>
              <a:ea typeface="Adobe 宋体 Std L" pitchFamily="2" charset="-122"/>
              <a:cs typeface="Times New Roman" panose="02020603050405020304" pitchFamily="18" charset="0"/>
              <a:sym typeface="微软简中圆" charset="0"/>
            </a:endParaRPr>
          </a:p>
        </p:txBody>
      </p:sp>
      <p:sp>
        <p:nvSpPr>
          <p:cNvPr id="4100" name="文本框 52"/>
          <p:cNvSpPr>
            <a:spLocks noChangeArrowheads="1"/>
          </p:cNvSpPr>
          <p:nvPr/>
        </p:nvSpPr>
        <p:spPr bwMode="auto">
          <a:xfrm>
            <a:off x="817245" y="1700213"/>
            <a:ext cx="23749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zh-CN" sz="5000" b="1">
                <a:solidFill>
                  <a:schemeClr val="bg1"/>
                </a:solidFill>
                <a:ea typeface="微软雅黑" panose="020B0503020204020204" pitchFamily="34" charset="-122"/>
              </a:rPr>
              <a:t>目录页</a:t>
            </a:r>
            <a:endParaRPr lang="zh-CN" altLang="zh-CN" sz="5000" b="1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TextBox 6"/>
          <p:cNvSpPr>
            <a:spLocks noChangeArrowheads="1"/>
          </p:cNvSpPr>
          <p:nvPr/>
        </p:nvSpPr>
        <p:spPr bwMode="auto">
          <a:xfrm>
            <a:off x="5750116" y="1237900"/>
            <a:ext cx="5134865" cy="3877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项目背景</a:t>
            </a:r>
            <a:endParaRPr lang="en-US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endParaRPr lang="en-US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技术方案</a:t>
            </a:r>
            <a:endParaRPr lang="en-US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endParaRPr lang="en-US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最终成果</a:t>
            </a:r>
            <a:endParaRPr lang="zh-CN" altLang="en-US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endParaRPr lang="en-US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总结与展望</a:t>
            </a:r>
            <a:endParaRPr lang="zh-CN" altLang="en-US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286902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430001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01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37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8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</a:t>
            </a:r>
            <a:r>
              <a:rPr lang="zh-CN" altLang="en-US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背景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46" name="矩形 1045"/>
          <p:cNvSpPr/>
          <p:nvPr/>
        </p:nvSpPr>
        <p:spPr>
          <a:xfrm>
            <a:off x="480790" y="1390465"/>
            <a:ext cx="8555210" cy="41735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2387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7" name="矩形 1046"/>
          <p:cNvSpPr/>
          <p:nvPr/>
        </p:nvSpPr>
        <p:spPr>
          <a:xfrm>
            <a:off x="531495" y="4471670"/>
            <a:ext cx="10389870" cy="49149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285750" marR="0" lvl="0" indent="-285750" algn="just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AI Agent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从对话工具升级为自主消费主体时，如何重构适配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AI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生态的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支付底层逻辑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" name="矩形: 圆角 1047"/>
          <p:cNvSpPr/>
          <p:nvPr/>
        </p:nvSpPr>
        <p:spPr>
          <a:xfrm>
            <a:off x="1407160" y="5732780"/>
            <a:ext cx="1429385" cy="34544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购买数字资源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9" name="矩形: 圆角 1048"/>
          <p:cNvSpPr/>
          <p:nvPr/>
        </p:nvSpPr>
        <p:spPr>
          <a:xfrm>
            <a:off x="3252373" y="5215530"/>
            <a:ext cx="1371830" cy="3456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账户体系复杂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50" name="矩形: 圆角 1049"/>
          <p:cNvSpPr/>
          <p:nvPr/>
        </p:nvSpPr>
        <p:spPr>
          <a:xfrm>
            <a:off x="3257958" y="5733930"/>
            <a:ext cx="1371830" cy="3456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结算滞后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051" name="连接符: 肘形 1050"/>
          <p:cNvCxnSpPr>
            <a:stCxn id="1048" idx="3"/>
            <a:endCxn id="1049" idx="1"/>
          </p:cNvCxnSpPr>
          <p:nvPr/>
        </p:nvCxnSpPr>
        <p:spPr>
          <a:xfrm flipV="1">
            <a:off x="2836545" y="5387975"/>
            <a:ext cx="415925" cy="517525"/>
          </a:xfrm>
          <a:prstGeom prst="bentConnector3">
            <a:avLst>
              <a:gd name="adj1" fmla="val 50076"/>
            </a:avLst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52" name="连接符: 肘形 1051"/>
          <p:cNvCxnSpPr>
            <a:stCxn id="1048" idx="3"/>
            <a:endCxn id="1050" idx="1"/>
          </p:cNvCxnSpPr>
          <p:nvPr/>
        </p:nvCxnSpPr>
        <p:spPr>
          <a:xfrm>
            <a:off x="2836545" y="5905500"/>
            <a:ext cx="421640" cy="127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54" name="矩形: 圆角 1053"/>
          <p:cNvSpPr/>
          <p:nvPr/>
        </p:nvSpPr>
        <p:spPr>
          <a:xfrm>
            <a:off x="3258468" y="6268092"/>
            <a:ext cx="1371830" cy="3456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出金困难</a:t>
            </a:r>
            <a:endParaRPr kumimoji="0" lang="zh-CN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055" name="连接符: 肘形 1054"/>
          <p:cNvCxnSpPr>
            <a:stCxn id="1048" idx="3"/>
            <a:endCxn id="1054" idx="1"/>
          </p:cNvCxnSpPr>
          <p:nvPr/>
        </p:nvCxnSpPr>
        <p:spPr>
          <a:xfrm>
            <a:off x="2836545" y="5905500"/>
            <a:ext cx="421640" cy="53530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61" name="椭圆 1060"/>
          <p:cNvSpPr/>
          <p:nvPr/>
        </p:nvSpPr>
        <p:spPr>
          <a:xfrm>
            <a:off x="6673850" y="5078856"/>
            <a:ext cx="633600" cy="633600"/>
          </a:xfrm>
          <a:prstGeom prst="ellipse">
            <a:avLst/>
          </a:prstGeom>
          <a:solidFill>
            <a:srgbClr val="4CBFA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62" name="椭圆 1061"/>
          <p:cNvSpPr/>
          <p:nvPr/>
        </p:nvSpPr>
        <p:spPr>
          <a:xfrm>
            <a:off x="6673850" y="6046477"/>
            <a:ext cx="633600" cy="633600"/>
          </a:xfrm>
          <a:prstGeom prst="ellipse">
            <a:avLst/>
          </a:prstGeom>
          <a:solidFill>
            <a:srgbClr val="4CBFA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USDC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63" name="椭圆 1062"/>
          <p:cNvSpPr/>
          <p:nvPr/>
        </p:nvSpPr>
        <p:spPr>
          <a:xfrm>
            <a:off x="6674270" y="5590786"/>
            <a:ext cx="633600" cy="633600"/>
          </a:xfrm>
          <a:prstGeom prst="ellipse">
            <a:avLst/>
          </a:prstGeom>
          <a:solidFill>
            <a:srgbClr val="174A73">
              <a:lumMod val="60000"/>
              <a:lumOff val="40000"/>
            </a:srgb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x402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64" name="椭圆 1063"/>
          <p:cNvSpPr/>
          <p:nvPr/>
        </p:nvSpPr>
        <p:spPr>
          <a:xfrm>
            <a:off x="8660130" y="5386705"/>
            <a:ext cx="1026795" cy="1009650"/>
          </a:xfrm>
          <a:prstGeom prst="ellipse">
            <a:avLst/>
          </a:prstGeom>
          <a:solidFill>
            <a:srgbClr val="174A73">
              <a:lumMod val="60000"/>
              <a:lumOff val="40000"/>
            </a:srgb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Agentic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Payment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066" name="直接箭头连接符 1065"/>
          <p:cNvCxnSpPr>
            <a:stCxn id="1061" idx="6"/>
            <a:endCxn id="1064" idx="1"/>
          </p:cNvCxnSpPr>
          <p:nvPr/>
        </p:nvCxnSpPr>
        <p:spPr>
          <a:xfrm>
            <a:off x="7307450" y="5395656"/>
            <a:ext cx="1503045" cy="139065"/>
          </a:xfrm>
          <a:prstGeom prst="straightConnector1">
            <a:avLst/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67" name="直接箭头连接符 1066"/>
          <p:cNvCxnSpPr>
            <a:stCxn id="1062" idx="6"/>
            <a:endCxn id="1064" idx="3"/>
          </p:cNvCxnSpPr>
          <p:nvPr/>
        </p:nvCxnSpPr>
        <p:spPr>
          <a:xfrm flipV="1">
            <a:off x="7307450" y="6248342"/>
            <a:ext cx="1503045" cy="114935"/>
          </a:xfrm>
          <a:prstGeom prst="straightConnector1">
            <a:avLst/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68" name="直接箭头连接符 1067"/>
          <p:cNvCxnSpPr>
            <a:stCxn id="1063" idx="6"/>
            <a:endCxn id="1064" idx="2"/>
          </p:cNvCxnSpPr>
          <p:nvPr/>
        </p:nvCxnSpPr>
        <p:spPr>
          <a:xfrm flipV="1">
            <a:off x="7308505" y="5891711"/>
            <a:ext cx="1351915" cy="15875"/>
          </a:xfrm>
          <a:prstGeom prst="straightConnector1">
            <a:avLst/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70" name="箭头: 右 1069"/>
          <p:cNvSpPr/>
          <p:nvPr/>
        </p:nvSpPr>
        <p:spPr>
          <a:xfrm>
            <a:off x="4996815" y="5762625"/>
            <a:ext cx="1275715" cy="276860"/>
          </a:xfrm>
          <a:prstGeom prst="rightArrow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思源黑体 CN ExtraLight"/>
              <a:cs typeface="+mn-cs"/>
            </a:endParaRPr>
          </a:p>
        </p:txBody>
      </p:sp>
      <p:sp>
        <p:nvSpPr>
          <p:cNvPr id="1071" name="文本框 1070"/>
          <p:cNvSpPr txBox="1"/>
          <p:nvPr/>
        </p:nvSpPr>
        <p:spPr>
          <a:xfrm>
            <a:off x="4948592" y="5403972"/>
            <a:ext cx="12331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74A73"/>
                </a:solidFill>
                <a:ea typeface="思源黑体 CN ExtraLight"/>
              </a:rPr>
              <a:t>Stablepay</a:t>
            </a:r>
            <a:endParaRPr lang="zh-CN" altLang="en-US" b="1" dirty="0">
              <a:solidFill>
                <a:srgbClr val="174A73"/>
              </a:solidFill>
              <a:ea typeface="思源黑体 CN ExtraLight"/>
            </a:endParaRPr>
          </a:p>
        </p:txBody>
      </p:sp>
      <p:grpSp>
        <p:nvGrpSpPr>
          <p:cNvPr id="1081" name="组合 1080"/>
          <p:cNvGrpSpPr/>
          <p:nvPr/>
        </p:nvGrpSpPr>
        <p:grpSpPr>
          <a:xfrm>
            <a:off x="1007745" y="1560195"/>
            <a:ext cx="9374505" cy="1005205"/>
            <a:chOff x="675130" y="1499483"/>
            <a:chExt cx="8453109" cy="760446"/>
          </a:xfrm>
        </p:grpSpPr>
        <p:sp>
          <p:nvSpPr>
            <p:cNvPr id="1073" name="矩形: 圆角 1072"/>
            <p:cNvSpPr/>
            <p:nvPr/>
          </p:nvSpPr>
          <p:spPr>
            <a:xfrm>
              <a:off x="675130" y="1499483"/>
              <a:ext cx="8453109" cy="760446"/>
            </a:xfrm>
            <a:prstGeom prst="roundRect">
              <a:avLst/>
            </a:prstGeom>
            <a:solidFill>
              <a:srgbClr val="CEE6C0"/>
            </a:solidFill>
            <a:ln>
              <a:solidFill>
                <a:srgbClr val="E2F0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4" name="文本框 1073"/>
            <p:cNvSpPr txBox="1"/>
            <p:nvPr/>
          </p:nvSpPr>
          <p:spPr>
            <a:xfrm>
              <a:off x="783349" y="1499963"/>
              <a:ext cx="8299083" cy="71961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>
                  <a:solidFill>
                    <a:schemeClr val="accent4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传统金融支付体系完全围绕人类身份设计，依赖银行开户、人工</a:t>
              </a:r>
              <a:r>
                <a:rPr lang="en-US" altLang="zh-CN" b="1">
                  <a:solidFill>
                    <a:schemeClr val="accent4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KYC、</a:t>
              </a:r>
              <a:r>
                <a:rPr lang="zh-CN" altLang="en-US" b="1">
                  <a:solidFill>
                    <a:schemeClr val="accent4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绑卡验证等流程，存在账户体系复杂、资金托管风险高、跨境支付费率高、结算滞后、出金困难等诸多痛点。</a:t>
              </a:r>
              <a:endParaRPr lang="zh-CN" altLang="en-US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1077" name="文本框 1076"/>
          <p:cNvSpPr txBox="1"/>
          <p:nvPr/>
        </p:nvSpPr>
        <p:spPr>
          <a:xfrm>
            <a:off x="1079500" y="2922270"/>
            <a:ext cx="9302115" cy="922020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Agent </a:t>
            </a:r>
            <a:r>
              <a:rPr lang="zh-CN" altLang="en-US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新型智能执行主体</a:t>
            </a:r>
            <a:r>
              <a:rPr lang="zh-CN" altLang="en-US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，无身份证、无银行账户，可自主替人类完成采购、工具调用、付费订阅等操作，行业亟需一套适配</a:t>
            </a:r>
            <a:r>
              <a:rPr lang="en-US" altLang="zh-CN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AI </a:t>
            </a:r>
            <a:r>
              <a:rPr lang="zh-CN" altLang="en-US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去中心化、无人化支付体系</a:t>
            </a:r>
            <a:r>
              <a:rPr lang="zh-CN" altLang="en-US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0" name="powerpoint template design by DAJU_PPT正版来源小红书大橘PPT微信DAJU_PPT请勿抄袭搬运！盗版必究！-5"/>
          <p:cNvSpPr/>
          <p:nvPr/>
        </p:nvSpPr>
        <p:spPr>
          <a:xfrm>
            <a:off x="621519" y="1541301"/>
            <a:ext cx="309177" cy="2159605"/>
          </a:xfrm>
          <a:prstGeom prst="leftBrace">
            <a:avLst>
              <a:gd name="adj1" fmla="val 174625"/>
              <a:gd name="adj2" fmla="val 50000"/>
            </a:avLst>
          </a:prstGeom>
          <a:noFill/>
          <a:ln w="28575" cap="flat" cmpd="sng" algn="ctr">
            <a:solidFill>
              <a:srgbClr val="CFAF6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83" name="箭头: 下 1082"/>
          <p:cNvSpPr/>
          <p:nvPr/>
        </p:nvSpPr>
        <p:spPr>
          <a:xfrm>
            <a:off x="5418214" y="3915191"/>
            <a:ext cx="432000" cy="519254"/>
          </a:xfrm>
          <a:prstGeom prst="downArrow">
            <a:avLst/>
          </a:prstGeom>
          <a:solidFill>
            <a:srgbClr val="A023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948592" y="5993887"/>
            <a:ext cx="12522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74A73"/>
                </a:solidFill>
                <a:ea typeface="思源黑体 CN ExtraLight"/>
              </a:rPr>
              <a:t>Facilitator</a:t>
            </a:r>
            <a:endParaRPr lang="zh-CN" altLang="en-US" b="1" dirty="0">
              <a:solidFill>
                <a:srgbClr val="174A73"/>
              </a:solidFill>
              <a:ea typeface="思源黑体 CN Extra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286902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430001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2126"/>
            <a:ext cx="1011868" cy="346190"/>
            <a:chOff x="12109738" y="6793166"/>
            <a:chExt cx="1011868" cy="33264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3166"/>
              <a:ext cx="767252" cy="311784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02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37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8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技术概念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46" name="矩形 1045"/>
          <p:cNvSpPr/>
          <p:nvPr/>
        </p:nvSpPr>
        <p:spPr>
          <a:xfrm>
            <a:off x="480790" y="1390465"/>
            <a:ext cx="8555210" cy="41735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2387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椭圆"/>
          <p:cNvSpPr/>
          <p:nvPr>
            <p:custDataLst>
              <p:tags r:id="rId1"/>
            </p:custDataLst>
          </p:nvPr>
        </p:nvSpPr>
        <p:spPr>
          <a:xfrm>
            <a:off x="5481003" y="3490913"/>
            <a:ext cx="1326694" cy="1327350"/>
          </a:xfrm>
          <a:prstGeom prst="ellipse">
            <a:avLst/>
          </a:prstGeom>
          <a:noFill/>
          <a:ln w="6350">
            <a:gradFill flip="none" rotWithShape="1">
              <a:gsLst>
                <a:gs pos="5000">
                  <a:schemeClr val="accent2">
                    <a:alpha val="100000"/>
                  </a:schemeClr>
                </a:gs>
                <a:gs pos="88000">
                  <a:schemeClr val="accent2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10" tIns="54855" rIns="109710" bIns="54855"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26" name="椭圆 25"/>
          <p:cNvSpPr/>
          <p:nvPr>
            <p:custDataLst>
              <p:tags r:id="rId2"/>
            </p:custDataLst>
          </p:nvPr>
        </p:nvSpPr>
        <p:spPr>
          <a:xfrm>
            <a:off x="5603558" y="3614103"/>
            <a:ext cx="1080889" cy="1080889"/>
          </a:xfrm>
          <a:prstGeom prst="ellipse">
            <a:avLst/>
          </a:prstGeom>
          <a:solidFill>
            <a:schemeClr val="accent2"/>
          </a:solidFill>
        </p:spPr>
        <p:txBody>
          <a:bodyPr wrap="none" lIns="0" tIns="0" rIns="0" bIns="0" rtlCol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7" name="弧形 85"/>
          <p:cNvSpPr/>
          <p:nvPr>
            <p:custDataLst>
              <p:tags r:id="rId3"/>
            </p:custDataLst>
          </p:nvPr>
        </p:nvSpPr>
        <p:spPr>
          <a:xfrm rot="16200000">
            <a:off x="5382578" y="3439478"/>
            <a:ext cx="1425672" cy="1425016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2" name="椭圆"/>
          <p:cNvSpPr/>
          <p:nvPr>
            <p:custDataLst>
              <p:tags r:id="rId4"/>
            </p:custDataLst>
          </p:nvPr>
        </p:nvSpPr>
        <p:spPr>
          <a:xfrm>
            <a:off x="2252028" y="3492183"/>
            <a:ext cx="1326694" cy="1327350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10" tIns="54855" rIns="109710" bIns="54855"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3" name="椭圆 2"/>
          <p:cNvSpPr/>
          <p:nvPr>
            <p:custDataLst>
              <p:tags r:id="rId5"/>
            </p:custDataLst>
          </p:nvPr>
        </p:nvSpPr>
        <p:spPr>
          <a:xfrm>
            <a:off x="2373948" y="3615373"/>
            <a:ext cx="1080889" cy="1080889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2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弧形 85"/>
          <p:cNvSpPr/>
          <p:nvPr>
            <p:custDataLst>
              <p:tags r:id="rId6"/>
            </p:custDataLst>
          </p:nvPr>
        </p:nvSpPr>
        <p:spPr>
          <a:xfrm rot="16200000">
            <a:off x="2153603" y="3440113"/>
            <a:ext cx="1425672" cy="1425016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7"/>
            </p:custDataLst>
          </p:nvPr>
        </p:nvCxnSpPr>
        <p:spPr>
          <a:xfrm>
            <a:off x="3595688" y="4155758"/>
            <a:ext cx="1886018" cy="0"/>
          </a:xfrm>
          <a:prstGeom prst="line">
            <a:avLst/>
          </a:prstGeom>
          <a:ln w="15875"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>
            <p:custDataLst>
              <p:tags r:id="rId8"/>
            </p:custDataLst>
          </p:nvPr>
        </p:nvSpPr>
        <p:spPr>
          <a:xfrm>
            <a:off x="789305" y="1710690"/>
            <a:ext cx="4593590" cy="922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区别于传统人工支付模式，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专为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AI Agent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打造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的自动化支付体系，无需人工干预、无需人类身份校验，支持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自主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发起交易、校验订单、完成结算。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3" name="矩形 32"/>
          <p:cNvSpPr/>
          <p:nvPr>
            <p:custDataLst>
              <p:tags r:id="rId9"/>
            </p:custDataLst>
          </p:nvPr>
        </p:nvSpPr>
        <p:spPr>
          <a:xfrm>
            <a:off x="703263" y="2801303"/>
            <a:ext cx="4334524" cy="50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+mn-ea"/>
                <a:sym typeface="+mn-ea"/>
              </a:rPr>
              <a:t>Agentic Payment</a:t>
            </a:r>
            <a:endParaRPr lang="en-US" altLang="zh-CN" sz="2400" b="1" dirty="0">
              <a:solidFill>
                <a:schemeClr val="accent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ea"/>
              <a:cs typeface="+mn-ea"/>
              <a:sym typeface="+mn-ea"/>
            </a:endParaRPr>
          </a:p>
        </p:txBody>
      </p:sp>
      <p:sp>
        <p:nvSpPr>
          <p:cNvPr id="34" name="矩形 33"/>
          <p:cNvSpPr/>
          <p:nvPr>
            <p:custDataLst>
              <p:tags r:id="rId10"/>
            </p:custDataLst>
          </p:nvPr>
        </p:nvSpPr>
        <p:spPr>
          <a:xfrm>
            <a:off x="4371023" y="5100638"/>
            <a:ext cx="3556302" cy="50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chemeClr val="accent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+mn-ea"/>
                <a:sym typeface="+mn-ea"/>
              </a:rPr>
              <a:t>x402</a:t>
            </a:r>
            <a:r>
              <a:rPr lang="zh-CN" altLang="en-US" sz="2400" b="1">
                <a:solidFill>
                  <a:schemeClr val="accent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+mn-ea"/>
                <a:sym typeface="+mn-ea"/>
              </a:rPr>
              <a:t>协议</a:t>
            </a:r>
            <a:endParaRPr lang="zh-CN" altLang="en-US" sz="2400" b="1">
              <a:solidFill>
                <a:schemeClr val="accent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ea"/>
              <a:cs typeface="+mn-ea"/>
              <a:sym typeface="+mn-ea"/>
            </a:endParaRPr>
          </a:p>
        </p:txBody>
      </p:sp>
      <p:sp>
        <p:nvSpPr>
          <p:cNvPr id="41" name="矩形 40"/>
          <p:cNvSpPr/>
          <p:nvPr>
            <p:custDataLst>
              <p:tags r:id="rId11"/>
            </p:custDataLst>
          </p:nvPr>
        </p:nvSpPr>
        <p:spPr>
          <a:xfrm>
            <a:off x="6732270" y="1710690"/>
            <a:ext cx="5090160" cy="922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依托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Solana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公链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USDC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稳定币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开展交易，解决传统跨境支付汇率波动、清算周期长、跨境受限问题，实现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秒级链上结算、低成本资金流转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，适配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AI Skill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轻量化付费场景。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4" name="矩形 43"/>
          <p:cNvSpPr/>
          <p:nvPr>
            <p:custDataLst>
              <p:tags r:id="rId12"/>
            </p:custDataLst>
          </p:nvPr>
        </p:nvSpPr>
        <p:spPr>
          <a:xfrm>
            <a:off x="7153593" y="2801303"/>
            <a:ext cx="4334524" cy="50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+mn-ea"/>
                <a:sym typeface="+mn-ea"/>
              </a:rPr>
              <a:t>稳定币</a:t>
            </a:r>
            <a:endParaRPr lang="zh-CN" altLang="en-US" sz="2400" b="1" dirty="0">
              <a:solidFill>
                <a:schemeClr val="accent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ea"/>
              <a:cs typeface="+mn-ea"/>
              <a:sym typeface="+mn-ea"/>
            </a:endParaRPr>
          </a:p>
        </p:txBody>
      </p:sp>
      <p:sp>
        <p:nvSpPr>
          <p:cNvPr id="45" name="矩形 44"/>
          <p:cNvSpPr/>
          <p:nvPr>
            <p:custDataLst>
              <p:tags r:id="rId13"/>
            </p:custDataLst>
          </p:nvPr>
        </p:nvSpPr>
        <p:spPr>
          <a:xfrm>
            <a:off x="1744980" y="5715000"/>
            <a:ext cx="8338185" cy="922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基于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HTTP 402 Payment Required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迭代的轻量化智能支付协议，为本项目核心通信标准。可实现自动化支付拦截、交易校验、状态回调，适配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工具按需付费、小额高频的交易场景。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3" name="椭圆"/>
          <p:cNvSpPr/>
          <p:nvPr>
            <p:custDataLst>
              <p:tags r:id="rId14"/>
            </p:custDataLst>
          </p:nvPr>
        </p:nvSpPr>
        <p:spPr>
          <a:xfrm>
            <a:off x="8729663" y="3529648"/>
            <a:ext cx="1228993" cy="1229597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10" tIns="54855" rIns="109710" bIns="54855" rtlCol="0" anchor="ctr">
            <a:noAutofit/>
          </a:bodyPr>
          <a:p>
            <a:pPr algn="ctr"/>
            <a:endParaRPr lang="bg-BG" sz="2400" dirty="0">
              <a:solidFill>
                <a:prstClr val="white"/>
              </a:solidFill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9" name="椭圆 8"/>
          <p:cNvSpPr/>
          <p:nvPr>
            <p:custDataLst>
              <p:tags r:id="rId15"/>
            </p:custDataLst>
          </p:nvPr>
        </p:nvSpPr>
        <p:spPr>
          <a:xfrm>
            <a:off x="8843963" y="3643948"/>
            <a:ext cx="1001538" cy="1002143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2" name="弧形 85"/>
          <p:cNvSpPr/>
          <p:nvPr>
            <p:custDataLst>
              <p:tags r:id="rId16"/>
            </p:custDataLst>
          </p:nvPr>
        </p:nvSpPr>
        <p:spPr>
          <a:xfrm rot="16200000">
            <a:off x="8639493" y="3482023"/>
            <a:ext cx="1320090" cy="1320097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17"/>
            </p:custDataLst>
          </p:nvPr>
        </p:nvCxnSpPr>
        <p:spPr>
          <a:xfrm flipV="1">
            <a:off x="6822758" y="4144328"/>
            <a:ext cx="1906905" cy="12065"/>
          </a:xfrm>
          <a:prstGeom prst="line">
            <a:avLst/>
          </a:prstGeom>
          <a:ln w="158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286902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430001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2126"/>
            <a:ext cx="1011868" cy="346190"/>
            <a:chOff x="12109738" y="6793166"/>
            <a:chExt cx="1011868" cy="33264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3166"/>
              <a:ext cx="767252" cy="311784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37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672080" cy="9525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8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项目定位与切入点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46" name="矩形 1045"/>
          <p:cNvSpPr/>
          <p:nvPr/>
        </p:nvSpPr>
        <p:spPr>
          <a:xfrm>
            <a:off x="480790" y="1390465"/>
            <a:ext cx="8555210" cy="41735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2387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52475" y="1543050"/>
            <a:ext cx="12954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项目定位</a:t>
            </a:r>
            <a:endParaRPr lang="zh-CN" altLang="en-US" sz="1600" b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638175" y="1857375"/>
            <a:ext cx="3124200" cy="2371725"/>
          </a:xfrm>
          <a:prstGeom prst="roundRect">
            <a:avLst>
              <a:gd name="adj" fmla="val 8000"/>
            </a:avLst>
          </a:prstGeom>
          <a:solidFill>
            <a:srgbClr val="F6F4F2"/>
          </a:solidFill>
          <a:ln w="11430"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47725" y="1947545"/>
            <a:ext cx="2724150" cy="1529080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为 </a:t>
            </a:r>
            <a:r>
              <a:rPr lang="en-US" altLang="zh-CN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Agent </a:t>
            </a:r>
            <a:r>
              <a:rPr lang="zh-CN" altLang="en-US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提供一套可自主发起、可验证、可结算的稳定币支付底座，让支付不再依赖人类身份和人工确认流程。</a:t>
            </a:r>
            <a:endParaRPr lang="zh-CN" altLang="en-US" sz="19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505325" y="1543050"/>
            <a:ext cx="142875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第一切入场景</a:t>
            </a:r>
            <a:endParaRPr lang="zh-CN" altLang="en-US" sz="1600" b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4391025" y="1857375"/>
            <a:ext cx="3124200" cy="2370455"/>
          </a:xfrm>
          <a:prstGeom prst="roundRect">
            <a:avLst>
              <a:gd name="adj" fmla="val 8000"/>
            </a:avLst>
          </a:prstGeom>
          <a:solidFill>
            <a:srgbClr val="F6F4F2"/>
          </a:solidFill>
          <a:ln w="11430"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600575" y="1947545"/>
            <a:ext cx="2724150" cy="1554272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从 </a:t>
            </a:r>
            <a:r>
              <a:rPr lang="en-US" altLang="zh-CN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ClawHub </a:t>
            </a:r>
            <a:r>
              <a:rPr lang="zh-CN" altLang="en-US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切入，解决 </a:t>
            </a:r>
            <a:r>
              <a:rPr lang="en-US" altLang="zh-CN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Skill </a:t>
            </a:r>
            <a:r>
              <a:rPr lang="zh-CN" altLang="en-US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作者希望获得报酬、</a:t>
            </a:r>
            <a:r>
              <a:rPr lang="en-US" altLang="zh-CN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Agent </a:t>
            </a:r>
            <a:r>
              <a:rPr lang="zh-CN" altLang="en-US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自动购买工具和能力的问题（后续扩展到其他数字资源</a:t>
            </a:r>
            <a:r>
              <a:rPr lang="zh-CN" altLang="en-US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卖家）</a:t>
            </a:r>
            <a:endParaRPr lang="zh-CN" altLang="en-US" sz="19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105775" y="1543050"/>
            <a:ext cx="1452245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生态扩展方向</a:t>
            </a:r>
            <a:endParaRPr lang="zh-CN" altLang="en-US" sz="1600" b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7991475" y="1857375"/>
            <a:ext cx="3124200" cy="2378075"/>
          </a:xfrm>
          <a:prstGeom prst="roundRect">
            <a:avLst>
              <a:gd name="adj" fmla="val 8000"/>
            </a:avLst>
          </a:prstGeom>
          <a:solidFill>
            <a:srgbClr val="F6F4F2"/>
          </a:solidFill>
          <a:ln w="11430"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191500" y="1947545"/>
            <a:ext cx="2724150" cy="1208023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双轨支持 </a:t>
            </a:r>
            <a:r>
              <a:rPr lang="en-US" altLang="zh-CN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OpenClaw </a:t>
            </a:r>
            <a:r>
              <a:rPr lang="zh-CN" altLang="en-US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插件与 </a:t>
            </a:r>
            <a:r>
              <a:rPr lang="en-US" altLang="zh-CN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MCP SDK</a:t>
            </a:r>
            <a:r>
              <a:rPr lang="zh-CN" altLang="en-US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，后端从服务单一宿主升级为服务整个 </a:t>
            </a:r>
            <a:r>
              <a:rPr lang="en-US" altLang="zh-CN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Agent </a:t>
            </a:r>
            <a:r>
              <a:rPr lang="zh-CN" altLang="en-US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生态。</a:t>
            </a:r>
            <a:endParaRPr lang="zh-CN" altLang="en-US" sz="19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47725" y="4723765"/>
            <a:ext cx="10474325" cy="654050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144A7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我们的目标不是再做一个收银台，而是把 </a:t>
            </a:r>
            <a:r>
              <a:rPr lang="en-US" altLang="zh-CN" sz="2000" b="1">
                <a:solidFill>
                  <a:srgbClr val="144A7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AI </a:t>
            </a:r>
            <a:r>
              <a:rPr lang="zh-CN" altLang="en-US" sz="2000" b="1">
                <a:solidFill>
                  <a:srgbClr val="144A7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如何支付 抽象成一套底层逻辑：谁可以付、何时可以付、付完如何验证与复用。</a:t>
            </a:r>
            <a:endParaRPr lang="zh-CN" altLang="en-US" sz="2000" b="1">
              <a:solidFill>
                <a:srgbClr val="144A7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07415" y="5866130"/>
            <a:ext cx="1028700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一句话总结：</a:t>
            </a:r>
            <a:r>
              <a:rPr lang="en-US" altLang="zh-CN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StablePay </a:t>
            </a:r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希望成为 </a:t>
            </a:r>
            <a:r>
              <a:rPr lang="en-US" altLang="zh-CN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Web3 </a:t>
            </a:r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时代面向 </a:t>
            </a:r>
            <a:r>
              <a:rPr lang="en-US" altLang="zh-CN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AI Agent </a:t>
            </a:r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 </a:t>
            </a:r>
            <a:r>
              <a:rPr lang="en-US" altLang="zh-CN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PayPal </a:t>
            </a:r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级支付基础设施。</a:t>
            </a:r>
            <a:endParaRPr lang="zh-CN" altLang="en-US" sz="2000" b="1">
              <a:solidFill>
                <a:srgbClr val="A01B1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47725" y="5788660"/>
            <a:ext cx="10193655" cy="532130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txBody>
          <a:bodyPr wrap="square" rtlCol="0">
            <a:noAutofit/>
          </a:bodyPr>
          <a:lstStyle/>
          <a:p>
            <a:pPr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hatGPT Image 2026年7月8日 19_50_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145" y="2148840"/>
            <a:ext cx="7063105" cy="4709160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1522818" y="232126"/>
            <a:ext cx="1011868" cy="346190"/>
            <a:chOff x="12109738" y="6793166"/>
            <a:chExt cx="1011868" cy="33264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3166"/>
              <a:ext cx="767252" cy="311784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04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 </a:t>
            </a:r>
            <a:r>
              <a:rPr lang="zh-CN" altLang="en-US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核心技术方案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1" name="文本框 1080"/>
          <p:cNvSpPr txBox="1"/>
          <p:nvPr/>
        </p:nvSpPr>
        <p:spPr>
          <a:xfrm>
            <a:off x="445383" y="1345450"/>
            <a:ext cx="11322051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本项目搭建</a:t>
            </a:r>
            <a:r>
              <a:rPr lang="zh-CN" altLang="en-US" b="1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r>
              <a:rPr lang="en-US" altLang="zh-CN" b="1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b="1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插件</a:t>
            </a:r>
            <a:r>
              <a:rPr lang="zh-CN" altLang="en-US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b="1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Cloudwego</a:t>
            </a:r>
            <a:r>
              <a:rPr lang="zh-CN" altLang="en-US" b="1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全家桶微服务后端</a:t>
            </a:r>
            <a:r>
              <a:rPr lang="zh-CN" altLang="en-US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b="1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阿里云云端部署流水线</a:t>
            </a:r>
            <a:r>
              <a:rPr lang="zh-CN" altLang="en-US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的全链路技术架构，从</a:t>
            </a:r>
            <a:r>
              <a:rPr lang="en-US" altLang="zh-CN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IDL</a:t>
            </a:r>
            <a:r>
              <a:rPr lang="zh-CN" altLang="en-US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接口规范出发，实现开发标准化、服务解耦化、部署自动化，完整覆盖</a:t>
            </a:r>
            <a:r>
              <a:rPr lang="en-US" altLang="zh-CN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Agent</a:t>
            </a:r>
            <a:r>
              <a:rPr lang="zh-CN" altLang="en-US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支付全流程能力。</a:t>
            </a:r>
            <a:endParaRPr lang="zh-CN" altLang="en-US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4"/>
          <p:cNvSpPr/>
          <p:nvPr/>
        </p:nvSpPr>
        <p:spPr>
          <a:xfrm>
            <a:off x="7929880" y="3034665"/>
            <a:ext cx="3390900" cy="77724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000" b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客户端层</a:t>
            </a:r>
            <a:r>
              <a:rPr lang="zh-CN" altLang="en-US" b="1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
本地钱包、</a:t>
            </a:r>
            <a:r>
              <a:rPr lang="en-US" altLang="zh-CN" b="1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DID</a:t>
            </a:r>
            <a:r>
              <a:rPr lang="zh-CN" altLang="en-US" b="1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、额度策略</a:t>
            </a:r>
            <a:endParaRPr lang="zh-CN" altLang="en-US" b="1"/>
          </a:p>
        </p:txBody>
      </p:sp>
      <p:sp>
        <p:nvSpPr>
          <p:cNvPr id="8" name="矩形: 圆角 4"/>
          <p:cNvSpPr/>
          <p:nvPr/>
        </p:nvSpPr>
        <p:spPr>
          <a:xfrm>
            <a:off x="7906385" y="3992245"/>
            <a:ext cx="3414395" cy="77724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000" b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服务层</a:t>
            </a:r>
            <a:r>
              <a:rPr lang="zh-CN" altLang="en-US" b="1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
网关、支付、验证、查询协作</a:t>
            </a:r>
            <a:endParaRPr lang="zh-CN" altLang="en-US" b="1"/>
          </a:p>
        </p:txBody>
      </p:sp>
      <p:sp>
        <p:nvSpPr>
          <p:cNvPr id="9" name="矩形: 圆角 4"/>
          <p:cNvSpPr/>
          <p:nvPr/>
        </p:nvSpPr>
        <p:spPr>
          <a:xfrm>
            <a:off x="7906385" y="4949825"/>
            <a:ext cx="3413760" cy="77724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000" b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结算层
</a:t>
            </a:r>
            <a:r>
              <a:rPr lang="en-US" altLang="zh-CN" b="1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Solana + USDC </a:t>
            </a:r>
            <a:r>
              <a:rPr lang="zh-CN" altLang="en-US" b="1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完成最终转账</a:t>
            </a:r>
            <a:endParaRPr lang="zh-CN" altLang="en-US" b="1"/>
          </a:p>
        </p:txBody>
      </p:sp>
      <p:sp>
        <p:nvSpPr>
          <p:cNvPr id="10" name="矩形 9"/>
          <p:cNvSpPr/>
          <p:nvPr/>
        </p:nvSpPr>
        <p:spPr>
          <a:xfrm>
            <a:off x="7929880" y="2378710"/>
            <a:ext cx="1927225" cy="512445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rgbClr val="FFFFFF"/>
                </a:solidFill>
                <a:ea typeface="微软雅黑" panose="020B0503020204020204" pitchFamily="34" charset="-122"/>
              </a:rPr>
              <a:t>三层设计</a:t>
            </a:r>
            <a:endParaRPr lang="zh-CN" altLang="en-US" sz="2800" b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800340" y="6199505"/>
            <a:ext cx="374777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让 </a:t>
            </a:r>
            <a:r>
              <a:rPr lang="en-US" altLang="zh-CN" sz="13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的每一笔支付都「能做、敢做、查得清」</a:t>
            </a:r>
            <a:endParaRPr lang="zh-CN" altLang="en-US" sz="1300">
              <a:solidFill>
                <a:srgbClr val="56687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2126"/>
            <a:ext cx="1011868" cy="346190"/>
            <a:chOff x="12109738" y="6793166"/>
            <a:chExt cx="1011868" cy="33264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3166"/>
              <a:ext cx="767252" cy="311784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05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 </a:t>
            </a:r>
            <a:r>
              <a:rPr lang="zh-CN" altLang="en-US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后端微服务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ChatGPT Image 2026年7月8日 19_50_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5485" y="934085"/>
            <a:ext cx="8886190" cy="592391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322955" y="962025"/>
            <a:ext cx="2298700" cy="659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2"/>
            </p:custDataLst>
          </p:nvPr>
        </p:nvSpPr>
        <p:spPr>
          <a:xfrm>
            <a:off x="507365" y="3891280"/>
            <a:ext cx="2317750" cy="734695"/>
          </a:xfrm>
          <a:prstGeom prst="roundRect">
            <a:avLst/>
          </a:prstGeom>
          <a:solidFill>
            <a:srgbClr val="F6F4F2">
              <a:alpha val="94000"/>
            </a:srgbClr>
          </a:solidFill>
          <a:ln w="10477">
            <a:solidFill>
              <a:srgbClr val="AAC8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621665" y="3967480"/>
            <a:ext cx="17716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同步调用</a:t>
            </a:r>
            <a:endParaRPr lang="zh-CN" altLang="en-US" sz="1600" b="1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621665" y="4205605"/>
            <a:ext cx="177165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网关分发后，关键链路通过 </a:t>
            </a:r>
            <a:r>
              <a:rPr lang="en-US" altLang="zh-CN" sz="1200" b="1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Kitex RPC </a:t>
            </a:r>
            <a:r>
              <a:rPr lang="zh-CN" altLang="en-US" sz="1200" b="1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快速完成。</a:t>
            </a:r>
            <a:endParaRPr lang="zh-CN" altLang="en-US" sz="1200" b="1">
              <a:solidFill>
                <a:srgbClr val="4F4F4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矩形: 圆角 8"/>
          <p:cNvSpPr/>
          <p:nvPr>
            <p:custDataLst>
              <p:tags r:id="rId5"/>
            </p:custDataLst>
          </p:nvPr>
        </p:nvSpPr>
        <p:spPr>
          <a:xfrm>
            <a:off x="507365" y="4832350"/>
            <a:ext cx="2317750" cy="718185"/>
          </a:xfrm>
          <a:prstGeom prst="roundRect">
            <a:avLst/>
          </a:prstGeom>
          <a:solidFill>
            <a:srgbClr val="F6F4F2">
              <a:alpha val="94000"/>
            </a:srgbClr>
          </a:solidFill>
          <a:ln w="10477">
            <a:solidFill>
              <a:srgbClr val="AAC8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621665" y="4908550"/>
            <a:ext cx="21145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异步解耦</a:t>
            </a:r>
            <a:endParaRPr lang="zh-CN" altLang="en-US" sz="1600" b="1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621665" y="5146675"/>
            <a:ext cx="211455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支付成功后发布事件，验证服务异步落购买记录。</a:t>
            </a:r>
            <a:endParaRPr lang="zh-CN" altLang="en-US" sz="1200" b="1">
              <a:solidFill>
                <a:srgbClr val="4F4F4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矩形: 圆角 11"/>
          <p:cNvSpPr/>
          <p:nvPr>
            <p:custDataLst>
              <p:tags r:id="rId8"/>
            </p:custDataLst>
          </p:nvPr>
        </p:nvSpPr>
        <p:spPr>
          <a:xfrm>
            <a:off x="507365" y="5806440"/>
            <a:ext cx="2317750" cy="744855"/>
          </a:xfrm>
          <a:prstGeom prst="roundRect">
            <a:avLst/>
          </a:prstGeom>
          <a:solidFill>
            <a:srgbClr val="F6F4F2">
              <a:alpha val="94000"/>
            </a:srgbClr>
          </a:solidFill>
          <a:ln w="10477">
            <a:solidFill>
              <a:srgbClr val="AAC8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622300" y="5882640"/>
            <a:ext cx="20497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工程价值</a:t>
            </a:r>
            <a:endParaRPr lang="zh-CN" altLang="en-US" sz="1600" b="1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622300" y="6120765"/>
            <a:ext cx="204978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单个服务职责更清晰，也更适合后续扩容与迭代。</a:t>
            </a:r>
            <a:endParaRPr lang="zh-CN" altLang="en-US" sz="1200" b="1">
              <a:solidFill>
                <a:srgbClr val="4F4F4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5135" y="1345565"/>
            <a:ext cx="2800985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>
                <a:solidFill>
                  <a:srgbClr val="2837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后端不是一个「大接口」，而是把身份、支付、查询、验单拆成独立服务，再用 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API Gateway </a:t>
            </a:r>
            <a:r>
              <a:rPr lang="zh-CN" altLang="en-US" sz="1600" b="1">
                <a:solidFill>
                  <a:srgbClr val="2837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消息队列</a:t>
            </a:r>
            <a:r>
              <a:rPr lang="zh-CN" altLang="en-US" sz="1600" b="1">
                <a:solidFill>
                  <a:srgbClr val="2837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把它们组织起来。</a:t>
            </a:r>
            <a:endParaRPr lang="zh-CN" altLang="en-US" sz="16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ChatGPT Image 2026年7月8日 19_50_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5035" y="1036955"/>
            <a:ext cx="8730615" cy="5821045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1522818" y="232126"/>
            <a:ext cx="1011868" cy="346190"/>
            <a:chOff x="12109738" y="6793166"/>
            <a:chExt cx="1011868" cy="33264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3166"/>
              <a:ext cx="767252" cy="311784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06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2.1.1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API Gateway</a:t>
            </a:r>
            <a:endParaRPr lang="en-US" altLang="zh-CN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45440" y="1407795"/>
            <a:ext cx="10668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服务职责</a:t>
            </a:r>
            <a:endParaRPr lang="zh-CN" altLang="en-US" sz="1600" b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5440" y="1639570"/>
            <a:ext cx="3015615" cy="1043305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API Gateway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是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StablePay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后端的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统一接入入口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，负责把所有外部请求安全、稳定地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转发到具体微服务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  <a:endParaRPr lang="zh-CN" altLang="en-US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矩形: 圆角 4"/>
          <p:cNvSpPr/>
          <p:nvPr/>
        </p:nvSpPr>
        <p:spPr>
          <a:xfrm>
            <a:off x="234315" y="3376295"/>
            <a:ext cx="3080385" cy="3481705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45440" y="3429000"/>
            <a:ext cx="2763520" cy="346075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关键能力</a:t>
            </a:r>
            <a:endParaRPr lang="zh-CN" altLang="en-US" sz="2000" b="1">
              <a:solidFill>
                <a:srgbClr val="A01B1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9085" y="3697605"/>
            <a:ext cx="2965450" cy="2879725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en-US" altLang="zh-CN" sz="16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/api/v1/{did,payment,verify,query,revenue,sales} </a:t>
            </a:r>
            <a:r>
              <a:rPr lang="en-US" altLang="zh-CN" sz="16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21 </a:t>
            </a:r>
            <a:r>
              <a:rPr lang="zh-CN" altLang="en-US" sz="16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条核心路由</a:t>
            </a:r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的核心</a:t>
            </a:r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承接；</a:t>
            </a:r>
            <a:endParaRPr lang="zh-CN" altLang="en-US" sz="16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16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按路径和方法分发请求，让客户端始终</a:t>
            </a:r>
            <a:r>
              <a:rPr lang="zh-CN" altLang="en-US" sz="16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只面对一个入口</a:t>
            </a:r>
            <a:r>
              <a:rPr lang="zh-CN" altLang="en-US" sz="16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；</a:t>
            </a:r>
            <a:endParaRPr lang="zh-CN" altLang="en-US" sz="16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16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将鉴权、限流、防重放等横切逻辑集中治理，避免下游服务重复实现。</a:t>
            </a:r>
            <a:endParaRPr lang="zh-CN" altLang="en-US" sz="16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2126"/>
            <a:ext cx="1011868" cy="346190"/>
            <a:chOff x="12109738" y="6793166"/>
            <a:chExt cx="1011868" cy="33264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3166"/>
              <a:ext cx="767252" cy="311784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07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2.1.2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DID Service</a:t>
            </a:r>
            <a:endParaRPr lang="en-US" altLang="zh-CN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3800" y="1605280"/>
            <a:ext cx="5735320" cy="3823970"/>
          </a:xfrm>
          <a:prstGeom prst="rect">
            <a:avLst/>
          </a:prstGeom>
        </p:spPr>
      </p:pic>
      <p:sp>
        <p:nvSpPr>
          <p:cNvPr id="1081" name="文本框 1080"/>
          <p:cNvSpPr txBox="1"/>
          <p:nvPr/>
        </p:nvSpPr>
        <p:spPr>
          <a:xfrm>
            <a:off x="445383" y="1345450"/>
            <a:ext cx="1132205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DID Service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为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AI Agent 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生成并管理去中心化身份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，是整套系统最底层、最基础的身份能力提供者。</a:t>
            </a:r>
            <a:endParaRPr lang="zh-CN" altLang="en-US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531495" y="2128520"/>
            <a:ext cx="3611245" cy="62484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生成 </a:t>
            </a:r>
            <a:r>
              <a:rPr lang="en-US" altLang="zh-CN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Ed25519 </a:t>
            </a:r>
            <a:r>
              <a:rPr lang="zh-CN" altLang="en-US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密钥对并拼装 </a:t>
            </a:r>
            <a:r>
              <a:rPr lang="en-US" altLang="zh-CN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did:solana:&lt;pubkey&gt; </a:t>
            </a:r>
            <a:r>
              <a:rPr lang="zh-CN" altLang="en-US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身份标识</a:t>
            </a:r>
            <a:endParaRPr lang="zh-CN" altLang="en-US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powerpoint template design by DAJU_PPT正版来源小红书大橘PPT微信DAJU_PPT请勿抄袭搬运！盗版必究！-5"/>
          <p:cNvSpPr/>
          <p:nvPr/>
        </p:nvSpPr>
        <p:spPr>
          <a:xfrm flipH="1">
            <a:off x="4286885" y="2128520"/>
            <a:ext cx="367665" cy="2292350"/>
          </a:xfrm>
          <a:prstGeom prst="leftBrace">
            <a:avLst>
              <a:gd name="adj1" fmla="val 174625"/>
              <a:gd name="adj2" fmla="val 50000"/>
            </a:avLst>
          </a:prstGeom>
          <a:noFill/>
          <a:ln w="28575" cap="flat" cmpd="sng" algn="ctr">
            <a:solidFill>
              <a:srgbClr val="CFAF6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531495" y="2962275"/>
            <a:ext cx="3611245" cy="62484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提供身份注册、查询、验签、状态管理等基础能力</a:t>
            </a:r>
            <a:endParaRPr lang="zh-CN" altLang="en-US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31495" y="3796030"/>
            <a:ext cx="3611245" cy="62484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>
              <a:spcAft>
                <a:spcPts val="600"/>
              </a:spcAft>
            </a:pPr>
            <a:r>
              <a:rPr lang="zh-CN" altLang="en-US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所有支付请求都可先由 </a:t>
            </a:r>
            <a:r>
              <a:rPr lang="en-US" altLang="zh-CN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DID </a:t>
            </a:r>
            <a:r>
              <a:rPr lang="zh-CN" altLang="en-US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服务完成签名校验</a:t>
            </a:r>
            <a:endParaRPr lang="zh-CN" altLang="en-US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1495" y="4933950"/>
            <a:ext cx="3350260" cy="423545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txBody>
          <a:bodyPr wrap="square" rtlCol="0">
            <a:spAutoFit/>
          </a:bodyPr>
          <a:lstStyle/>
          <a:p>
            <a:pPr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2126"/>
            <a:ext cx="1011868" cy="346190"/>
            <a:chOff x="12109738" y="6793166"/>
            <a:chExt cx="1011868" cy="33264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3166"/>
              <a:ext cx="767252" cy="311784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08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2.1.3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Payment Service</a:t>
            </a:r>
            <a:endParaRPr lang="en-US" altLang="zh-CN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8395" y="2997200"/>
            <a:ext cx="6005830" cy="329565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68935" y="1433830"/>
            <a:ext cx="10668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服务职责</a:t>
            </a:r>
            <a:endParaRPr lang="zh-CN" altLang="en-US" sz="1600" b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8935" y="1771650"/>
            <a:ext cx="11210925" cy="592455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Payment Service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是支付链路核心，负责处理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x402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协议、协调链上转账，并保证交易可重试、不可重复扣款。</a:t>
            </a:r>
            <a:endParaRPr lang="zh-CN" altLang="en-US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2126"/>
            <a:ext cx="1011868" cy="346190"/>
            <a:chOff x="12109738" y="6793166"/>
            <a:chExt cx="1011868" cy="33264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3166"/>
              <a:ext cx="767252" cy="311784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09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2.1.4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Blockchain Adapter</a:t>
            </a:r>
            <a:endParaRPr lang="en-US" altLang="zh-CN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95" y="1865630"/>
            <a:ext cx="7527925" cy="4236720"/>
          </a:xfrm>
          <a:prstGeom prst="rect">
            <a:avLst/>
          </a:prstGeom>
        </p:spPr>
      </p:pic>
      <p:sp>
        <p:nvSpPr>
          <p:cNvPr id="1081" name="文本框 1080"/>
          <p:cNvSpPr txBox="1"/>
          <p:nvPr/>
        </p:nvSpPr>
        <p:spPr>
          <a:xfrm>
            <a:off x="445383" y="1345450"/>
            <a:ext cx="1132205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Blockchain Adapter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把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业务支付语义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翻译成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Solana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链上动作，是系统与真实稳定币网络交互的执行层。</a:t>
            </a:r>
            <a:endParaRPr lang="zh-CN" altLang="en-US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2126"/>
            <a:ext cx="1011868" cy="346190"/>
            <a:chOff x="12109738" y="6793166"/>
            <a:chExt cx="1011868" cy="33264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3166"/>
              <a:ext cx="767252" cy="311784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10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2.1.5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Verification Service</a:t>
            </a:r>
            <a:endParaRPr lang="en-US" altLang="zh-CN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5245" y="2273935"/>
            <a:ext cx="5712460" cy="380936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30200" y="1410335"/>
            <a:ext cx="10668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服务职责</a:t>
            </a:r>
            <a:endParaRPr lang="zh-CN" altLang="en-US" sz="1600" b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0200" y="1771650"/>
            <a:ext cx="10948035" cy="592455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Verification Service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负责把链上支付转化为平台已购买的可信证明，同时承担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验证与新用户激励发放。</a:t>
            </a:r>
            <a:endParaRPr lang="zh-CN" altLang="en-US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矩形: 圆角 4"/>
          <p:cNvSpPr/>
          <p:nvPr/>
        </p:nvSpPr>
        <p:spPr>
          <a:xfrm>
            <a:off x="330200" y="2348865"/>
            <a:ext cx="4905375" cy="735965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订阅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payment_events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，把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agent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与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skill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的购买关系写入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purchase_records</a:t>
            </a:r>
            <a:endParaRPr lang="zh-CN" altLang="en-US" b="1"/>
          </a:p>
        </p:txBody>
      </p:sp>
      <p:sp>
        <p:nvSpPr>
          <p:cNvPr id="7" name="矩形: 圆角 4"/>
          <p:cNvSpPr/>
          <p:nvPr/>
        </p:nvSpPr>
        <p:spPr>
          <a:xfrm>
            <a:off x="330200" y="3792220"/>
            <a:ext cx="4905375" cy="735965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zh-CN" altLang="en-US" b="1">
                <a:solidFill>
                  <a:schemeClr val="tx1"/>
                </a:solidFill>
              </a:rPr>
              <a:t>对外提供单次验证、批量验证、购买证明查询等 </a:t>
            </a:r>
            <a:r>
              <a:rPr lang="en-US" altLang="zh-CN" b="1">
                <a:solidFill>
                  <a:schemeClr val="tx1"/>
                </a:solidFill>
              </a:rPr>
              <a:t>RPC </a:t>
            </a:r>
            <a:r>
              <a:rPr lang="zh-CN" altLang="en-US" b="1">
                <a:solidFill>
                  <a:schemeClr val="tx1"/>
                </a:solidFill>
              </a:rPr>
              <a:t>能力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8" name="矩形: 圆角 4"/>
          <p:cNvSpPr/>
          <p:nvPr/>
        </p:nvSpPr>
        <p:spPr>
          <a:xfrm>
            <a:off x="328930" y="5235575"/>
            <a:ext cx="4905375" cy="735965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zh-CN" altLang="en-US" b="1">
                <a:solidFill>
                  <a:schemeClr val="tx1"/>
                </a:solidFill>
              </a:rPr>
              <a:t>实现 </a:t>
            </a:r>
            <a:r>
              <a:rPr lang="en-US" altLang="zh-CN" b="1">
                <a:solidFill>
                  <a:schemeClr val="tx1"/>
                </a:solidFill>
              </a:rPr>
              <a:t>X </a:t>
            </a:r>
            <a:r>
              <a:rPr lang="zh-CN" altLang="en-US" b="1">
                <a:solidFill>
                  <a:schemeClr val="tx1"/>
                </a:solidFill>
              </a:rPr>
              <a:t>推文绑定验证与 1 </a:t>
            </a:r>
            <a:r>
              <a:rPr lang="en-US" altLang="zh-CN" b="1">
                <a:solidFill>
                  <a:schemeClr val="tx1"/>
                </a:solidFill>
              </a:rPr>
              <a:t>USDC onboarding </a:t>
            </a:r>
            <a:r>
              <a:rPr lang="zh-CN" altLang="en-US" b="1">
                <a:solidFill>
                  <a:schemeClr val="tx1"/>
                </a:solidFill>
              </a:rPr>
              <a:t>奖励发放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1" name="powerpoint template design by DAJU_PPT正版来源小红书大橘PPT微信DAJU_PPT请勿抄袭搬运！盗版必究！-2"/>
          <p:cNvSpPr/>
          <p:nvPr/>
        </p:nvSpPr>
        <p:spPr>
          <a:xfrm flipH="1">
            <a:off x="328930" y="2355850"/>
            <a:ext cx="76200" cy="3616325"/>
          </a:xfrm>
          <a:prstGeom prst="rect">
            <a:avLst/>
          </a:prstGeom>
          <a:solidFill>
            <a:srgbClr val="9E0000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箭头: 右 22"/>
          <p:cNvSpPr/>
          <p:nvPr/>
        </p:nvSpPr>
        <p:spPr>
          <a:xfrm>
            <a:off x="5490811" y="3873212"/>
            <a:ext cx="914400" cy="5736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990" y="1575435"/>
            <a:ext cx="5209540" cy="3473450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1522818" y="232126"/>
            <a:ext cx="1011868" cy="346190"/>
            <a:chOff x="12109738" y="6793166"/>
            <a:chExt cx="1011868" cy="33264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3166"/>
              <a:ext cx="767252" cy="311784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 dirty="0">
                  <a:solidFill>
                    <a:schemeClr val="bg1"/>
                  </a:solidFill>
                  <a:latin typeface="Britannic Bold" panose="020B0903060703020204" pitchFamily="34" charset="0"/>
                </a:rPr>
                <a:t>11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2.1.6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Query Service</a:t>
            </a:r>
            <a:endParaRPr lang="en-US" altLang="zh-CN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1" name="文本框 1080"/>
          <p:cNvSpPr txBox="1"/>
          <p:nvPr/>
        </p:nvSpPr>
        <p:spPr>
          <a:xfrm>
            <a:off x="8125460" y="1336040"/>
            <a:ext cx="3557270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Query Service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面向用户和商家提供余额、交易、收益与销售查询，是支付能力产品化后的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可视化出口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48885"/>
            <a:ext cx="7755890" cy="18776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6040"/>
            <a:ext cx="7720330" cy="374523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8125460" y="4168775"/>
            <a:ext cx="3497580" cy="1830070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同时服务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买家侧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余额查询和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商家侧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收益、销售明细查询。</a:t>
            </a:r>
            <a:endParaRPr lang="zh-CN" altLang="en-US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支持内部交易同步接口，作为 </a:t>
            </a: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MQ 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消费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后的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幂等写入入口</a:t>
            </a:r>
            <a:r>
              <a:rPr lang="zh-CN" altLang="en-US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078470" y="3564958"/>
            <a:ext cx="1666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</a:rPr>
              <a:t>设计</a:t>
            </a:r>
            <a:r>
              <a:rPr lang="zh-CN" altLang="en-US" b="1">
                <a:solidFill>
                  <a:srgbClr val="C00000"/>
                </a:solidFill>
              </a:rPr>
              <a:t>亮点：</a:t>
            </a:r>
            <a:endParaRPr lang="zh-CN" altLang="en-US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13"/>
          <p:cNvSpPr/>
          <p:nvPr/>
        </p:nvSpPr>
        <p:spPr>
          <a:xfrm>
            <a:off x="9566910" y="5602605"/>
            <a:ext cx="2030095" cy="1010920"/>
          </a:xfrm>
          <a:prstGeom prst="roundRect">
            <a:avLst/>
          </a:prstGeom>
          <a:solidFill>
            <a:srgbClr val="DCEEF7">
              <a:alpha val="98000"/>
            </a:srgbClr>
          </a:solidFill>
          <a:ln w="9525">
            <a:solidFill>
              <a:srgbClr val="A8C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13"/>
          <p:cNvSpPr/>
          <p:nvPr/>
        </p:nvSpPr>
        <p:spPr>
          <a:xfrm>
            <a:off x="9566910" y="4425950"/>
            <a:ext cx="2030095" cy="1010920"/>
          </a:xfrm>
          <a:prstGeom prst="roundRect">
            <a:avLst/>
          </a:prstGeom>
          <a:solidFill>
            <a:srgbClr val="DCEEF7">
              <a:alpha val="98000"/>
            </a:srgbClr>
          </a:solidFill>
          <a:ln w="9525">
            <a:solidFill>
              <a:srgbClr val="A8C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13"/>
          <p:cNvSpPr/>
          <p:nvPr/>
        </p:nvSpPr>
        <p:spPr>
          <a:xfrm>
            <a:off x="9566910" y="3203575"/>
            <a:ext cx="2030095" cy="1010920"/>
          </a:xfrm>
          <a:prstGeom prst="roundRect">
            <a:avLst/>
          </a:prstGeom>
          <a:solidFill>
            <a:srgbClr val="DCEEF7">
              <a:alpha val="98000"/>
            </a:srgbClr>
          </a:solidFill>
          <a:ln w="9525">
            <a:solidFill>
              <a:srgbClr val="A8C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2126"/>
            <a:ext cx="1011868" cy="346190"/>
            <a:chOff x="12109738" y="6793166"/>
            <a:chExt cx="1011868" cy="33264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3166"/>
              <a:ext cx="767252" cy="311784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 dirty="0">
                  <a:solidFill>
                    <a:schemeClr val="bg1"/>
                  </a:solidFill>
                  <a:latin typeface="Britannic Bold" panose="020B0903060703020204" pitchFamily="34" charset="0"/>
                </a:rPr>
                <a:t>12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云端运维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1" name="文本框 1080"/>
          <p:cNvSpPr txBox="1"/>
          <p:nvPr/>
        </p:nvSpPr>
        <p:spPr>
          <a:xfrm>
            <a:off x="445383" y="1345450"/>
            <a:ext cx="1132205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我们把多微服务系统真正部署到云端，形成从本地开发、镜像构建、集群运行到公网访问的完整交付链路。</a:t>
            </a:r>
            <a:endParaRPr lang="zh-CN" altLang="en-US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02690" y="-419100"/>
            <a:ext cx="5080000" cy="635000"/>
          </a:xfrm>
          <a:prstGeom prst="rect">
            <a:avLst/>
          </a:prstGeom>
        </p:spPr>
        <p:txBody>
          <a:bodyPr/>
          <a:p>
            <a:endParaRPr sz="1600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93040" y="2153285"/>
            <a:ext cx="9060180" cy="4390390"/>
          </a:xfrm>
          <a:prstGeom prst="rect">
            <a:avLst/>
          </a:prstGeom>
        </p:spPr>
      </p:pic>
      <p:sp>
        <p:nvSpPr>
          <p:cNvPr id="14" name="矩形: 圆角 13"/>
          <p:cNvSpPr/>
          <p:nvPr/>
        </p:nvSpPr>
        <p:spPr>
          <a:xfrm>
            <a:off x="9566910" y="2082800"/>
            <a:ext cx="2030095" cy="1010920"/>
          </a:xfrm>
          <a:prstGeom prst="roundRect">
            <a:avLst/>
          </a:prstGeom>
          <a:solidFill>
            <a:srgbClr val="DCEEF7">
              <a:alpha val="98000"/>
            </a:srgbClr>
          </a:solidFill>
          <a:ln w="9525">
            <a:solidFill>
              <a:srgbClr val="A8C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9681210" y="2159000"/>
            <a:ext cx="156083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b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ACK </a:t>
            </a:r>
            <a:r>
              <a:rPr lang="zh-CN" altLang="en-US" b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容器编排</a:t>
            </a:r>
            <a:endParaRPr lang="zh-CN" altLang="en-US" b="1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681210" y="2498725"/>
            <a:ext cx="1814195" cy="5702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统一承载业务服务与中间件运行</a:t>
            </a:r>
            <a:endParaRPr lang="zh-CN" altLang="en-US" sz="1600" b="1">
              <a:solidFill>
                <a:srgbClr val="555555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681210" y="3281680"/>
            <a:ext cx="156083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b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ACR </a:t>
            </a:r>
            <a:r>
              <a:rPr lang="zh-CN" altLang="en-US" b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镜像仓库</a:t>
            </a:r>
            <a:endParaRPr lang="zh-CN" altLang="en-US" b="1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681210" y="3615055"/>
            <a:ext cx="1813560" cy="336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镜像统一托管，发布入口标准化</a:t>
            </a:r>
            <a:endParaRPr lang="zh-CN" altLang="en-US" sz="1600" b="1">
              <a:solidFill>
                <a:srgbClr val="555555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681210" y="4523105"/>
            <a:ext cx="139065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消息与存储</a:t>
            </a:r>
            <a:endParaRPr lang="zh-CN" altLang="en-US" b="1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626600" y="4817745"/>
            <a:ext cx="1867535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RocketMQ,MySQL,Redis </a:t>
            </a:r>
            <a:r>
              <a:rPr lang="zh-CN" altLang="en-US" sz="1600" b="1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共同支撑链路</a:t>
            </a:r>
            <a:endParaRPr lang="zh-CN" altLang="en-US" sz="1600" b="1">
              <a:solidFill>
                <a:srgbClr val="555555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681210" y="5683885"/>
            <a:ext cx="139065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公网接入</a:t>
            </a:r>
            <a:endParaRPr lang="zh-CN" altLang="en-US" b="1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681210" y="6043930"/>
            <a:ext cx="17576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ALB </a:t>
            </a:r>
            <a:r>
              <a:rPr lang="zh-CN" altLang="en-US" sz="1600" b="1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统一承接外部访问与域名流量</a:t>
            </a:r>
            <a:endParaRPr lang="zh-CN" altLang="en-US" sz="1600" b="1">
              <a:solidFill>
                <a:srgbClr val="555555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2126"/>
            <a:ext cx="1011868" cy="346190"/>
            <a:chOff x="12109738" y="6793166"/>
            <a:chExt cx="1011868" cy="33264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3166"/>
              <a:ext cx="767252" cy="311784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 dirty="0">
                  <a:solidFill>
                    <a:schemeClr val="bg1"/>
                  </a:solidFill>
                  <a:latin typeface="Britannic Bold" panose="020B0903060703020204" pitchFamily="34" charset="0"/>
                </a:rPr>
                <a:t>13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云端运维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1" name="文本框 1080"/>
          <p:cNvSpPr txBox="1"/>
          <p:nvPr/>
        </p:nvSpPr>
        <p:spPr>
          <a:xfrm>
            <a:off x="445135" y="1345565"/>
            <a:ext cx="4387850" cy="133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我们把多微服务系统真正部署到云端，形成从本地开发、镜像构建、集群运行到公网访问的完整交付链路。</a:t>
            </a:r>
            <a:endParaRPr lang="zh-CN" altLang="en-US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02690" y="-419100"/>
            <a:ext cx="5080000" cy="635000"/>
          </a:xfrm>
          <a:prstGeom prst="rect">
            <a:avLst/>
          </a:prstGeom>
        </p:spPr>
        <p:txBody>
          <a:bodyPr/>
          <a:p>
            <a:endParaRPr sz="1600"/>
          </a:p>
        </p:txBody>
      </p:sp>
      <p:pic>
        <p:nvPicPr>
          <p:cNvPr id="13" name="图片 12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90" y="2334895"/>
            <a:ext cx="7214235" cy="34956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260" y="1085215"/>
            <a:ext cx="4453890" cy="2343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260" y="3844290"/>
            <a:ext cx="4469765" cy="23031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65" y="929640"/>
            <a:ext cx="2569845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 Agentic Plugin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65" y="929640"/>
            <a:ext cx="2725420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客户端生态与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升级</a:t>
            </a:r>
            <a:endParaRPr lang="zh-CN" altLang="en-US" sz="2000" b="1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65" y="929640"/>
            <a:ext cx="2725420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工具能力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矩阵</a:t>
            </a:r>
            <a:endParaRPr lang="zh-CN" altLang="en-US" sz="2000" b="1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65" y="929640"/>
            <a:ext cx="3344545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2.3.3 Onboardding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状态机</a:t>
            </a:r>
            <a:endParaRPr lang="zh-CN" altLang="en-US" sz="2000" b="1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65" y="929640"/>
            <a:ext cx="3344545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2.3.4 Agent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支付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全链路</a:t>
            </a:r>
            <a:endParaRPr lang="zh-CN" altLang="en-US" sz="2000" b="1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65" y="929640"/>
            <a:ext cx="3344545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2.3.5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插件安全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设计</a:t>
            </a:r>
            <a:endParaRPr lang="zh-CN" altLang="en-US" sz="2000" b="1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7649277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810156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最终成果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04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最终成果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61546" y="1424800"/>
            <a:ext cx="1032658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/>
              <a:t>这里</a:t>
            </a:r>
            <a:r>
              <a:rPr lang="zh-CN" altLang="en-US" sz="1600" b="1"/>
              <a:t>放用户测试反馈与改进</a:t>
            </a:r>
            <a:endParaRPr lang="zh-CN" altLang="en-US" sz="16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7649277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810156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最终成果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04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用户侧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闭环</a:t>
            </a:r>
            <a:endParaRPr lang="zh-CN" altLang="en-US" sz="2000" b="1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7649277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810156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最终成果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04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开发者侧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闭环</a:t>
            </a:r>
            <a:endParaRPr lang="zh-CN" altLang="en-US" sz="2000" b="1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7649277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810156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最终成果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04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后端与云上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运行</a:t>
            </a:r>
            <a:endParaRPr lang="zh-CN" altLang="en-US" sz="2000" b="1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9323627" y="0"/>
            <a:ext cx="168266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9468336" y="215903"/>
            <a:ext cx="135744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08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总结与展望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61546" y="1424800"/>
            <a:ext cx="1032658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/>
              <a:t>这里放学到的技术栈与</a:t>
            </a:r>
            <a:r>
              <a:rPr lang="zh-CN" altLang="en-US" sz="1600" b="1"/>
              <a:t>新体验</a:t>
            </a:r>
            <a:endParaRPr lang="zh-CN" altLang="en-US" sz="1600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9323627" y="0"/>
            <a:ext cx="168266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9468336" y="215903"/>
            <a:ext cx="135744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08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总结与展望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61546" y="1424800"/>
            <a:ext cx="1032658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/>
              <a:t>这里放</a:t>
            </a:r>
            <a:r>
              <a:rPr lang="zh-CN" altLang="en-US" sz="1600" b="1"/>
              <a:t>致谢</a:t>
            </a:r>
            <a:endParaRPr lang="zh-CN" altLang="en-US" sz="1600"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/>
          <p:cNvSpPr/>
          <p:nvPr/>
        </p:nvSpPr>
        <p:spPr>
          <a:xfrm>
            <a:off x="6634480" y="2194153"/>
            <a:ext cx="5400738" cy="1010108"/>
          </a:xfrm>
          <a:prstGeom prst="roundRect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4286902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02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37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8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研究现状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5383" y="1374025"/>
            <a:ext cx="11322051" cy="953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b="1"/>
              <a:t>对于长期预后优化治疗方案以及连续性决策支持，</a:t>
            </a:r>
            <a:r>
              <a:rPr lang="zh-CN" altLang="en-US" sz="1600" b="1">
                <a:solidFill>
                  <a:srgbClr val="C00000"/>
                </a:solidFill>
              </a:rPr>
              <a:t>强化学习</a:t>
            </a:r>
            <a:r>
              <a:rPr lang="zh-CN" altLang="en-US" sz="1600" b="1"/>
              <a:t>提供了一个可行的方案：强化学习根据当前患者状态决定下一步的行动，并逐步递进，根据连续性的状态、行动、奖励来针对最终的长期预后目标，训练一个行动策略，从而在每一步的诊疗过程中提供优化的建议。</a:t>
            </a:r>
            <a:endParaRPr lang="zh-CN" altLang="en-US" sz="16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35776" y="4228882"/>
            <a:ext cx="5348424" cy="381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sz="16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基于强化学习的</a:t>
            </a:r>
            <a:r>
              <a:rPr lang="en-US" altLang="zh-CN" sz="16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ICU</a:t>
            </a:r>
            <a:r>
              <a:rPr lang="zh-CN" altLang="en-US" sz="16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脓毒症患者治疗方案优化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896" y="2378679"/>
            <a:ext cx="5410906" cy="175768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96" y="4702660"/>
            <a:ext cx="5410906" cy="137070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sp>
        <p:nvSpPr>
          <p:cNvPr id="14" name="矩形 13"/>
          <p:cNvSpPr/>
          <p:nvPr/>
        </p:nvSpPr>
        <p:spPr>
          <a:xfrm>
            <a:off x="650131" y="6263118"/>
            <a:ext cx="4221502" cy="381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3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基于强化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学习的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T2DM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治疗方案建议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714024" y="2246866"/>
            <a:ext cx="5187302" cy="953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1600"/>
              <a:t>强化学习目前在临床上的应用包括为慢性疾病和重症监护患者提供</a:t>
            </a:r>
            <a:r>
              <a:rPr lang="zh-CN" altLang="en-US" sz="1600" b="1"/>
              <a:t>动态治疗方案</a:t>
            </a:r>
            <a:r>
              <a:rPr lang="zh-CN" altLang="en-US" sz="1600"/>
              <a:t>，以及基于患者的疾病史、体征、症状等信息进行</a:t>
            </a:r>
            <a:r>
              <a:rPr lang="zh-CN" altLang="en-US" sz="1600" b="1"/>
              <a:t>自动化医学诊断</a:t>
            </a:r>
            <a:r>
              <a:rPr lang="zh-CN" altLang="en-US" sz="1600"/>
              <a:t>。</a:t>
            </a:r>
            <a:endParaRPr lang="zh-CN" altLang="en-US" sz="1600"/>
          </a:p>
        </p:txBody>
      </p:sp>
      <p:sp>
        <p:nvSpPr>
          <p:cNvPr id="17" name="文本框 16"/>
          <p:cNvSpPr txBox="1"/>
          <p:nvPr/>
        </p:nvSpPr>
        <p:spPr>
          <a:xfrm>
            <a:off x="6634480" y="3642428"/>
            <a:ext cx="166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</a:rPr>
              <a:t>研究缺陷：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741198" y="4168702"/>
            <a:ext cx="5294020" cy="2390463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/>
              <a:t>目前临床研究主要为针对</a:t>
            </a:r>
            <a:r>
              <a:rPr lang="zh-CN" altLang="en-US" b="1">
                <a:solidFill>
                  <a:srgbClr val="C00000"/>
                </a:solidFill>
              </a:rPr>
              <a:t>单一疾病的动态治疗方案优化</a:t>
            </a:r>
            <a:r>
              <a:rPr lang="zh-CN" altLang="en-US"/>
              <a:t>，决策空间较小，状态空间单一。</a:t>
            </a:r>
            <a:endParaRPr lang="en-US" altLang="zh-CN"/>
          </a:p>
          <a:p>
            <a:pPr>
              <a:lnSpc>
                <a:spcPct val="120000"/>
              </a:lnSpc>
            </a:pPr>
            <a:endParaRPr lang="en-US" altLang="zh-CN"/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/>
              <a:t>强化学习</a:t>
            </a:r>
            <a:r>
              <a:rPr lang="zh-CN" altLang="en-US" b="1">
                <a:solidFill>
                  <a:srgbClr val="C00000"/>
                </a:solidFill>
              </a:rPr>
              <a:t>缺乏可解释性</a:t>
            </a:r>
            <a:r>
              <a:rPr lang="zh-CN" altLang="en-US"/>
              <a:t>，目前主流的强化学习往往与深度神经网络相结合，作为一个黑盒模型，接受一组数据作为输入，并直接输出一个难以解释的策略。</a:t>
            </a:r>
            <a:endParaRPr lang="en-US" altLang="zh-CN"/>
          </a:p>
        </p:txBody>
      </p:sp>
      <p:sp>
        <p:nvSpPr>
          <p:cNvPr id="20" name="左大括号 19"/>
          <p:cNvSpPr/>
          <p:nvPr/>
        </p:nvSpPr>
        <p:spPr>
          <a:xfrm rot="10800000">
            <a:off x="6236986" y="2272806"/>
            <a:ext cx="288766" cy="3990312"/>
          </a:xfrm>
          <a:prstGeom prst="leftBrace">
            <a:avLst>
              <a:gd name="adj1" fmla="val 8333"/>
              <a:gd name="adj2" fmla="val 85639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4714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研究内容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9" name="组合 1078"/>
          <p:cNvGrpSpPr/>
          <p:nvPr/>
        </p:nvGrpSpPr>
        <p:grpSpPr>
          <a:xfrm>
            <a:off x="755681" y="2114469"/>
            <a:ext cx="9623067" cy="4700546"/>
            <a:chOff x="814990" y="1345553"/>
            <a:chExt cx="10800523" cy="5275695"/>
          </a:xfrm>
        </p:grpSpPr>
        <p:sp>
          <p:nvSpPr>
            <p:cNvPr id="3" name="矩形: 圆角 2"/>
            <p:cNvSpPr/>
            <p:nvPr/>
          </p:nvSpPr>
          <p:spPr>
            <a:xfrm>
              <a:off x="3036813" y="5737121"/>
              <a:ext cx="6214008" cy="884127"/>
            </a:xfrm>
            <a:prstGeom prst="roundRect">
              <a:avLst>
                <a:gd name="adj" fmla="val 7431"/>
              </a:avLst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13028" y="5930480"/>
              <a:ext cx="531571" cy="477429"/>
            </a:xfrm>
            <a:prstGeom prst="rect">
              <a:avLst/>
            </a:prstGeom>
          </p:spPr>
        </p:pic>
        <p:sp>
          <p:nvSpPr>
            <p:cNvPr id="10" name="椭圆 9"/>
            <p:cNvSpPr/>
            <p:nvPr/>
          </p:nvSpPr>
          <p:spPr>
            <a:xfrm>
              <a:off x="1775614" y="3970622"/>
              <a:ext cx="633600" cy="633600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none" tIns="0"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主诉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3014220" y="3057916"/>
              <a:ext cx="722356" cy="722356"/>
            </a:xfrm>
            <a:prstGeom prst="ellipse">
              <a:avLst/>
            </a:prstGeom>
            <a:solidFill>
              <a:schemeClr val="tx1">
                <a:lumMod val="60000"/>
                <a:lumOff val="40000"/>
              </a:schemeClr>
            </a:solidFill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none" tIns="0"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初步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推断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3036814" y="4604222"/>
              <a:ext cx="633600" cy="633600"/>
            </a:xfrm>
            <a:prstGeom prst="ellipse">
              <a:avLst/>
            </a:prstGeom>
            <a:solidFill>
              <a:schemeClr val="tx1">
                <a:lumMod val="60000"/>
                <a:lumOff val="40000"/>
              </a:schemeClr>
            </a:solidFill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none" tIns="0"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验证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检查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3" name="直接箭头连接符 12"/>
            <p:cNvCxnSpPr>
              <a:stCxn id="10" idx="7"/>
              <a:endCxn id="11" idx="2"/>
            </p:cNvCxnSpPr>
            <p:nvPr/>
          </p:nvCxnSpPr>
          <p:spPr>
            <a:xfrm flipV="1">
              <a:off x="2316425" y="3419095"/>
              <a:ext cx="697794" cy="64431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: 圆角 14"/>
            <p:cNvSpPr/>
            <p:nvPr/>
          </p:nvSpPr>
          <p:spPr>
            <a:xfrm>
              <a:off x="4698872" y="5812529"/>
              <a:ext cx="275461" cy="7264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4785792" y="5899268"/>
              <a:ext cx="115200" cy="115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4785792" y="6097660"/>
              <a:ext cx="115200" cy="115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4785792" y="6313122"/>
              <a:ext cx="115200" cy="115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19" name="箭头: 右 18"/>
            <p:cNvSpPr/>
            <p:nvPr/>
          </p:nvSpPr>
          <p:spPr>
            <a:xfrm>
              <a:off x="4423130" y="6097660"/>
              <a:ext cx="165012" cy="133543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20" name="箭头: 右 19"/>
            <p:cNvSpPr/>
            <p:nvPr/>
          </p:nvSpPr>
          <p:spPr>
            <a:xfrm>
              <a:off x="5035497" y="6112413"/>
              <a:ext cx="165012" cy="133543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21" name="矩形: 圆角 20"/>
            <p:cNvSpPr/>
            <p:nvPr/>
          </p:nvSpPr>
          <p:spPr>
            <a:xfrm>
              <a:off x="6389618" y="6099461"/>
              <a:ext cx="616358" cy="20193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Action</a:t>
              </a:r>
              <a:endParaRPr lang="zh-CN" altLang="en-US" dirty="0"/>
            </a:p>
          </p:txBody>
        </p:sp>
        <p:cxnSp>
          <p:nvCxnSpPr>
            <p:cNvPr id="22" name="直接箭头连接符 21"/>
            <p:cNvCxnSpPr>
              <a:stCxn id="11" idx="4"/>
              <a:endCxn id="12" idx="0"/>
            </p:cNvCxnSpPr>
            <p:nvPr/>
          </p:nvCxnSpPr>
          <p:spPr>
            <a:xfrm flipH="1">
              <a:off x="3353614" y="3780273"/>
              <a:ext cx="21784" cy="8239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椭圆 22"/>
            <p:cNvSpPr/>
            <p:nvPr/>
          </p:nvSpPr>
          <p:spPr>
            <a:xfrm>
              <a:off x="4401359" y="3887367"/>
              <a:ext cx="706354" cy="70635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none" tIns="0"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检查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结果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4" name="直接箭头连接符 23"/>
            <p:cNvCxnSpPr>
              <a:stCxn id="12" idx="6"/>
              <a:endCxn id="23" idx="2"/>
            </p:cNvCxnSpPr>
            <p:nvPr/>
          </p:nvCxnSpPr>
          <p:spPr>
            <a:xfrm flipV="1">
              <a:off x="3670414" y="4240544"/>
              <a:ext cx="730946" cy="6804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连接符: 肘形 24"/>
            <p:cNvCxnSpPr>
              <a:stCxn id="10" idx="4"/>
              <a:endCxn id="3" idx="1"/>
            </p:cNvCxnSpPr>
            <p:nvPr/>
          </p:nvCxnSpPr>
          <p:spPr>
            <a:xfrm rot="16200000" flipH="1">
              <a:off x="1777131" y="4919505"/>
              <a:ext cx="1574965" cy="944399"/>
            </a:xfrm>
            <a:prstGeom prst="bentConnector2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/>
          </p:nvSpPr>
          <p:spPr>
            <a:xfrm>
              <a:off x="2105369" y="5747135"/>
              <a:ext cx="36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</a:t>
              </a:r>
              <a:r>
                <a:rPr lang="en-US" altLang="zh-CN" baseline="-25000" dirty="0"/>
                <a:t>0</a:t>
              </a:r>
              <a:endParaRPr lang="zh-CN" altLang="en-US" baseline="-25000" dirty="0"/>
            </a:p>
          </p:txBody>
        </p:sp>
        <p:cxnSp>
          <p:nvCxnSpPr>
            <p:cNvPr id="27" name="直接箭头连接符 26"/>
            <p:cNvCxnSpPr>
              <a:endCxn id="12" idx="4"/>
            </p:cNvCxnSpPr>
            <p:nvPr/>
          </p:nvCxnSpPr>
          <p:spPr>
            <a:xfrm flipV="1">
              <a:off x="3353614" y="5237822"/>
              <a:ext cx="0" cy="49930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/>
            <p:cNvSpPr txBox="1"/>
            <p:nvPr/>
          </p:nvSpPr>
          <p:spPr>
            <a:xfrm>
              <a:off x="3374145" y="5302806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a</a:t>
              </a:r>
              <a:r>
                <a:rPr lang="en-US" altLang="zh-CN" baseline="-25000" dirty="0"/>
                <a:t>0</a:t>
              </a:r>
              <a:endParaRPr lang="zh-CN" altLang="en-US" baseline="-25000" dirty="0"/>
            </a:p>
          </p:txBody>
        </p:sp>
        <p:sp>
          <p:nvSpPr>
            <p:cNvPr id="32" name="椭圆 31"/>
            <p:cNvSpPr/>
            <p:nvPr/>
          </p:nvSpPr>
          <p:spPr>
            <a:xfrm>
              <a:off x="5653844" y="3040828"/>
              <a:ext cx="633600" cy="633600"/>
            </a:xfrm>
            <a:prstGeom prst="ellipse">
              <a:avLst/>
            </a:prstGeom>
            <a:solidFill>
              <a:schemeClr val="tx1">
                <a:lumMod val="60000"/>
                <a:lumOff val="40000"/>
              </a:schemeClr>
            </a:solidFill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none" tIns="0"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诊断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5653844" y="4604222"/>
              <a:ext cx="633600" cy="633600"/>
            </a:xfrm>
            <a:prstGeom prst="ellipse">
              <a:avLst/>
            </a:prstGeom>
            <a:solidFill>
              <a:schemeClr val="tx1">
                <a:lumMod val="60000"/>
                <a:lumOff val="40000"/>
              </a:schemeClr>
            </a:solidFill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none" tIns="0"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治疗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4" name="直接箭头连接符 33"/>
            <p:cNvCxnSpPr>
              <a:stCxn id="23" idx="7"/>
              <a:endCxn id="32" idx="2"/>
            </p:cNvCxnSpPr>
            <p:nvPr/>
          </p:nvCxnSpPr>
          <p:spPr>
            <a:xfrm flipV="1">
              <a:off x="5004270" y="3357628"/>
              <a:ext cx="649575" cy="63318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>
              <a:stCxn id="32" idx="4"/>
              <a:endCxn id="33" idx="0"/>
            </p:cNvCxnSpPr>
            <p:nvPr/>
          </p:nvCxnSpPr>
          <p:spPr>
            <a:xfrm>
              <a:off x="5970644" y="3674428"/>
              <a:ext cx="0" cy="92979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椭圆 35"/>
            <p:cNvSpPr/>
            <p:nvPr/>
          </p:nvSpPr>
          <p:spPr>
            <a:xfrm>
              <a:off x="6916886" y="3970622"/>
              <a:ext cx="633600" cy="633600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none" tIns="0"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预后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8496727" y="3970622"/>
              <a:ext cx="633600" cy="633600"/>
            </a:xfrm>
            <a:prstGeom prst="ellipse">
              <a:avLst/>
            </a:prstGeom>
            <a:solidFill>
              <a:schemeClr val="tx1">
                <a:lumMod val="60000"/>
                <a:lumOff val="40000"/>
              </a:schemeClr>
            </a:solidFill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none" tIns="0"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治疗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0" name="直接箭头连接符 39"/>
            <p:cNvCxnSpPr>
              <a:stCxn id="33" idx="6"/>
              <a:endCxn id="36" idx="2"/>
            </p:cNvCxnSpPr>
            <p:nvPr/>
          </p:nvCxnSpPr>
          <p:spPr>
            <a:xfrm flipV="1">
              <a:off x="6287444" y="4287422"/>
              <a:ext cx="629442" cy="6336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>
              <a:stCxn id="36" idx="6"/>
              <a:endCxn id="39" idx="2"/>
            </p:cNvCxnSpPr>
            <p:nvPr/>
          </p:nvCxnSpPr>
          <p:spPr>
            <a:xfrm>
              <a:off x="7550486" y="4287422"/>
              <a:ext cx="94624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椭圆 41"/>
            <p:cNvSpPr/>
            <p:nvPr/>
          </p:nvSpPr>
          <p:spPr>
            <a:xfrm>
              <a:off x="10076568" y="3970622"/>
              <a:ext cx="633600" cy="633600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none" tIns="0"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3" name="直接箭头连接符 42"/>
            <p:cNvCxnSpPr>
              <a:stCxn id="39" idx="6"/>
              <a:endCxn id="42" idx="2"/>
            </p:cNvCxnSpPr>
            <p:nvPr/>
          </p:nvCxnSpPr>
          <p:spPr>
            <a:xfrm>
              <a:off x="9130327" y="4287422"/>
              <a:ext cx="94624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>
              <a:stCxn id="23" idx="4"/>
            </p:cNvCxnSpPr>
            <p:nvPr/>
          </p:nvCxnSpPr>
          <p:spPr>
            <a:xfrm flipH="1">
              <a:off x="4736348" y="4593721"/>
              <a:ext cx="18188" cy="1153414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文本框 44"/>
                <p:cNvSpPr txBox="1"/>
                <p:nvPr/>
              </p:nvSpPr>
              <p:spPr>
                <a:xfrm>
                  <a:off x="3111956" y="6404684"/>
                  <a:ext cx="141275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𝐺𝐶𝑁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45" name="文本框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1956" y="6404684"/>
                  <a:ext cx="1412758" cy="184666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文本框 45"/>
            <p:cNvSpPr txBox="1"/>
            <p:nvPr/>
          </p:nvSpPr>
          <p:spPr>
            <a:xfrm>
              <a:off x="3038467" y="6007841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状态嵌入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流程图: 多文档 46"/>
            <p:cNvSpPr/>
            <p:nvPr/>
          </p:nvSpPr>
          <p:spPr>
            <a:xfrm>
              <a:off x="7572491" y="6231735"/>
              <a:ext cx="731552" cy="343198"/>
            </a:xfrm>
            <a:prstGeom prst="flowChartMultidocumen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t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zh-CN" sz="1050" dirty="0"/>
                <a:t>rules</a:t>
              </a:r>
              <a:endParaRPr lang="zh-CN" altLang="en-US" sz="1050" dirty="0"/>
            </a:p>
          </p:txBody>
        </p:sp>
        <p:sp>
          <p:nvSpPr>
            <p:cNvPr id="48" name="箭头: 右 47"/>
            <p:cNvSpPr/>
            <p:nvPr/>
          </p:nvSpPr>
          <p:spPr>
            <a:xfrm rot="10800000">
              <a:off x="7172376" y="6313933"/>
              <a:ext cx="165012" cy="133543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49" name="流程图: 预定义过程 48"/>
            <p:cNvSpPr/>
            <p:nvPr/>
          </p:nvSpPr>
          <p:spPr>
            <a:xfrm>
              <a:off x="7572491" y="5848529"/>
              <a:ext cx="731552" cy="285131"/>
            </a:xfrm>
            <a:prstGeom prst="flowChartPredefinedProcess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t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zh-CN" sz="1050" dirty="0"/>
                <a:t>reward</a:t>
              </a:r>
              <a:endParaRPr lang="zh-CN" altLang="en-US" sz="1050" dirty="0"/>
            </a:p>
          </p:txBody>
        </p:sp>
        <p:sp>
          <p:nvSpPr>
            <p:cNvPr id="50" name="箭头: 右 49"/>
            <p:cNvSpPr/>
            <p:nvPr/>
          </p:nvSpPr>
          <p:spPr>
            <a:xfrm rot="10800000">
              <a:off x="7172376" y="5920659"/>
              <a:ext cx="165012" cy="133543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8413416" y="6231202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行为空间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8413416" y="5843053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奖励函数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4681145" y="4937593"/>
              <a:ext cx="36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</a:t>
              </a:r>
              <a:r>
                <a:rPr lang="en-US" altLang="zh-CN" baseline="-25000" dirty="0"/>
                <a:t>1</a:t>
              </a:r>
              <a:endParaRPr lang="zh-CN" altLang="en-US" baseline="-250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文本框 53"/>
                <p:cNvSpPr txBox="1"/>
                <p:nvPr/>
              </p:nvSpPr>
              <p:spPr>
                <a:xfrm>
                  <a:off x="4682740" y="5334936"/>
                  <a:ext cx="1182183" cy="3189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𝑚𝑎𝑖𝑛</m:t>
                            </m:r>
                          </m:sub>
                          <m:sup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𝑠𝑖𝑑𝑒</m:t>
                            </m:r>
                          </m:sub>
                          <m:sup>
                            <m: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baseline="-25000" dirty="0"/>
                </a:p>
              </p:txBody>
            </p:sp>
          </mc:Choice>
          <mc:Fallback>
            <p:sp>
              <p:nvSpPr>
                <p:cNvPr id="54" name="文本框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2740" y="5334936"/>
                  <a:ext cx="1182183" cy="318933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直接箭头连接符 54"/>
            <p:cNvCxnSpPr>
              <a:endCxn id="33" idx="4"/>
            </p:cNvCxnSpPr>
            <p:nvPr/>
          </p:nvCxnSpPr>
          <p:spPr>
            <a:xfrm flipV="1">
              <a:off x="5970644" y="5237822"/>
              <a:ext cx="0" cy="49930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文本框 55"/>
            <p:cNvSpPr txBox="1"/>
            <p:nvPr/>
          </p:nvSpPr>
          <p:spPr>
            <a:xfrm>
              <a:off x="6074185" y="5306180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a</a:t>
              </a:r>
              <a:r>
                <a:rPr lang="en-US" altLang="zh-CN" baseline="-25000" dirty="0"/>
                <a:t>1</a:t>
              </a:r>
              <a:endParaRPr lang="zh-CN" altLang="en-US" baseline="-25000" dirty="0"/>
            </a:p>
          </p:txBody>
        </p:sp>
        <p:cxnSp>
          <p:nvCxnSpPr>
            <p:cNvPr id="57" name="直接箭头连接符 56"/>
            <p:cNvCxnSpPr>
              <a:stCxn id="36" idx="4"/>
            </p:cNvCxnSpPr>
            <p:nvPr/>
          </p:nvCxnSpPr>
          <p:spPr>
            <a:xfrm>
              <a:off x="7233686" y="4604222"/>
              <a:ext cx="0" cy="113290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57"/>
            <p:cNvSpPr txBox="1"/>
            <p:nvPr/>
          </p:nvSpPr>
          <p:spPr>
            <a:xfrm>
              <a:off x="7233994" y="4937839"/>
              <a:ext cx="36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</a:t>
              </a:r>
              <a:r>
                <a:rPr lang="en-US" altLang="zh-CN" baseline="-25000" dirty="0"/>
                <a:t>2</a:t>
              </a:r>
              <a:endParaRPr lang="zh-CN" altLang="en-US" baseline="-25000" dirty="0"/>
            </a:p>
          </p:txBody>
        </p:sp>
        <p:cxnSp>
          <p:nvCxnSpPr>
            <p:cNvPr id="59" name="直接箭头连接符 58"/>
            <p:cNvCxnSpPr>
              <a:endCxn id="39" idx="4"/>
            </p:cNvCxnSpPr>
            <p:nvPr/>
          </p:nvCxnSpPr>
          <p:spPr>
            <a:xfrm flipV="1">
              <a:off x="8813527" y="4604222"/>
              <a:ext cx="0" cy="1125783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框 59"/>
            <p:cNvSpPr txBox="1"/>
            <p:nvPr/>
          </p:nvSpPr>
          <p:spPr>
            <a:xfrm>
              <a:off x="8827949" y="5299439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a</a:t>
              </a:r>
              <a:r>
                <a:rPr lang="en-US" altLang="zh-CN" baseline="-25000" dirty="0"/>
                <a:t>2</a:t>
              </a:r>
              <a:endParaRPr lang="zh-CN" altLang="en-US" baseline="-25000" dirty="0"/>
            </a:p>
          </p:txBody>
        </p:sp>
        <p:cxnSp>
          <p:nvCxnSpPr>
            <p:cNvPr id="61" name="连接符: 肘形 60"/>
            <p:cNvCxnSpPr>
              <a:stCxn id="42" idx="4"/>
              <a:endCxn id="3" idx="3"/>
            </p:cNvCxnSpPr>
            <p:nvPr/>
          </p:nvCxnSpPr>
          <p:spPr>
            <a:xfrm rot="5400000">
              <a:off x="9034612" y="4820430"/>
              <a:ext cx="1574964" cy="114254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文本框 61"/>
                <p:cNvSpPr txBox="1"/>
                <p:nvPr/>
              </p:nvSpPr>
              <p:spPr>
                <a:xfrm>
                  <a:off x="7231234" y="5356578"/>
                  <a:ext cx="1182183" cy="3189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𝑚𝑎𝑖𝑛</m:t>
                            </m:r>
                          </m:sub>
                          <m:sup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𝑠𝑖𝑑𝑒</m:t>
                            </m:r>
                          </m:sub>
                          <m:sup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baseline="-25000" dirty="0"/>
                </a:p>
              </p:txBody>
            </p:sp>
          </mc:Choice>
          <mc:Fallback>
            <p:sp>
              <p:nvSpPr>
                <p:cNvPr id="62" name="文本框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1234" y="5356578"/>
                  <a:ext cx="1182183" cy="318933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文本框 62"/>
                <p:cNvSpPr txBox="1"/>
                <p:nvPr/>
              </p:nvSpPr>
              <p:spPr>
                <a:xfrm>
                  <a:off x="10433331" y="5747134"/>
                  <a:ext cx="1182182" cy="31797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𝑚𝑎𝑖𝑛</m:t>
                            </m:r>
                          </m:sub>
                          <m:sup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𝑠𝑖𝑑𝑒</m:t>
                            </m:r>
                          </m:sub>
                          <m:sup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baseline="-25000" dirty="0"/>
                </a:p>
              </p:txBody>
            </p:sp>
          </mc:Choice>
          <mc:Fallback>
            <p:sp>
              <p:nvSpPr>
                <p:cNvPr id="63" name="文本框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33331" y="5747134"/>
                  <a:ext cx="1182182" cy="317972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4" name="文本框 1023"/>
            <p:cNvSpPr txBox="1"/>
            <p:nvPr/>
          </p:nvSpPr>
          <p:spPr>
            <a:xfrm>
              <a:off x="5400879" y="5704553"/>
              <a:ext cx="5196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DQN</a:t>
              </a:r>
              <a:endParaRPr lang="zh-CN" altLang="en-US" sz="1200" dirty="0"/>
            </a:p>
          </p:txBody>
        </p:sp>
        <p:sp>
          <p:nvSpPr>
            <p:cNvPr id="1025" name="文本框 1024"/>
            <p:cNvSpPr txBox="1"/>
            <p:nvPr/>
          </p:nvSpPr>
          <p:spPr>
            <a:xfrm>
              <a:off x="3879553" y="5714094"/>
              <a:ext cx="3738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KG</a:t>
              </a:r>
              <a:endParaRPr lang="zh-CN" altLang="en-US" sz="1200" dirty="0"/>
            </a:p>
          </p:txBody>
        </p:sp>
        <p:cxnSp>
          <p:nvCxnSpPr>
            <p:cNvPr id="1026" name="直接连接符 1025"/>
            <p:cNvCxnSpPr/>
            <p:nvPr/>
          </p:nvCxnSpPr>
          <p:spPr>
            <a:xfrm>
              <a:off x="1621277" y="2901600"/>
              <a:ext cx="9295823" cy="0"/>
            </a:xfrm>
            <a:prstGeom prst="line">
              <a:avLst/>
            </a:prstGeom>
            <a:ln w="19050">
              <a:solidFill>
                <a:srgbClr val="C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7" name="椭圆 1026"/>
            <p:cNvSpPr/>
            <p:nvPr/>
          </p:nvSpPr>
          <p:spPr>
            <a:xfrm>
              <a:off x="1775613" y="1637455"/>
              <a:ext cx="633600" cy="63360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none" tIns="0"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主诉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8" name="矩形: 圆角 1027"/>
            <p:cNvSpPr/>
            <p:nvPr/>
          </p:nvSpPr>
          <p:spPr>
            <a:xfrm>
              <a:off x="2858330" y="1409526"/>
              <a:ext cx="1332784" cy="1092618"/>
            </a:xfrm>
            <a:prstGeom prst="roundRect">
              <a:avLst>
                <a:gd name="adj" fmla="val 7431"/>
              </a:avLst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pic>
          <p:nvPicPr>
            <p:cNvPr id="1029" name="图片 102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941485" y="1841647"/>
              <a:ext cx="531571" cy="477429"/>
            </a:xfrm>
            <a:prstGeom prst="rect">
              <a:avLst/>
            </a:prstGeom>
          </p:spPr>
        </p:pic>
        <p:sp>
          <p:nvSpPr>
            <p:cNvPr id="1030" name="流程图: 多文档 1029"/>
            <p:cNvSpPr/>
            <p:nvPr/>
          </p:nvSpPr>
          <p:spPr>
            <a:xfrm>
              <a:off x="3571183" y="1886350"/>
              <a:ext cx="589349" cy="413773"/>
            </a:xfrm>
            <a:prstGeom prst="flowChartMultidocumen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t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zh-CN" sz="1000" dirty="0"/>
                <a:t>rules</a:t>
              </a:r>
              <a:endParaRPr lang="zh-CN" altLang="en-US" sz="1000" dirty="0"/>
            </a:p>
          </p:txBody>
        </p:sp>
        <p:sp>
          <p:nvSpPr>
            <p:cNvPr id="1031" name="文本框 1030"/>
            <p:cNvSpPr txBox="1"/>
            <p:nvPr/>
          </p:nvSpPr>
          <p:spPr>
            <a:xfrm>
              <a:off x="3124611" y="1523824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图谱推理</a:t>
              </a:r>
              <a:endParaRPr lang="zh-CN" altLang="en-US" sz="1200" dirty="0"/>
            </a:p>
          </p:txBody>
        </p:sp>
        <p:sp>
          <p:nvSpPr>
            <p:cNvPr id="1032" name="椭圆 1031"/>
            <p:cNvSpPr/>
            <p:nvPr/>
          </p:nvSpPr>
          <p:spPr>
            <a:xfrm>
              <a:off x="4640232" y="1639035"/>
              <a:ext cx="633600" cy="633600"/>
            </a:xfrm>
            <a:prstGeom prst="ellipse">
              <a:avLst/>
            </a:prstGeom>
            <a:solidFill>
              <a:schemeClr val="tx1">
                <a:lumMod val="60000"/>
                <a:lumOff val="40000"/>
              </a:schemeClr>
            </a:solidFill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none" tIns="0"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疾病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概率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33" name="直接箭头连接符 1032"/>
            <p:cNvCxnSpPr>
              <a:stCxn id="1027" idx="6"/>
              <a:endCxn id="1028" idx="1"/>
            </p:cNvCxnSpPr>
            <p:nvPr/>
          </p:nvCxnSpPr>
          <p:spPr>
            <a:xfrm>
              <a:off x="2409213" y="1954255"/>
              <a:ext cx="449117" cy="15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直接箭头连接符 1033"/>
            <p:cNvCxnSpPr>
              <a:stCxn id="1028" idx="3"/>
              <a:endCxn id="1032" idx="2"/>
            </p:cNvCxnSpPr>
            <p:nvPr/>
          </p:nvCxnSpPr>
          <p:spPr>
            <a:xfrm>
              <a:off x="4191114" y="1955835"/>
              <a:ext cx="44911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5" name="椭圆 1034"/>
            <p:cNvSpPr/>
            <p:nvPr/>
          </p:nvSpPr>
          <p:spPr>
            <a:xfrm>
              <a:off x="5933116" y="1633011"/>
              <a:ext cx="633600" cy="63360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none" tIns="0"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诊断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6" name="矩形: 圆角 1035"/>
            <p:cNvSpPr/>
            <p:nvPr/>
          </p:nvSpPr>
          <p:spPr>
            <a:xfrm>
              <a:off x="7015833" y="1405082"/>
              <a:ext cx="1332784" cy="1092618"/>
            </a:xfrm>
            <a:prstGeom prst="roundRect">
              <a:avLst>
                <a:gd name="adj" fmla="val 7431"/>
              </a:avLst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pic>
          <p:nvPicPr>
            <p:cNvPr id="1037" name="图片 103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098988" y="1837204"/>
              <a:ext cx="531571" cy="477429"/>
            </a:xfrm>
            <a:prstGeom prst="rect">
              <a:avLst/>
            </a:prstGeom>
          </p:spPr>
        </p:pic>
        <p:sp>
          <p:nvSpPr>
            <p:cNvPr id="1038" name="流程图: 多文档 1037"/>
            <p:cNvSpPr/>
            <p:nvPr/>
          </p:nvSpPr>
          <p:spPr>
            <a:xfrm>
              <a:off x="7692033" y="1881906"/>
              <a:ext cx="619929" cy="397147"/>
            </a:xfrm>
            <a:prstGeom prst="flowChartMultidocumen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t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zh-CN" sz="1000"/>
                <a:t>rules</a:t>
              </a:r>
              <a:endParaRPr lang="zh-CN" altLang="en-US" sz="1000" dirty="0"/>
            </a:p>
          </p:txBody>
        </p:sp>
        <p:sp>
          <p:nvSpPr>
            <p:cNvPr id="1039" name="文本框 1038"/>
            <p:cNvSpPr txBox="1"/>
            <p:nvPr/>
          </p:nvSpPr>
          <p:spPr>
            <a:xfrm>
              <a:off x="7282115" y="1519380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图谱推理</a:t>
              </a:r>
              <a:endParaRPr lang="zh-CN" altLang="en-US" sz="1200" dirty="0"/>
            </a:p>
          </p:txBody>
        </p:sp>
        <p:sp>
          <p:nvSpPr>
            <p:cNvPr id="1040" name="椭圆 1039"/>
            <p:cNvSpPr/>
            <p:nvPr/>
          </p:nvSpPr>
          <p:spPr>
            <a:xfrm>
              <a:off x="8797734" y="1634590"/>
              <a:ext cx="633600" cy="633600"/>
            </a:xfrm>
            <a:prstGeom prst="ellipse">
              <a:avLst/>
            </a:prstGeom>
            <a:solidFill>
              <a:schemeClr val="tx1">
                <a:lumMod val="60000"/>
                <a:lumOff val="40000"/>
              </a:schemeClr>
            </a:solidFill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none" tIns="0"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治疗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方案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41" name="直接箭头连接符 1040"/>
            <p:cNvCxnSpPr>
              <a:stCxn id="1035" idx="6"/>
              <a:endCxn id="1036" idx="1"/>
            </p:cNvCxnSpPr>
            <p:nvPr/>
          </p:nvCxnSpPr>
          <p:spPr>
            <a:xfrm>
              <a:off x="6566716" y="1949811"/>
              <a:ext cx="449117" cy="15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直接箭头连接符 1041"/>
            <p:cNvCxnSpPr>
              <a:stCxn id="1036" idx="3"/>
              <a:endCxn id="1040" idx="2"/>
            </p:cNvCxnSpPr>
            <p:nvPr/>
          </p:nvCxnSpPr>
          <p:spPr>
            <a:xfrm>
              <a:off x="8348617" y="1951390"/>
              <a:ext cx="44911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3" name="椭圆 1042"/>
            <p:cNvSpPr/>
            <p:nvPr/>
          </p:nvSpPr>
          <p:spPr>
            <a:xfrm>
              <a:off x="10076568" y="1633011"/>
              <a:ext cx="681622" cy="68162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none" tIns="0"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预后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44" name="直接连接符 1043"/>
            <p:cNvCxnSpPr/>
            <p:nvPr/>
          </p:nvCxnSpPr>
          <p:spPr>
            <a:xfrm>
              <a:off x="5642465" y="1365736"/>
              <a:ext cx="0" cy="120851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直接连接符 1044"/>
            <p:cNvCxnSpPr/>
            <p:nvPr/>
          </p:nvCxnSpPr>
          <p:spPr>
            <a:xfrm>
              <a:off x="9711116" y="1345553"/>
              <a:ext cx="0" cy="120851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2" name="文本框 1071"/>
            <p:cNvSpPr txBox="1"/>
            <p:nvPr/>
          </p:nvSpPr>
          <p:spPr>
            <a:xfrm>
              <a:off x="814990" y="1633012"/>
              <a:ext cx="725415" cy="7254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</a:rPr>
                <a:t>独立</a:t>
              </a:r>
              <a:endParaRPr lang="en-US" altLang="zh-CN" b="1" dirty="0">
                <a:solidFill>
                  <a:srgbClr val="C00000"/>
                </a:solidFill>
              </a:endParaRPr>
            </a:p>
            <a:p>
              <a:r>
                <a:rPr lang="zh-CN" altLang="en-US" b="1" dirty="0">
                  <a:solidFill>
                    <a:srgbClr val="C00000"/>
                  </a:solidFill>
                </a:rPr>
                <a:t>过程</a:t>
              </a:r>
              <a:endParaRPr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1075" name="文本框 1074"/>
            <p:cNvSpPr txBox="1"/>
            <p:nvPr/>
          </p:nvSpPr>
          <p:spPr>
            <a:xfrm>
              <a:off x="814990" y="3970621"/>
              <a:ext cx="725415" cy="7254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</a:rPr>
                <a:t>复合</a:t>
              </a:r>
              <a:endParaRPr lang="en-US" altLang="zh-CN" b="1" dirty="0">
                <a:solidFill>
                  <a:srgbClr val="C00000"/>
                </a:solidFill>
              </a:endParaRPr>
            </a:p>
            <a:p>
              <a:r>
                <a:rPr lang="zh-CN" altLang="en-US" b="1" dirty="0">
                  <a:solidFill>
                    <a:srgbClr val="C00000"/>
                  </a:solidFill>
                </a:rPr>
                <a:t>过程</a:t>
              </a:r>
              <a:endParaRPr lang="zh-CN" altLang="en-US" b="1" dirty="0">
                <a:solidFill>
                  <a:srgbClr val="C00000"/>
                </a:solidFill>
              </a:endParaRPr>
            </a:p>
          </p:txBody>
        </p:sp>
        <p:cxnSp>
          <p:nvCxnSpPr>
            <p:cNvPr id="1051" name="直接箭头连接符 1050"/>
            <p:cNvCxnSpPr/>
            <p:nvPr/>
          </p:nvCxnSpPr>
          <p:spPr>
            <a:xfrm>
              <a:off x="7570323" y="4289158"/>
              <a:ext cx="94624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1" name="箭头: 下 1070"/>
            <p:cNvSpPr/>
            <p:nvPr/>
          </p:nvSpPr>
          <p:spPr>
            <a:xfrm>
              <a:off x="885315" y="2820708"/>
              <a:ext cx="432000" cy="778711"/>
            </a:xfrm>
            <a:prstGeom prst="downArrow">
              <a:avLst/>
            </a:prstGeom>
            <a:solidFill>
              <a:srgbClr val="A023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1" name="文本框 1080"/>
          <p:cNvSpPr txBox="1"/>
          <p:nvPr/>
        </p:nvSpPr>
        <p:spPr>
          <a:xfrm>
            <a:off x="445383" y="1345450"/>
            <a:ext cx="11322051" cy="658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zh-CN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本研究开发一个面向全局临床诊疗的多轮持续决策支持模型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基于患者当前疾病信息背景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利用知识图谱</a:t>
            </a:r>
            <a:r>
              <a:rPr lang="zh-CN" altLang="zh-CN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生成可行的临床诊疗方案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，根</a:t>
            </a:r>
            <a:r>
              <a:rPr lang="zh-CN" altLang="zh-CN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据当前病情状态和全局预后目标，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通过强化学习算法</a:t>
            </a:r>
            <a:r>
              <a:rPr lang="zh-CN" altLang="zh-CN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选择最优的行为策略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，进而达到最优的全局预后目标。</a:t>
            </a:r>
            <a:endParaRPr lang="zh-CN" altLang="en-US" sz="16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89" name="图片 10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6041" y="6220229"/>
            <a:ext cx="832604" cy="494063"/>
          </a:xfrm>
          <a:prstGeom prst="rect">
            <a:avLst/>
          </a:prstGeom>
        </p:spPr>
      </p:pic>
      <p:sp>
        <p:nvSpPr>
          <p:cNvPr id="1100" name="矩形: 圆角 1099"/>
          <p:cNvSpPr/>
          <p:nvPr/>
        </p:nvSpPr>
        <p:spPr>
          <a:xfrm>
            <a:off x="9882346" y="4409157"/>
            <a:ext cx="2174247" cy="1162331"/>
          </a:xfrm>
          <a:prstGeom prst="roundRect">
            <a:avLst/>
          </a:prstGeom>
          <a:noFill/>
          <a:ln w="28575">
            <a:solidFill>
              <a:srgbClr val="A02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1" name="文本框 1100"/>
          <p:cNvSpPr txBox="1"/>
          <p:nvPr/>
        </p:nvSpPr>
        <p:spPr>
          <a:xfrm>
            <a:off x="9979817" y="4562770"/>
            <a:ext cx="2055748" cy="953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/>
              <a:t>引入知识图谱提高可解释性，同时生成合理动态诊疗方案选择。</a:t>
            </a:r>
            <a:endParaRPr lang="zh-CN" altLang="en-US" sz="1600"/>
          </a:p>
        </p:txBody>
      </p:sp>
      <p:sp>
        <p:nvSpPr>
          <p:cNvPr id="1179" name="箭头: 下 1178"/>
          <p:cNvSpPr/>
          <p:nvPr/>
        </p:nvSpPr>
        <p:spPr>
          <a:xfrm>
            <a:off x="10691610" y="3618215"/>
            <a:ext cx="384904" cy="693817"/>
          </a:xfrm>
          <a:prstGeom prst="downArrow">
            <a:avLst/>
          </a:prstGeom>
          <a:solidFill>
            <a:srgbClr val="A023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80" name="图片 117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5044" y="2056303"/>
            <a:ext cx="1580144" cy="146097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7649277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810156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04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4714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技术路线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61546" y="1424800"/>
            <a:ext cx="10326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/>
              <a:t>本研究利用知识图谱三元组的本体结构，将分散的医学知识和数据转化为以患者、疾病等临床关键要素为核心的信息模型，基于知识图谱来建模患者状态信息和提供合理临床决策。</a:t>
            </a:r>
            <a:endParaRPr lang="zh-CN" altLang="en-US" sz="1600" b="1"/>
          </a:p>
        </p:txBody>
      </p:sp>
      <p:sp>
        <p:nvSpPr>
          <p:cNvPr id="10" name="文本框 9"/>
          <p:cNvSpPr txBox="1"/>
          <p:nvPr/>
        </p:nvSpPr>
        <p:spPr>
          <a:xfrm>
            <a:off x="1734185" y="2293620"/>
            <a:ext cx="1381760" cy="36957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/>
              <a:t>医学知识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760855" y="3131820"/>
            <a:ext cx="1381760" cy="36957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/>
              <a:t>疾病数据</a:t>
            </a:r>
            <a:endParaRPr lang="zh-CN" altLang="en-US"/>
          </a:p>
        </p:txBody>
      </p:sp>
      <p:sp>
        <p:nvSpPr>
          <p:cNvPr id="12" name="powerpoint template design by DAJU_PPT正版来源小红书大橘PPT微信DAJU_PPT请勿抄袭搬运！盗版必究！-5"/>
          <p:cNvSpPr/>
          <p:nvPr/>
        </p:nvSpPr>
        <p:spPr>
          <a:xfrm>
            <a:off x="1414780" y="2313305"/>
            <a:ext cx="163830" cy="1145540"/>
          </a:xfrm>
          <a:prstGeom prst="leftBrace">
            <a:avLst>
              <a:gd name="adj1" fmla="val 174625"/>
              <a:gd name="adj2" fmla="val 50000"/>
            </a:avLst>
          </a:prstGeom>
          <a:noFill/>
          <a:ln w="28575" cap="flat" cmpd="sng" algn="ctr">
            <a:solidFill>
              <a:srgbClr val="CFAF6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52145" y="2449830"/>
            <a:ext cx="697230" cy="923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非结构化数据</a:t>
            </a:r>
            <a:endParaRPr lang="zh-CN" altLang="en-US"/>
          </a:p>
        </p:txBody>
      </p:sp>
      <p:grpSp>
        <p:nvGrpSpPr>
          <p:cNvPr id="53" name="组合 52"/>
          <p:cNvGrpSpPr/>
          <p:nvPr/>
        </p:nvGrpSpPr>
        <p:grpSpPr>
          <a:xfrm>
            <a:off x="4145280" y="2155825"/>
            <a:ext cx="3949700" cy="1297305"/>
            <a:chOff x="3562157" y="1806676"/>
            <a:chExt cx="4882119" cy="2389517"/>
          </a:xfrm>
        </p:grpSpPr>
        <p:sp>
          <p:nvSpPr>
            <p:cNvPr id="52" name="矩形 51"/>
            <p:cNvSpPr/>
            <p:nvPr/>
          </p:nvSpPr>
          <p:spPr>
            <a:xfrm>
              <a:off x="3562157" y="1806676"/>
              <a:ext cx="4882119" cy="23895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3831657" y="2005863"/>
              <a:ext cx="4191562" cy="1907265"/>
              <a:chOff x="3171257" y="1618255"/>
              <a:chExt cx="4495800" cy="2045701"/>
            </a:xfrm>
          </p:grpSpPr>
          <p:sp>
            <p:nvSpPr>
              <p:cNvPr id="14" name="Google Shape;3379;p54"/>
              <p:cNvSpPr/>
              <p:nvPr/>
            </p:nvSpPr>
            <p:spPr>
              <a:xfrm>
                <a:off x="3171257" y="1618255"/>
                <a:ext cx="1946910" cy="652780"/>
              </a:xfrm>
              <a:prstGeom prst="rect">
                <a:avLst/>
              </a:prstGeom>
              <a:solidFill>
                <a:srgbClr val="F3F3F3"/>
              </a:solidFill>
              <a:ln w="19050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/>
                  <a:t>实体和关系提取</a:t>
                </a:r>
                <a:endParaRPr lang="en-GB" sz="1100"/>
              </a:p>
            </p:txBody>
          </p:sp>
          <p:sp>
            <p:nvSpPr>
              <p:cNvPr id="15" name="Google Shape;3380;p54"/>
              <p:cNvSpPr/>
              <p:nvPr/>
            </p:nvSpPr>
            <p:spPr>
              <a:xfrm>
                <a:off x="5882707" y="1618255"/>
                <a:ext cx="1784350" cy="652780"/>
              </a:xfrm>
              <a:prstGeom prst="rect">
                <a:avLst/>
              </a:prstGeom>
              <a:solidFill>
                <a:srgbClr val="F3F3F3"/>
              </a:solidFill>
              <a:ln w="19050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/>
                  <a:t>医学概念规范化</a:t>
                </a:r>
                <a:endParaRPr lang="en-GB" sz="1100"/>
              </a:p>
            </p:txBody>
          </p:sp>
          <p:sp>
            <p:nvSpPr>
              <p:cNvPr id="16" name="Google Shape;3381;p54"/>
              <p:cNvSpPr/>
              <p:nvPr/>
            </p:nvSpPr>
            <p:spPr>
              <a:xfrm>
                <a:off x="3171257" y="3011176"/>
                <a:ext cx="1946910" cy="652780"/>
              </a:xfrm>
              <a:prstGeom prst="rect">
                <a:avLst/>
              </a:prstGeom>
              <a:solidFill>
                <a:srgbClr val="F3F3F3"/>
              </a:solidFill>
              <a:ln w="19050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/>
                  <a:t>知识融合</a:t>
                </a:r>
                <a:endParaRPr lang="en-GB" sz="1100"/>
              </a:p>
            </p:txBody>
          </p:sp>
          <p:sp>
            <p:nvSpPr>
              <p:cNvPr id="17" name="Google Shape;3382;p54"/>
              <p:cNvSpPr/>
              <p:nvPr/>
            </p:nvSpPr>
            <p:spPr>
              <a:xfrm>
                <a:off x="5931819" y="3011176"/>
                <a:ext cx="1686126" cy="652780"/>
              </a:xfrm>
              <a:prstGeom prst="rect">
                <a:avLst/>
              </a:prstGeom>
              <a:solidFill>
                <a:srgbClr val="F3F3F3"/>
              </a:solidFill>
              <a:ln w="19050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/>
                  <a:t>知识图谱补全</a:t>
                </a:r>
                <a:endParaRPr lang="en-GB" sz="1100"/>
              </a:p>
            </p:txBody>
          </p:sp>
          <p:cxnSp>
            <p:nvCxnSpPr>
              <p:cNvPr id="18" name="Google Shape;3385;p54"/>
              <p:cNvCxnSpPr>
                <a:stCxn id="15" idx="2"/>
                <a:endCxn id="17" idx="0"/>
              </p:cNvCxnSpPr>
              <p:nvPr/>
            </p:nvCxnSpPr>
            <p:spPr>
              <a:xfrm>
                <a:off x="6774882" y="2271035"/>
                <a:ext cx="0" cy="740141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9" name="Google Shape;3387;p54"/>
              <p:cNvCxnSpPr>
                <a:stCxn id="17" idx="1"/>
                <a:endCxn id="16" idx="3"/>
              </p:cNvCxnSpPr>
              <p:nvPr/>
            </p:nvCxnSpPr>
            <p:spPr>
              <a:xfrm flipH="1">
                <a:off x="5118167" y="3337566"/>
                <a:ext cx="813652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5" name="Google Shape;3388;p54"/>
              <p:cNvCxnSpPr>
                <a:stCxn id="14" idx="3"/>
                <a:endCxn id="15" idx="1"/>
              </p:cNvCxnSpPr>
              <p:nvPr/>
            </p:nvCxnSpPr>
            <p:spPr>
              <a:xfrm>
                <a:off x="5118167" y="1944645"/>
                <a:ext cx="76454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51" name="箭头: 右 50"/>
          <p:cNvSpPr/>
          <p:nvPr/>
        </p:nvSpPr>
        <p:spPr>
          <a:xfrm>
            <a:off x="3224530" y="2500630"/>
            <a:ext cx="701040" cy="6083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5097145" y="3470275"/>
            <a:ext cx="3172460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自然语言处理技术</a:t>
            </a:r>
            <a:endParaRPr lang="zh-CN" altLang="en-US" b="1"/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185" y="3922395"/>
            <a:ext cx="6584315" cy="249174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sp>
        <p:nvSpPr>
          <p:cNvPr id="59" name="箭头: 右 58"/>
          <p:cNvSpPr/>
          <p:nvPr/>
        </p:nvSpPr>
        <p:spPr>
          <a:xfrm>
            <a:off x="8196580" y="2449830"/>
            <a:ext cx="701040" cy="6083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8956675" y="2060575"/>
            <a:ext cx="2583180" cy="1422400"/>
          </a:xfrm>
          <a:prstGeom prst="rect">
            <a:avLst/>
          </a:prstGeom>
          <a:solidFill>
            <a:srgbClr val="F84D4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/>
              <a:t>节点</a:t>
            </a:r>
            <a:r>
              <a:rPr lang="en-US" altLang="zh-CN" sz="2000"/>
              <a:t>– </a:t>
            </a:r>
            <a:r>
              <a:rPr lang="zh-CN" altLang="en-US" sz="2000"/>
              <a:t>关系</a:t>
            </a:r>
            <a:r>
              <a:rPr lang="en-US" altLang="zh-CN" sz="2000"/>
              <a:t>-</a:t>
            </a:r>
            <a:r>
              <a:rPr lang="en-US" altLang="zh-CN" sz="2000">
                <a:sym typeface="Wingdings" panose="05000000000000000000" pitchFamily="2" charset="2"/>
              </a:rPr>
              <a:t>&gt;</a:t>
            </a:r>
            <a:r>
              <a:rPr lang="zh-CN" altLang="en-US" sz="2000"/>
              <a:t>节点</a:t>
            </a:r>
            <a:endParaRPr lang="en-US" altLang="zh-CN" sz="200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/>
              <a:t>节点标签</a:t>
            </a:r>
            <a:endParaRPr lang="en-US" altLang="zh-CN" sz="200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/>
              <a:t>节点和关系属性</a:t>
            </a:r>
            <a:endParaRPr lang="en-US" altLang="zh-CN" sz="2000"/>
          </a:p>
        </p:txBody>
      </p:sp>
      <p:sp>
        <p:nvSpPr>
          <p:cNvPr id="63" name="箭头: 右弧形 62"/>
          <p:cNvSpPr/>
          <p:nvPr/>
        </p:nvSpPr>
        <p:spPr>
          <a:xfrm>
            <a:off x="10112375" y="3533775"/>
            <a:ext cx="772160" cy="124841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5464175" y="6466205"/>
            <a:ext cx="3172460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三元组图谱示例</a:t>
            </a:r>
            <a:endParaRPr lang="zh-CN" altLang="en-US" b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7649277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810156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05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4714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技术路线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7028180" y="1600835"/>
            <a:ext cx="4739005" cy="146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sz="1600"/>
              <a:t>基于图谱可以实现从</a:t>
            </a:r>
            <a:r>
              <a:rPr lang="zh-CN" altLang="en-US" sz="1600" b="1"/>
              <a:t>临床表现向多个疾病的推导</a:t>
            </a:r>
            <a:r>
              <a:rPr lang="zh-CN" altLang="en-US" sz="1600"/>
              <a:t>，从而获悉可能出现的疾病，为医生提供概率不同的选项；同样也可以根据多种疑似疾病提供相应</a:t>
            </a:r>
            <a:r>
              <a:rPr lang="zh-CN" altLang="en-US" sz="1600" b="1"/>
              <a:t>最有区分度和价值的检查建议。</a:t>
            </a:r>
            <a:endParaRPr lang="zh-CN" altLang="en-US" sz="1600"/>
          </a:p>
        </p:txBody>
      </p:sp>
      <p:pic>
        <p:nvPicPr>
          <p:cNvPr id="8" name="图片 7" descr="fig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300" y="1600835"/>
            <a:ext cx="6445250" cy="4558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文本框 8"/>
          <p:cNvSpPr txBox="1"/>
          <p:nvPr/>
        </p:nvSpPr>
        <p:spPr>
          <a:xfrm>
            <a:off x="2448729" y="6211658"/>
            <a:ext cx="3172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医学知识图谱疾病推导示例</a:t>
            </a:r>
            <a:endParaRPr lang="zh-CN" altLang="en-US" b="1"/>
          </a:p>
        </p:txBody>
      </p:sp>
      <p:sp>
        <p:nvSpPr>
          <p:cNvPr id="20" name="圆角矩形 19"/>
          <p:cNvSpPr/>
          <p:nvPr/>
        </p:nvSpPr>
        <p:spPr>
          <a:xfrm>
            <a:off x="7028180" y="1441450"/>
            <a:ext cx="4818380" cy="178689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521921" y="3464364"/>
            <a:ext cx="4324639" cy="3139321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/>
              <a:t>当患者出现咽痛症状时，基于图谱可以推导出的可能疾病包括急性扁桃体炎，疱疹性咽峡炎，急性病毒性喉炎，急性病毒性咽炎等。</a:t>
            </a:r>
            <a:endParaRPr lang="en-US" altLang="zh-CN"/>
          </a:p>
          <a:p>
            <a:endParaRPr lang="en-US" altLang="zh-CN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/>
              <a:t>对于下一步诊疗决策，考虑到发热症状会导向多种疾病，区分度较低，因此体温测量成为次优决策；而实验室检查</a:t>
            </a:r>
            <a:r>
              <a:rPr lang="en-US" altLang="zh-CN"/>
              <a:t>-</a:t>
            </a:r>
            <a:r>
              <a:rPr lang="zh-CN" altLang="en-US"/>
              <a:t>血常规如白细胞和中性粒细胞检查等疾病导向明确，区分度较高，可以作为优先选择。</a:t>
            </a:r>
            <a:endParaRPr lang="zh-CN" altLang="en-US"/>
          </a:p>
        </p:txBody>
      </p:sp>
      <p:sp>
        <p:nvSpPr>
          <p:cNvPr id="13" name="箭头: 右 12"/>
          <p:cNvSpPr/>
          <p:nvPr/>
        </p:nvSpPr>
        <p:spPr>
          <a:xfrm>
            <a:off x="6760248" y="3742104"/>
            <a:ext cx="692462" cy="6987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7667057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810156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06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4714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技术路线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44293" y="1381779"/>
            <a:ext cx="10326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/>
              <a:t>在知识图谱上利用强化学习引导路径推理策略，基于强化学习设计智能体，让其能够引导从某个节点到次级节点的推理，通过实现交互行为和动态更新，智能体的路径推理可以实时调整关系权重和推理方向。</a:t>
            </a:r>
            <a:endParaRPr lang="zh-CN" altLang="en-US" sz="1600" b="1"/>
          </a:p>
        </p:txBody>
      </p:sp>
      <p:sp>
        <p:nvSpPr>
          <p:cNvPr id="21" name="powerpoint template design by DAJU_PPT正版来源小红书大橘PPT微信DAJU_PPT请勿抄袭搬运！盗版必究！-2"/>
          <p:cNvSpPr/>
          <p:nvPr/>
        </p:nvSpPr>
        <p:spPr>
          <a:xfrm flipH="1">
            <a:off x="473615" y="2049043"/>
            <a:ext cx="72000" cy="1555456"/>
          </a:xfrm>
          <a:prstGeom prst="rect">
            <a:avLst/>
          </a:prstGeom>
          <a:solidFill>
            <a:srgbClr val="9E0000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6980" y="2096460"/>
            <a:ext cx="5718150" cy="3778129"/>
          </a:xfrm>
          <a:prstGeom prst="rect">
            <a:avLst/>
          </a:prstGeom>
        </p:spPr>
      </p:pic>
      <p:sp>
        <p:nvSpPr>
          <p:cNvPr id="23" name="箭头: 右 22"/>
          <p:cNvSpPr/>
          <p:nvPr/>
        </p:nvSpPr>
        <p:spPr>
          <a:xfrm>
            <a:off x="4984716" y="4104352"/>
            <a:ext cx="914400" cy="5736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6428500" y="5925224"/>
            <a:ext cx="5261186" cy="823861"/>
            <a:chOff x="6202223" y="5984628"/>
            <a:chExt cx="5364164" cy="715058"/>
          </a:xfrm>
        </p:grpSpPr>
        <p:sp>
          <p:nvSpPr>
            <p:cNvPr id="27" name="powerpoint template design by DAJU_PPT正版来源小红书大橘PPT微信DAJU_PPT请勿抄袭搬运！盗版必究！-4"/>
            <p:cNvSpPr/>
            <p:nvPr/>
          </p:nvSpPr>
          <p:spPr>
            <a:xfrm>
              <a:off x="6202223" y="5984628"/>
              <a:ext cx="5364164" cy="715058"/>
            </a:xfrm>
            <a:prstGeom prst="roundRect">
              <a:avLst>
                <a:gd name="adj" fmla="val 15165"/>
              </a:avLst>
            </a:prstGeom>
            <a:solidFill>
              <a:schemeClr val="bg2">
                <a:lumMod val="75000"/>
                <a:alpha val="50000"/>
              </a:schemeClr>
            </a:solidFill>
            <a:ln w="381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>
                <a:solidFill>
                  <a:schemeClr val="tx1"/>
                </a:solidFill>
              </a:endParaRPr>
            </a:p>
          </p:txBody>
        </p:sp>
        <p:sp>
          <p:nvSpPr>
            <p:cNvPr id="31" name="powerpoint template design by DAJU_PPT正版来源小红书大橘PPT微信DAJU_PPT请勿抄袭搬运！盗版必究！-11"/>
            <p:cNvSpPr txBox="1"/>
            <p:nvPr/>
          </p:nvSpPr>
          <p:spPr>
            <a:xfrm>
              <a:off x="6504249" y="6140566"/>
              <a:ext cx="4760112" cy="4274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600" b="1">
                  <a:latin typeface="+mn-ea"/>
                </a:rPr>
                <a:t>基于强化学习引导知识图谱路径推理，进而生成可解释性的多轮临床诊疗策略。</a:t>
              </a:r>
              <a:endParaRPr lang="zh-CN" altLang="en-US" sz="1600" b="1" dirty="0">
                <a:latin typeface="+mn-ea"/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70" y="3788507"/>
            <a:ext cx="4260142" cy="304361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sp>
        <p:nvSpPr>
          <p:cNvPr id="10" name="文本框 9"/>
          <p:cNvSpPr txBox="1"/>
          <p:nvPr/>
        </p:nvSpPr>
        <p:spPr>
          <a:xfrm>
            <a:off x="657782" y="2062217"/>
            <a:ext cx="4784134" cy="152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/>
              <a:t>本研究拟采用</a:t>
            </a:r>
            <a:r>
              <a:rPr lang="en-US" altLang="zh-CN" sz="1600"/>
              <a:t>DQN</a:t>
            </a:r>
            <a:r>
              <a:rPr lang="zh-CN" altLang="en-US" sz="1600"/>
              <a:t>算法引导路径推导。</a:t>
            </a:r>
            <a:r>
              <a:rPr lang="en-US" altLang="zh-CN" sz="1600"/>
              <a:t>DQN</a:t>
            </a:r>
            <a:r>
              <a:rPr lang="zh-CN" altLang="en-US" sz="1600"/>
              <a:t>算法是一种基于</a:t>
            </a:r>
            <a:r>
              <a:rPr lang="zh-CN" altLang="en-US" sz="1600" b="1"/>
              <a:t>值函数</a:t>
            </a:r>
            <a:r>
              <a:rPr lang="zh-CN" altLang="en-US" sz="1600"/>
              <a:t>的学习方法，通过</a:t>
            </a:r>
            <a:r>
              <a:rPr lang="zh-CN" altLang="en-US" sz="1600" b="1">
                <a:solidFill>
                  <a:srgbClr val="C00000"/>
                </a:solidFill>
              </a:rPr>
              <a:t>学习动作价值函数（</a:t>
            </a:r>
            <a:r>
              <a:rPr lang="en-US" altLang="zh-CN" sz="1600" b="1">
                <a:solidFill>
                  <a:srgbClr val="C00000"/>
                </a:solidFill>
              </a:rPr>
              <a:t>Q</a:t>
            </a:r>
            <a:r>
              <a:rPr lang="zh-CN" altLang="en-US" sz="1600" b="1">
                <a:solidFill>
                  <a:srgbClr val="C00000"/>
                </a:solidFill>
              </a:rPr>
              <a:t>函数）</a:t>
            </a:r>
            <a:r>
              <a:rPr lang="zh-CN" altLang="en-US" sz="1600"/>
              <a:t>，获取在给定状态下采取某个动作的</a:t>
            </a:r>
            <a:r>
              <a:rPr lang="zh-CN" altLang="en-US" sz="1600" b="1">
                <a:solidFill>
                  <a:srgbClr val="C00000"/>
                </a:solidFill>
              </a:rPr>
              <a:t>长期累积奖励</a:t>
            </a:r>
            <a:r>
              <a:rPr lang="zh-CN" altLang="en-US" sz="1600"/>
              <a:t>，并使用神经网络去拟合</a:t>
            </a:r>
            <a:r>
              <a:rPr lang="en-US" altLang="zh-CN" sz="1600"/>
              <a:t>Q</a:t>
            </a:r>
            <a:r>
              <a:rPr lang="zh-CN" altLang="en-US" sz="1600"/>
              <a:t>函数。</a:t>
            </a:r>
            <a:endParaRPr lang="zh-CN" altLang="en-US" sz="1600"/>
          </a:p>
        </p:txBody>
      </p:sp>
      <p:sp>
        <p:nvSpPr>
          <p:cNvPr id="12" name="矩形 11"/>
          <p:cNvSpPr/>
          <p:nvPr/>
        </p:nvSpPr>
        <p:spPr>
          <a:xfrm>
            <a:off x="810883" y="5564041"/>
            <a:ext cx="3976777" cy="471840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7667057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810156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07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4714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模型框架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425752" y="1254502"/>
            <a:ext cx="11705289" cy="5271652"/>
            <a:chOff x="459582" y="1258847"/>
            <a:chExt cx="11046091" cy="4974773"/>
          </a:xfrm>
        </p:grpSpPr>
        <p:sp>
          <p:nvSpPr>
            <p:cNvPr id="86" name="矩形: 圆角 85"/>
            <p:cNvSpPr/>
            <p:nvPr/>
          </p:nvSpPr>
          <p:spPr>
            <a:xfrm>
              <a:off x="459582" y="2237988"/>
              <a:ext cx="2700000" cy="2512801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1214171" y="2265840"/>
              <a:ext cx="1190819" cy="290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400" b="1">
                  <a:solidFill>
                    <a:srgbClr val="000000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Times New Roman" panose="02020603050405020304" pitchFamily="18" charset="0"/>
                </a:rPr>
                <a:t>医学知识</a:t>
              </a:r>
              <a:r>
                <a:rPr kumimoji="1" lang="zh-CN" altLang="en-US" sz="1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Times New Roman" panose="02020603050405020304" pitchFamily="18" charset="0"/>
                </a:rPr>
                <a:t>图谱</a:t>
              </a:r>
              <a:endParaRPr kumimoji="1" lang="zh-CN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矩形: 圆角 87"/>
            <p:cNvSpPr/>
            <p:nvPr/>
          </p:nvSpPr>
          <p:spPr>
            <a:xfrm>
              <a:off x="611382" y="2646565"/>
              <a:ext cx="2396400" cy="873023"/>
            </a:xfrm>
            <a:prstGeom prst="roundRect">
              <a:avLst/>
            </a:prstGeom>
            <a:ln w="952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89" name="矩形: 圆角 88"/>
            <p:cNvSpPr/>
            <p:nvPr/>
          </p:nvSpPr>
          <p:spPr>
            <a:xfrm>
              <a:off x="611382" y="3698677"/>
              <a:ext cx="2396400" cy="873023"/>
            </a:xfrm>
            <a:prstGeom prst="roundRect">
              <a:avLst/>
            </a:prstGeom>
            <a:ln w="952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pic>
          <p:nvPicPr>
            <p:cNvPr id="90" name="图片 8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76953" y="2775255"/>
              <a:ext cx="748578" cy="672334"/>
            </a:xfrm>
            <a:prstGeom prst="rect">
              <a:avLst/>
            </a:prstGeom>
          </p:spPr>
        </p:pic>
        <p:sp>
          <p:nvSpPr>
            <p:cNvPr id="91" name="文本框 90"/>
            <p:cNvSpPr txBox="1"/>
            <p:nvPr/>
          </p:nvSpPr>
          <p:spPr>
            <a:xfrm>
              <a:off x="1697225" y="2659855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Times New Roman" panose="02020603050405020304" pitchFamily="18" charset="0"/>
                </a:rPr>
                <a:t>医学知识关系</a:t>
              </a:r>
              <a:endParaRPr kumimoji="1"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1423317" y="2950143"/>
              <a:ext cx="15888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kumimoji="1" lang="zh-CN" altLang="en-US" sz="1200" dirty="0">
                  <a:solidFill>
                    <a:srgbClr val="000000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Times New Roman" panose="02020603050405020304" pitchFamily="18" charset="0"/>
                </a:rPr>
                <a:t>疾病、检查、治疗</a:t>
              </a:r>
              <a:endParaRPr kumimoji="1"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1423317" y="3189441"/>
              <a:ext cx="16866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kumimoji="1" lang="zh-CN" altLang="en-US" sz="1200" dirty="0">
                  <a:solidFill>
                    <a:srgbClr val="000000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Times New Roman" panose="02020603050405020304" pitchFamily="18" charset="0"/>
                </a:rPr>
                <a:t>诊疗关系</a:t>
              </a:r>
              <a:r>
                <a:rPr kumimoji="1" lang="en-US" altLang="zh-CN" sz="1200" dirty="0">
                  <a:solidFill>
                    <a:srgbClr val="000000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Times New Roman" panose="02020603050405020304" pitchFamily="18" charset="0"/>
                </a:rPr>
                <a:t>/</a:t>
              </a:r>
              <a:r>
                <a:rPr kumimoji="1" lang="zh-CN" altLang="en-US" sz="1200" dirty="0">
                  <a:solidFill>
                    <a:srgbClr val="000000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Times New Roman" panose="02020603050405020304" pitchFamily="18" charset="0"/>
                </a:rPr>
                <a:t>诊疗规则</a:t>
              </a:r>
              <a:endParaRPr kumimoji="1"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94" name="图片 9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7810" y="3808120"/>
              <a:ext cx="953794" cy="672278"/>
            </a:xfrm>
            <a:prstGeom prst="rect">
              <a:avLst/>
            </a:prstGeom>
          </p:spPr>
        </p:pic>
        <p:sp>
          <p:nvSpPr>
            <p:cNvPr id="95" name="文本框 94"/>
            <p:cNvSpPr txBox="1"/>
            <p:nvPr/>
          </p:nvSpPr>
          <p:spPr>
            <a:xfrm>
              <a:off x="1697229" y="3705738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Times New Roman" panose="02020603050405020304" pitchFamily="18" charset="0"/>
                </a:rPr>
                <a:t>患者信息模型</a:t>
              </a:r>
              <a:endParaRPr kumimoji="1"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1624702" y="3996965"/>
              <a:ext cx="12811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kumimoji="1" lang="zh-CN" altLang="en-US" sz="1200" dirty="0">
                  <a:solidFill>
                    <a:srgbClr val="000000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Times New Roman" panose="02020603050405020304" pitchFamily="18" charset="0"/>
                </a:rPr>
                <a:t>临床诊疗信息</a:t>
              </a:r>
              <a:endParaRPr kumimoji="1"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1624702" y="4236263"/>
              <a:ext cx="9733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kumimoji="1" lang="zh-CN" altLang="en-US" sz="1200" dirty="0">
                  <a:solidFill>
                    <a:srgbClr val="000000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Times New Roman" panose="02020603050405020304" pitchFamily="18" charset="0"/>
                </a:rPr>
                <a:t>患者实例</a:t>
              </a:r>
              <a:endParaRPr kumimoji="1"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8" name="直接箭头连接符 97"/>
            <p:cNvCxnSpPr/>
            <p:nvPr/>
          </p:nvCxnSpPr>
          <p:spPr>
            <a:xfrm flipV="1">
              <a:off x="1237182" y="3519588"/>
              <a:ext cx="0" cy="17908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箭头连接符 98"/>
            <p:cNvCxnSpPr/>
            <p:nvPr/>
          </p:nvCxnSpPr>
          <p:spPr>
            <a:xfrm flipV="1">
              <a:off x="2347182" y="3519587"/>
              <a:ext cx="0" cy="17908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矩形: 圆角 99"/>
            <p:cNvSpPr/>
            <p:nvPr/>
          </p:nvSpPr>
          <p:spPr>
            <a:xfrm>
              <a:off x="4854389" y="3740253"/>
              <a:ext cx="1128913" cy="1480290"/>
            </a:xfrm>
            <a:prstGeom prst="round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101" name="椭圆 100"/>
            <p:cNvSpPr/>
            <p:nvPr/>
          </p:nvSpPr>
          <p:spPr>
            <a:xfrm>
              <a:off x="5529157" y="4122850"/>
              <a:ext cx="151200" cy="1512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102" name="椭圆 101"/>
            <p:cNvSpPr/>
            <p:nvPr/>
          </p:nvSpPr>
          <p:spPr>
            <a:xfrm>
              <a:off x="5529157" y="4419250"/>
              <a:ext cx="151200" cy="1512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103" name="椭圆 102"/>
            <p:cNvSpPr/>
            <p:nvPr/>
          </p:nvSpPr>
          <p:spPr>
            <a:xfrm>
              <a:off x="5529157" y="4912116"/>
              <a:ext cx="151200" cy="1512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5458831" y="4641761"/>
              <a:ext cx="461665" cy="25423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5049507" y="3979936"/>
              <a:ext cx="36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</a:t>
              </a:r>
              <a:r>
                <a:rPr lang="en-US" altLang="zh-CN" baseline="-25000" dirty="0"/>
                <a:t>1</a:t>
              </a:r>
              <a:endParaRPr lang="zh-CN" altLang="en-US" baseline="-25000" dirty="0"/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5049507" y="4248984"/>
              <a:ext cx="36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</a:t>
              </a:r>
              <a:r>
                <a:rPr lang="en-US" altLang="zh-CN" baseline="-25000" dirty="0"/>
                <a:t>2</a:t>
              </a:r>
              <a:endParaRPr lang="zh-CN" altLang="en-US" baseline="-25000" dirty="0"/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5046594" y="4771836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err="1"/>
                <a:t>s</a:t>
              </a:r>
              <a:r>
                <a:rPr lang="en-US" altLang="zh-CN" baseline="-25000" dirty="0" err="1"/>
                <a:t>m</a:t>
              </a:r>
              <a:endParaRPr lang="zh-CN" altLang="en-US" baseline="-25000" dirty="0"/>
            </a:p>
          </p:txBody>
        </p:sp>
        <p:sp>
          <p:nvSpPr>
            <p:cNvPr id="108" name="矩形: 圆角 107"/>
            <p:cNvSpPr/>
            <p:nvPr/>
          </p:nvSpPr>
          <p:spPr>
            <a:xfrm>
              <a:off x="6366239" y="2521143"/>
              <a:ext cx="1821972" cy="1480290"/>
            </a:xfrm>
            <a:prstGeom prst="roundRect">
              <a:avLst>
                <a:gd name="adj" fmla="val 7431"/>
              </a:avLst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6985317" y="2509879"/>
              <a:ext cx="5838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DQN</a:t>
              </a:r>
              <a:endParaRPr kumimoji="1" lang="zh-CN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箭头: 右 110"/>
            <p:cNvSpPr/>
            <p:nvPr/>
          </p:nvSpPr>
          <p:spPr>
            <a:xfrm>
              <a:off x="8185881" y="3147522"/>
              <a:ext cx="197686" cy="225833"/>
            </a:xfrm>
            <a:prstGeom prst="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112" name="矩形: 圆角 111"/>
            <p:cNvSpPr/>
            <p:nvPr/>
          </p:nvSpPr>
          <p:spPr>
            <a:xfrm>
              <a:off x="8393433" y="2520293"/>
              <a:ext cx="1296421" cy="1480290"/>
            </a:xfrm>
            <a:prstGeom prst="round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113" name="矩形 112"/>
            <p:cNvSpPr/>
            <p:nvPr/>
          </p:nvSpPr>
          <p:spPr>
            <a:xfrm>
              <a:off x="8469114" y="2703250"/>
              <a:ext cx="1152211" cy="195400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zh-CN" sz="1050" dirty="0"/>
                <a:t>Q-Value Action 1</a:t>
              </a:r>
              <a:endParaRPr lang="zh-CN" altLang="en-US" sz="1000" dirty="0"/>
            </a:p>
          </p:txBody>
        </p:sp>
        <p:sp>
          <p:nvSpPr>
            <p:cNvPr id="114" name="矩形 113"/>
            <p:cNvSpPr/>
            <p:nvPr/>
          </p:nvSpPr>
          <p:spPr>
            <a:xfrm>
              <a:off x="8469114" y="3029432"/>
              <a:ext cx="1152211" cy="195400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zh-CN" sz="1050" dirty="0"/>
                <a:t>Q-Value Action 2</a:t>
              </a:r>
              <a:endParaRPr lang="zh-CN" altLang="en-US" sz="1000" dirty="0"/>
            </a:p>
          </p:txBody>
        </p:sp>
        <p:sp>
          <p:nvSpPr>
            <p:cNvPr id="115" name="矩形 114"/>
            <p:cNvSpPr/>
            <p:nvPr/>
          </p:nvSpPr>
          <p:spPr>
            <a:xfrm>
              <a:off x="8469114" y="3619898"/>
              <a:ext cx="1152211" cy="195400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zh-CN" sz="1050" dirty="0"/>
                <a:t>Q-Value Action n</a:t>
              </a:r>
              <a:endParaRPr lang="zh-CN" altLang="en-US" sz="1000" dirty="0"/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8810984" y="3316256"/>
              <a:ext cx="461665" cy="25423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  <p:sp>
          <p:nvSpPr>
            <p:cNvPr id="117" name="矩形: 圆角 116"/>
            <p:cNvSpPr/>
            <p:nvPr/>
          </p:nvSpPr>
          <p:spPr>
            <a:xfrm>
              <a:off x="3782741" y="3641964"/>
              <a:ext cx="798339" cy="1652482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pic>
          <p:nvPicPr>
            <p:cNvPr id="118" name="Picture 4" descr="Using Knowledge Graphs To Optimize Chatbot Conversations | Onlim Blo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42719" y="3966500"/>
              <a:ext cx="529533" cy="4957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9" name="直接箭头连接符 118"/>
            <p:cNvCxnSpPr/>
            <p:nvPr/>
          </p:nvCxnSpPr>
          <p:spPr>
            <a:xfrm>
              <a:off x="3012214" y="3123014"/>
              <a:ext cx="930505" cy="112575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0" name="Picture 4" descr="Using Knowledge Graphs To Optimize Chatbot Conversations | Onlim Blo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46728" y="4689073"/>
              <a:ext cx="529533" cy="4957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21" name="直接箭头连接符 120"/>
            <p:cNvCxnSpPr/>
            <p:nvPr/>
          </p:nvCxnSpPr>
          <p:spPr>
            <a:xfrm>
              <a:off x="3007782" y="4169560"/>
              <a:ext cx="938946" cy="80178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文本框 121"/>
            <p:cNvSpPr txBox="1"/>
            <p:nvPr/>
          </p:nvSpPr>
          <p:spPr>
            <a:xfrm>
              <a:off x="3912615" y="3653150"/>
              <a:ext cx="5838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GCN</a:t>
              </a:r>
              <a:endParaRPr kumimoji="1" lang="zh-CN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3" name="直接箭头连接符 122"/>
            <p:cNvCxnSpPr>
              <a:stCxn id="118" idx="2"/>
              <a:endCxn id="120" idx="0"/>
            </p:cNvCxnSpPr>
            <p:nvPr/>
          </p:nvCxnSpPr>
          <p:spPr>
            <a:xfrm>
              <a:off x="4207486" y="4462291"/>
              <a:ext cx="4009" cy="22678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箭头: 右 123"/>
            <p:cNvSpPr/>
            <p:nvPr/>
          </p:nvSpPr>
          <p:spPr>
            <a:xfrm>
              <a:off x="4607044" y="4405305"/>
              <a:ext cx="251932" cy="179089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125" name="矩形: 圆角 124"/>
            <p:cNvSpPr/>
            <p:nvPr/>
          </p:nvSpPr>
          <p:spPr>
            <a:xfrm>
              <a:off x="3782741" y="1484349"/>
              <a:ext cx="798339" cy="1821537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pic>
          <p:nvPicPr>
            <p:cNvPr id="126" name="Picture 4" descr="Using Knowledge Graphs To Optimize Chatbot Conversations | Onlim Blo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03527" y="2729943"/>
              <a:ext cx="529533" cy="4957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27" name="直接箭头连接符 126"/>
            <p:cNvCxnSpPr/>
            <p:nvPr/>
          </p:nvCxnSpPr>
          <p:spPr>
            <a:xfrm flipV="1">
              <a:off x="3007782" y="3012210"/>
              <a:ext cx="895745" cy="115735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流程图: 多文档 127"/>
            <p:cNvSpPr/>
            <p:nvPr/>
          </p:nvSpPr>
          <p:spPr>
            <a:xfrm>
              <a:off x="3940764" y="2199166"/>
              <a:ext cx="529533" cy="343198"/>
            </a:xfrm>
            <a:prstGeom prst="flowChartMultidocumen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zh-CN" sz="1050" dirty="0"/>
                <a:t>rules</a:t>
              </a:r>
              <a:endParaRPr lang="zh-CN" altLang="en-US" sz="1050" dirty="0"/>
            </a:p>
          </p:txBody>
        </p:sp>
        <p:sp>
          <p:nvSpPr>
            <p:cNvPr id="129" name="文本框 128"/>
            <p:cNvSpPr txBox="1"/>
            <p:nvPr/>
          </p:nvSpPr>
          <p:spPr>
            <a:xfrm>
              <a:off x="3789000" y="1495176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Times New Roman" panose="02020603050405020304" pitchFamily="18" charset="0"/>
                </a:rPr>
                <a:t>规则推理</a:t>
              </a:r>
              <a:endParaRPr kumimoji="1"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0" name="直接箭头连接符 129"/>
            <p:cNvCxnSpPr/>
            <p:nvPr/>
          </p:nvCxnSpPr>
          <p:spPr>
            <a:xfrm flipV="1">
              <a:off x="3012214" y="2405136"/>
              <a:ext cx="928550" cy="717878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箭头连接符 130"/>
            <p:cNvCxnSpPr>
              <a:stCxn id="128" idx="2"/>
              <a:endCxn id="126" idx="0"/>
            </p:cNvCxnSpPr>
            <p:nvPr/>
          </p:nvCxnSpPr>
          <p:spPr>
            <a:xfrm flipH="1">
              <a:off x="4168294" y="2529367"/>
              <a:ext cx="414" cy="20057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矩形: 圆角 131"/>
            <p:cNvSpPr/>
            <p:nvPr/>
          </p:nvSpPr>
          <p:spPr>
            <a:xfrm>
              <a:off x="4857334" y="1484349"/>
              <a:ext cx="1127975" cy="1663137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133" name="文本框 132"/>
            <p:cNvSpPr txBox="1"/>
            <p:nvPr/>
          </p:nvSpPr>
          <p:spPr>
            <a:xfrm>
              <a:off x="4959097" y="1496541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可采取的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诊疗行为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矩形 133"/>
            <p:cNvSpPr/>
            <p:nvPr/>
          </p:nvSpPr>
          <p:spPr>
            <a:xfrm>
              <a:off x="4966954" y="1998803"/>
              <a:ext cx="902812" cy="212111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zh-CN" sz="1050" dirty="0"/>
                <a:t>Action 1</a:t>
              </a:r>
              <a:endParaRPr lang="zh-CN" altLang="en-US" sz="1000" dirty="0"/>
            </a:p>
          </p:txBody>
        </p:sp>
        <p:sp>
          <p:nvSpPr>
            <p:cNvPr id="135" name="矩形 134"/>
            <p:cNvSpPr/>
            <p:nvPr/>
          </p:nvSpPr>
          <p:spPr>
            <a:xfrm>
              <a:off x="4966954" y="2744789"/>
              <a:ext cx="902812" cy="212111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zh-CN" sz="1050" dirty="0"/>
                <a:t>Action t</a:t>
              </a:r>
              <a:endParaRPr lang="zh-CN" altLang="en-US" sz="1000" dirty="0"/>
            </a:p>
          </p:txBody>
        </p:sp>
        <p:sp>
          <p:nvSpPr>
            <p:cNvPr id="136" name="文本框 135"/>
            <p:cNvSpPr txBox="1"/>
            <p:nvPr/>
          </p:nvSpPr>
          <p:spPr>
            <a:xfrm>
              <a:off x="5269848" y="2511188"/>
              <a:ext cx="461665" cy="25423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  <p:sp>
          <p:nvSpPr>
            <p:cNvPr id="137" name="箭头: 右 136"/>
            <p:cNvSpPr/>
            <p:nvPr/>
          </p:nvSpPr>
          <p:spPr>
            <a:xfrm rot="2036072">
              <a:off x="6011906" y="2556198"/>
              <a:ext cx="294131" cy="165157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138" name="文本框 137"/>
            <p:cNvSpPr txBox="1"/>
            <p:nvPr/>
          </p:nvSpPr>
          <p:spPr>
            <a:xfrm>
              <a:off x="4982421" y="376959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状态空间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箭头: 右 138"/>
            <p:cNvSpPr/>
            <p:nvPr/>
          </p:nvSpPr>
          <p:spPr>
            <a:xfrm>
              <a:off x="4584700" y="2280240"/>
              <a:ext cx="251932" cy="179089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140" name="箭头: 右 139"/>
            <p:cNvSpPr/>
            <p:nvPr/>
          </p:nvSpPr>
          <p:spPr>
            <a:xfrm rot="19145020">
              <a:off x="6028425" y="3994791"/>
              <a:ext cx="294131" cy="165157"/>
            </a:xfrm>
            <a:prstGeom prst="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141" name="矩形: 圆角 140"/>
            <p:cNvSpPr/>
            <p:nvPr/>
          </p:nvSpPr>
          <p:spPr>
            <a:xfrm>
              <a:off x="10018378" y="3045668"/>
              <a:ext cx="1487295" cy="424377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t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zh-CN" b="1">
                  <a:solidFill>
                    <a:schemeClr val="bg1"/>
                  </a:solidFill>
                  <a:latin typeface="+mj-lt"/>
                  <a:cs typeface="Aharoni" panose="020B0604020202020204" pitchFamily="2" charset="-79"/>
                </a:rPr>
                <a:t>Max Action</a:t>
              </a:r>
              <a:endParaRPr lang="zh-CN" altLang="en-US" b="1" dirty="0">
                <a:solidFill>
                  <a:schemeClr val="bg1"/>
                </a:solidFill>
                <a:latin typeface="+mj-lt"/>
                <a:cs typeface="Aharoni" panose="020B0604020202020204" pitchFamily="2" charset="-79"/>
              </a:endParaRPr>
            </a:p>
          </p:txBody>
        </p:sp>
        <p:sp>
          <p:nvSpPr>
            <p:cNvPr id="142" name="矩形: 圆角 141"/>
            <p:cNvSpPr/>
            <p:nvPr/>
          </p:nvSpPr>
          <p:spPr>
            <a:xfrm>
              <a:off x="8393433" y="5421490"/>
              <a:ext cx="2978893" cy="812130"/>
            </a:xfrm>
            <a:prstGeom prst="roundRect">
              <a:avLst/>
            </a:prstGeom>
            <a:ln w="190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143" name="文本框 142"/>
            <p:cNvSpPr txBox="1"/>
            <p:nvPr/>
          </p:nvSpPr>
          <p:spPr>
            <a:xfrm>
              <a:off x="9431473" y="544086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结果观测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矩形 143"/>
            <p:cNvSpPr/>
            <p:nvPr/>
          </p:nvSpPr>
          <p:spPr>
            <a:xfrm>
              <a:off x="8577878" y="5828086"/>
              <a:ext cx="747035" cy="30777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当前状态</a:t>
              </a:r>
              <a:endPara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矩形 144"/>
            <p:cNvSpPr/>
            <p:nvPr/>
          </p:nvSpPr>
          <p:spPr>
            <a:xfrm>
              <a:off x="9509360" y="5828086"/>
              <a:ext cx="747035" cy="30777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主目标预后</a:t>
              </a:r>
              <a:endPara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矩形 145"/>
            <p:cNvSpPr/>
            <p:nvPr/>
          </p:nvSpPr>
          <p:spPr>
            <a:xfrm>
              <a:off x="10440841" y="5827555"/>
              <a:ext cx="747035" cy="30777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副目标预后</a:t>
              </a:r>
              <a:endPara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箭头: 右 146"/>
            <p:cNvSpPr/>
            <p:nvPr/>
          </p:nvSpPr>
          <p:spPr>
            <a:xfrm>
              <a:off x="9768557" y="3147522"/>
              <a:ext cx="197686" cy="225833"/>
            </a:xfrm>
            <a:prstGeom prst="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148" name="矩形: 圆角 147"/>
            <p:cNvSpPr/>
            <p:nvPr/>
          </p:nvSpPr>
          <p:spPr>
            <a:xfrm>
              <a:off x="6366239" y="4328153"/>
              <a:ext cx="3516641" cy="569563"/>
            </a:xfrm>
            <a:prstGeom prst="roundRect">
              <a:avLst/>
            </a:prstGeom>
            <a:ln w="190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149" name="文本框 148"/>
            <p:cNvSpPr txBox="1"/>
            <p:nvPr/>
          </p:nvSpPr>
          <p:spPr>
            <a:xfrm>
              <a:off x="7368189" y="4303306"/>
              <a:ext cx="16353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Reward Function</a:t>
              </a:r>
              <a:endParaRPr lang="zh-CN" alt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0" name="文本框 149"/>
                <p:cNvSpPr txBox="1"/>
                <p:nvPr/>
              </p:nvSpPr>
              <p:spPr>
                <a:xfrm>
                  <a:off x="6414057" y="4595424"/>
                  <a:ext cx="3359766" cy="23269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𝑚𝑎𝑖𝑛</m:t>
                            </m:r>
                          </m:sub>
                        </m:s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𝑠𝑖𝑑𝑒</m:t>
                            </m:r>
                          </m:sub>
                        </m:s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)+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𝑐𝑓𝑡</m:t>
                            </m:r>
                          </m:sub>
                        </m:s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𝑑𝑢𝑝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>
            <p:sp>
              <p:nvSpPr>
                <p:cNvPr id="150" name="文本框 1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4057" y="4595424"/>
                  <a:ext cx="3359766" cy="23269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1" name="箭头: 上 150"/>
            <p:cNvSpPr/>
            <p:nvPr/>
          </p:nvSpPr>
          <p:spPr>
            <a:xfrm>
              <a:off x="7268981" y="4025459"/>
              <a:ext cx="175636" cy="235854"/>
            </a:xfrm>
            <a:prstGeom prst="up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cxnSp>
          <p:nvCxnSpPr>
            <p:cNvPr id="152" name="连接符: 肘形 151"/>
            <p:cNvCxnSpPr>
              <a:stCxn id="142" idx="1"/>
              <a:endCxn id="148" idx="2"/>
            </p:cNvCxnSpPr>
            <p:nvPr/>
          </p:nvCxnSpPr>
          <p:spPr>
            <a:xfrm rot="10800000">
              <a:off x="8124561" y="4897717"/>
              <a:ext cx="268873" cy="929839"/>
            </a:xfrm>
            <a:prstGeom prst="bentConnector2">
              <a:avLst/>
            </a:prstGeom>
            <a:ln w="28575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连接符: 肘形 152"/>
            <p:cNvCxnSpPr>
              <a:stCxn id="142" idx="1"/>
              <a:endCxn id="154" idx="2"/>
            </p:cNvCxnSpPr>
            <p:nvPr/>
          </p:nvCxnSpPr>
          <p:spPr>
            <a:xfrm rot="10800000">
              <a:off x="2122483" y="5496079"/>
              <a:ext cx="6270951" cy="331476"/>
            </a:xfrm>
            <a:prstGeom prst="bentConnector2">
              <a:avLst/>
            </a:prstGeom>
            <a:ln w="28575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矩形: 圆角 153"/>
            <p:cNvSpPr/>
            <p:nvPr/>
          </p:nvSpPr>
          <p:spPr>
            <a:xfrm>
              <a:off x="1237181" y="5039467"/>
              <a:ext cx="1770601" cy="456612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155" name="文本框 154"/>
            <p:cNvSpPr txBox="1"/>
            <p:nvPr/>
          </p:nvSpPr>
          <p:spPr>
            <a:xfrm>
              <a:off x="1398907" y="5113159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新的患者三元组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56" name="直接箭头连接符 155"/>
            <p:cNvCxnSpPr>
              <a:stCxn id="154" idx="0"/>
            </p:cNvCxnSpPr>
            <p:nvPr/>
          </p:nvCxnSpPr>
          <p:spPr>
            <a:xfrm flipV="1">
              <a:off x="2122482" y="4578761"/>
              <a:ext cx="0" cy="460706"/>
            </a:xfrm>
            <a:prstGeom prst="straightConnector1">
              <a:avLst/>
            </a:prstGeom>
            <a:ln w="28575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矩形 156"/>
            <p:cNvSpPr/>
            <p:nvPr/>
          </p:nvSpPr>
          <p:spPr>
            <a:xfrm>
              <a:off x="3926495" y="1794178"/>
              <a:ext cx="510827" cy="219470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行为策略</a:t>
              </a:r>
              <a:endPara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58" name="直接箭头连接符 157"/>
            <p:cNvCxnSpPr/>
            <p:nvPr/>
          </p:nvCxnSpPr>
          <p:spPr>
            <a:xfrm flipH="1">
              <a:off x="4181908" y="2019221"/>
              <a:ext cx="414" cy="20057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箭头连接符 158"/>
            <p:cNvCxnSpPr/>
            <p:nvPr/>
          </p:nvCxnSpPr>
          <p:spPr>
            <a:xfrm>
              <a:off x="10762026" y="3484091"/>
              <a:ext cx="0" cy="1968226"/>
            </a:xfrm>
            <a:prstGeom prst="straightConnector1">
              <a:avLst/>
            </a:prstGeom>
            <a:ln w="28575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0" name="文本框 159"/>
                <p:cNvSpPr txBox="1"/>
                <p:nvPr/>
              </p:nvSpPr>
              <p:spPr>
                <a:xfrm>
                  <a:off x="6366239" y="1258847"/>
                  <a:ext cx="2219262" cy="58695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zh-CN" altLang="en-US" sz="120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1200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p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60" name="文本框 1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6239" y="1258847"/>
                  <a:ext cx="2219262" cy="586956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1" name="文本框 160"/>
                <p:cNvSpPr txBox="1"/>
                <p:nvPr/>
              </p:nvSpPr>
              <p:spPr>
                <a:xfrm>
                  <a:off x="6366239" y="1988880"/>
                  <a:ext cx="4136261" cy="32085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1400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1400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func>
                                  <m:func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zh-CN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40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sSub>
                                          <m:sSubPr>
                                            <m:ctrlPr>
                                              <a:rPr lang="en-US" altLang="zh-CN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400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400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altLang="zh-CN" sz="1400" i="1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altLang="zh-CN" sz="14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altLang="zh-CN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1400" i="1">
                                                <a:latin typeface="Cambria Math" panose="02040503050406030204" pitchFamily="18" charset="0"/>
                                              </a:rPr>
                                              <m:t>𝐺</m:t>
                                            </m:r>
                                          </m:e>
                                        </m:d>
                                      </m:lim>
                                    </m:limLow>
                                  </m:fName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d>
                                      <m:dPr>
                                        <m:ctrlPr>
                                          <a:rPr lang="en-US" altLang="zh-CN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1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i="1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i="1"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  <m:r>
                                                  <a:rPr lang="en-US" altLang="zh-CN" sz="1400" i="1"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r>
                                                  <a:rPr lang="en-US" altLang="zh-CN" sz="14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1400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zh-CN" sz="1400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400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altLang="zh-CN" sz="1400" i="1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altLang="zh-CN" sz="14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1400" i="1">
                                            <a:latin typeface="Cambria Math" panose="02040503050406030204" pitchFamily="18" charset="0"/>
                                          </a:rPr>
                                          <m:t>|</m:t>
                                        </m:r>
                                        <m:r>
                                          <a:rPr lang="en-US" altLang="zh-CN" sz="1400" i="1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</m:d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e>
                                </m:func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400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400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14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14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14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</m:d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>
            <p:sp>
              <p:nvSpPr>
                <p:cNvPr id="161" name="文本框 1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6239" y="1988880"/>
                  <a:ext cx="4136261" cy="320857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2" name="文本框 161"/>
                <p:cNvSpPr txBox="1"/>
                <p:nvPr/>
              </p:nvSpPr>
              <p:spPr>
                <a:xfrm>
                  <a:off x="4402823" y="5334276"/>
                  <a:ext cx="165436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𝐺𝐶𝑁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>
            <p:sp>
              <p:nvSpPr>
                <p:cNvPr id="162" name="文本框 1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2823" y="5334276"/>
                  <a:ext cx="1654364" cy="215444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3" name="文本框 162"/>
                <p:cNvSpPr txBox="1"/>
                <p:nvPr/>
              </p:nvSpPr>
              <p:spPr>
                <a:xfrm>
                  <a:off x="4553846" y="3224535"/>
                  <a:ext cx="1770356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𝑅𝐸𝑇𝐸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>
            <p:sp>
              <p:nvSpPr>
                <p:cNvPr id="163" name="文本框 1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3846" y="3224535"/>
                  <a:ext cx="1770356" cy="215444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544976" y="2841682"/>
              <a:ext cx="1646426" cy="976981"/>
            </a:xfrm>
            <a:prstGeom prst="rect">
              <a:avLst/>
            </a:prstGeom>
          </p:spPr>
        </p:pic>
        <p:sp>
          <p:nvSpPr>
            <p:cNvPr id="20" name="箭头: 右 19"/>
            <p:cNvSpPr/>
            <p:nvPr/>
          </p:nvSpPr>
          <p:spPr>
            <a:xfrm>
              <a:off x="4594938" y="4404455"/>
              <a:ext cx="251932" cy="179089"/>
            </a:xfrm>
            <a:prstGeom prst="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21" name="箭头: 右 20"/>
            <p:cNvSpPr/>
            <p:nvPr/>
          </p:nvSpPr>
          <p:spPr>
            <a:xfrm rot="2036072">
              <a:off x="5999800" y="2555348"/>
              <a:ext cx="294131" cy="165157"/>
            </a:xfrm>
            <a:prstGeom prst="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22" name="箭头: 右 21"/>
            <p:cNvSpPr/>
            <p:nvPr/>
          </p:nvSpPr>
          <p:spPr>
            <a:xfrm>
              <a:off x="4572594" y="2279390"/>
              <a:ext cx="251932" cy="179089"/>
            </a:xfrm>
            <a:prstGeom prst="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4971023" y="2315917"/>
              <a:ext cx="902812" cy="212111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t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zh-CN" sz="1050"/>
                <a:t>Action 2</a:t>
              </a:r>
              <a:endParaRPr lang="zh-CN" altLang="en-US" sz="1000" dirty="0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9323627" y="0"/>
            <a:ext cx="168266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9468336" y="215903"/>
            <a:ext cx="135744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初步进展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08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4714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初步进展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43" y="1580578"/>
            <a:ext cx="5328536" cy="4491744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sp>
        <p:nvSpPr>
          <p:cNvPr id="13" name="文本框 12"/>
          <p:cNvSpPr txBox="1"/>
          <p:nvPr/>
        </p:nvSpPr>
        <p:spPr>
          <a:xfrm>
            <a:off x="9018365" y="3662187"/>
            <a:ext cx="2257382" cy="1200329"/>
          </a:xfrm>
          <a:prstGeom prst="rect">
            <a:avLst/>
          </a:prstGeom>
          <a:noFill/>
          <a:ln w="19050">
            <a:solidFill>
              <a:srgbClr val="C00000"/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zh-CN" altLang="en-US" b="1"/>
              <a:t>标签类型：   </a:t>
            </a:r>
            <a:r>
              <a:rPr lang="en-US" altLang="zh-CN" b="1">
                <a:solidFill>
                  <a:srgbClr val="FF0000"/>
                </a:solidFill>
              </a:rPr>
              <a:t>24</a:t>
            </a:r>
            <a:endParaRPr lang="en-US" altLang="zh-CN" b="1">
              <a:solidFill>
                <a:srgbClr val="FF0000"/>
              </a:solidFill>
            </a:endParaRPr>
          </a:p>
          <a:p>
            <a:r>
              <a:rPr lang="zh-CN" altLang="en-US" b="1"/>
              <a:t>节点数量：   </a:t>
            </a:r>
            <a:r>
              <a:rPr lang="zh-CN" altLang="en-US" b="1">
                <a:solidFill>
                  <a:srgbClr val="FF0000"/>
                </a:solidFill>
              </a:rPr>
              <a:t>1603</a:t>
            </a:r>
            <a:endParaRPr lang="en-US" altLang="zh-CN" b="1">
              <a:solidFill>
                <a:srgbClr val="FF0000"/>
              </a:solidFill>
            </a:endParaRPr>
          </a:p>
          <a:p>
            <a:r>
              <a:rPr lang="zh-CN" altLang="en-US" b="1"/>
              <a:t>关系类型：</a:t>
            </a:r>
            <a:r>
              <a:rPr lang="zh-CN" altLang="en-US" b="1">
                <a:solidFill>
                  <a:srgbClr val="FF0000"/>
                </a:solidFill>
              </a:rPr>
              <a:t>   </a:t>
            </a:r>
            <a:r>
              <a:rPr lang="en-US" altLang="zh-CN" b="1">
                <a:solidFill>
                  <a:srgbClr val="FF0000"/>
                </a:solidFill>
              </a:rPr>
              <a:t>7</a:t>
            </a:r>
            <a:endParaRPr lang="zh-CN" altLang="en-US" b="1">
              <a:solidFill>
                <a:srgbClr val="FF0000"/>
              </a:solidFill>
            </a:endParaRPr>
          </a:p>
          <a:p>
            <a:r>
              <a:rPr lang="zh-CN" altLang="en-US" b="1"/>
              <a:t>关系数量：   </a:t>
            </a:r>
            <a:r>
              <a:rPr lang="zh-CN" altLang="en-US" b="1">
                <a:solidFill>
                  <a:srgbClr val="FF0000"/>
                </a:solidFill>
              </a:rPr>
              <a:t>2025</a:t>
            </a:r>
            <a:endParaRPr lang="zh-CN" altLang="en-US" b="1">
              <a:solidFill>
                <a:srgbClr val="FF0000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6714667" y="1346935"/>
            <a:ext cx="5347616" cy="1328488"/>
            <a:chOff x="6179354" y="1379685"/>
            <a:chExt cx="5862365" cy="2178771"/>
          </a:xfrm>
        </p:grpSpPr>
        <p:sp>
          <p:nvSpPr>
            <p:cNvPr id="14" name="矩形: 圆角 13"/>
            <p:cNvSpPr/>
            <p:nvPr/>
          </p:nvSpPr>
          <p:spPr>
            <a:xfrm>
              <a:off x="6179354" y="1379685"/>
              <a:ext cx="5862365" cy="2178771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288924" y="1557747"/>
              <a:ext cx="5669712" cy="1896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zh-CN" altLang="en-US" sz="1600"/>
                <a:t>当前知识来源主要为</a:t>
              </a:r>
              <a:r>
                <a:rPr lang="zh-CN" altLang="en-US" sz="1600" b="1"/>
                <a:t>教科书和临床指南</a:t>
              </a:r>
              <a:r>
                <a:rPr lang="zh-CN" altLang="en-US" sz="1600"/>
                <a:t>，由</a:t>
              </a:r>
              <a:r>
                <a:rPr lang="zh-CN" altLang="en-US" sz="1600" b="1"/>
                <a:t>相关专业医师进行手工标注</a:t>
              </a:r>
              <a:r>
                <a:rPr lang="zh-CN" altLang="en-US" sz="1600"/>
                <a:t>，通过脚本处理获取了包括</a:t>
              </a:r>
              <a:r>
                <a:rPr lang="zh-CN" altLang="en-US" sz="1600" b="1"/>
                <a:t>呼吸系统和消化系统</a:t>
              </a:r>
              <a:r>
                <a:rPr lang="zh-CN" altLang="en-US" sz="1600"/>
                <a:t>在内的多种疾病相关的结构化数据。</a:t>
              </a:r>
              <a:endParaRPr lang="en-US" altLang="zh-CN" sz="1600"/>
            </a:p>
          </p:txBody>
        </p:sp>
      </p:grpSp>
      <p:sp>
        <p:nvSpPr>
          <p:cNvPr id="16" name="箭头: 下 15"/>
          <p:cNvSpPr/>
          <p:nvPr/>
        </p:nvSpPr>
        <p:spPr>
          <a:xfrm rot="5400000">
            <a:off x="5798597" y="1654468"/>
            <a:ext cx="594805" cy="90796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366577" y="6229350"/>
            <a:ext cx="2705091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b="1">
                <a:latin typeface="+mn-ea"/>
              </a:rPr>
              <a:t>使用</a:t>
            </a:r>
            <a:r>
              <a:rPr lang="en-US" altLang="zh-CN" b="1">
                <a:latin typeface="+mn-ea"/>
              </a:rPr>
              <a:t>Neo4j</a:t>
            </a:r>
            <a:r>
              <a:rPr lang="zh-CN" altLang="en-US" b="1">
                <a:latin typeface="+mn-ea"/>
              </a:rPr>
              <a:t>建立知识图谱</a:t>
            </a:r>
            <a:endParaRPr lang="zh-CN" altLang="en-US" b="1">
              <a:latin typeface="+mn-ea"/>
            </a:endParaRPr>
          </a:p>
        </p:txBody>
      </p:sp>
      <p:sp>
        <p:nvSpPr>
          <p:cNvPr id="18" name="箭头: 下 17"/>
          <p:cNvSpPr/>
          <p:nvPr/>
        </p:nvSpPr>
        <p:spPr>
          <a:xfrm rot="16200000">
            <a:off x="5927124" y="3372468"/>
            <a:ext cx="594805" cy="90796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490" y="2912110"/>
            <a:ext cx="2135505" cy="38646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sp>
        <p:nvSpPr>
          <p:cNvPr id="12" name="文本框 11"/>
          <p:cNvSpPr txBox="1"/>
          <p:nvPr/>
        </p:nvSpPr>
        <p:spPr>
          <a:xfrm>
            <a:off x="8885977" y="3059668"/>
            <a:ext cx="2293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/>
              <a:t>已建图谱数据统计：</a:t>
            </a:r>
            <a:endParaRPr lang="zh-CN" altLang="en-US"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667932"/>
            <a:ext cx="12192000" cy="3056467"/>
          </a:xfrm>
          <a:prstGeom prst="rect">
            <a:avLst/>
          </a:prstGeom>
          <a:solidFill>
            <a:srgbClr val="A02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solidFill>
                <a:srgbClr val="FFFFFF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07267" y="2373796"/>
            <a:ext cx="6699293" cy="135646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494665">
              <a:lnSpc>
                <a:spcPct val="200000"/>
              </a:lnSpc>
              <a:defRPr/>
            </a:pPr>
            <a:r>
              <a:rPr lang="zh-CN" altLang="en-US" sz="4800" b="1" spc="433">
                <a:solidFill>
                  <a:schemeClr val="bg1"/>
                </a:solidFill>
                <a:latin typeface="Bodoni MT Black" panose="02070A03080606020203" pitchFamily="18" charset="0"/>
                <a:ea typeface="微软雅黑" panose="020B0503020204020204" pitchFamily="34" charset="-122"/>
                <a:cs typeface="经典综艺体简" panose="02010609000101010101" pitchFamily="49" charset="-122"/>
              </a:rPr>
              <a:t>请大家批评</a:t>
            </a:r>
            <a:r>
              <a:rPr lang="zh-CN" altLang="en-US" sz="4800" b="1" spc="433" dirty="0">
                <a:solidFill>
                  <a:schemeClr val="bg1"/>
                </a:solidFill>
                <a:latin typeface="Bodoni MT Black" panose="02070A03080606020203" pitchFamily="18" charset="0"/>
                <a:ea typeface="微软雅黑" panose="020B0503020204020204" pitchFamily="34" charset="-122"/>
                <a:cs typeface="经典综艺体简" panose="02010609000101010101" pitchFamily="49" charset="-122"/>
              </a:rPr>
              <a:t>指正！</a:t>
            </a:r>
            <a:endParaRPr lang="zh-CN" altLang="en-US" sz="4800" b="1" spc="433" dirty="0">
              <a:solidFill>
                <a:schemeClr val="bg1"/>
              </a:solidFill>
              <a:latin typeface="Bodoni MT Black" panose="02070A03080606020203" pitchFamily="18" charset="0"/>
              <a:ea typeface="微软雅黑" panose="020B0503020204020204" pitchFamily="34" charset="-122"/>
              <a:cs typeface="经典综艺体简" panose="02010609000101010101" pitchFamily="49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181465" y="5528310"/>
            <a:ext cx="3010535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汇报人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: </a:t>
            </a: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包博文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贾越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杨世博</a:t>
            </a:r>
            <a:endParaRPr lang="en-US" altLang="zh-CN" b="1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指导老师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: </a:t>
            </a: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谭俊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endParaRPr lang="en-US" altLang="zh-CN" b="1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2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2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05000000074505806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2_1"/>
  <p:tag name="KSO_WM_UNIT_ID" val="diagram20231457_1*m_h_i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2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3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1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2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1457_1*m_h_i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1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3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2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4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1457_1*m_h_f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项正文，文字是您思想的提炼，请尽量言简意赅的阐述观点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1457_1*m_h_a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1457_1*m_h_a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1457_1*m_h_f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项正文，文字是您思想的提炼，请尽量言简意赅的阐述观点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1457_1*m_h_a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1457_1*m_h_f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项正文，文字是您思想的提炼，请尽量言简意赅的阐述观点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3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2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3_1"/>
  <p:tag name="KSO_WM_UNIT_ID" val="diagram20231457_1*m_h_i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3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3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3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4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18.xml><?xml version="1.0" encoding="utf-8"?>
<p:tagLst xmlns:p="http://schemas.openxmlformats.org/presentationml/2006/main">
  <p:tag name="KSO_WM_DIAGRAM_VIRTUALLY_FRAME" val="{&quot;height&quot;:209.45,&quot;left&quot;:39.95,&quot;top&quot;:306.4,&quot;width&quot;:182.5}"/>
</p:tagLst>
</file>

<file path=ppt/tags/tag19.xml><?xml version="1.0" encoding="utf-8"?>
<p:tagLst xmlns:p="http://schemas.openxmlformats.org/presentationml/2006/main">
  <p:tag name="KSO_WM_DIAGRAM_VIRTUALLY_FRAME" val="{&quot;height&quot;:209.45,&quot;left&quot;:39.95,&quot;top&quot;:306.4,&quot;width&quot;:182.5}"/>
</p:tagLst>
</file>

<file path=ppt/tags/tag20.xml><?xml version="1.0" encoding="utf-8"?>
<p:tagLst xmlns:p="http://schemas.openxmlformats.org/presentationml/2006/main">
  <p:tag name="KSO_WM_DIAGRAM_VIRTUALLY_FRAME" val="{&quot;height&quot;:209.45,&quot;left&quot;:39.95,&quot;top&quot;:306.4,&quot;width&quot;:182.5}"/>
</p:tagLst>
</file>

<file path=ppt/tags/tag21.xml><?xml version="1.0" encoding="utf-8"?>
<p:tagLst xmlns:p="http://schemas.openxmlformats.org/presentationml/2006/main">
  <p:tag name="KSO_WM_DIAGRAM_VIRTUALLY_FRAME" val="{&quot;height&quot;:209.45,&quot;left&quot;:39.95,&quot;top&quot;:306.4,&quot;width&quot;:182.5}"/>
</p:tagLst>
</file>

<file path=ppt/tags/tag22.xml><?xml version="1.0" encoding="utf-8"?>
<p:tagLst xmlns:p="http://schemas.openxmlformats.org/presentationml/2006/main">
  <p:tag name="KSO_WM_DIAGRAM_VIRTUALLY_FRAME" val="{&quot;height&quot;:209.45,&quot;left&quot;:39.95,&quot;top&quot;:306.4,&quot;width&quot;:182.5}"/>
</p:tagLst>
</file>

<file path=ppt/tags/tag23.xml><?xml version="1.0" encoding="utf-8"?>
<p:tagLst xmlns:p="http://schemas.openxmlformats.org/presentationml/2006/main">
  <p:tag name="KSO_WM_DIAGRAM_VIRTUALLY_FRAME" val="{&quot;height&quot;:209.45,&quot;left&quot;:39.95,&quot;top&quot;:306.4,&quot;width&quot;:182.5}"/>
</p:tagLst>
</file>

<file path=ppt/tags/tag24.xml><?xml version="1.0" encoding="utf-8"?>
<p:tagLst xmlns:p="http://schemas.openxmlformats.org/presentationml/2006/main">
  <p:tag name="KSO_WM_DIAGRAM_VIRTUALLY_FRAME" val="{&quot;height&quot;:209.45,&quot;left&quot;:39.95,&quot;top&quot;:306.4,&quot;width&quot;:182.5}"/>
</p:tagLst>
</file>

<file path=ppt/tags/tag25.xml><?xml version="1.0" encoding="utf-8"?>
<p:tagLst xmlns:p="http://schemas.openxmlformats.org/presentationml/2006/main">
  <p:tag name="KSO_WM_DIAGRAM_VIRTUALLY_FRAME" val="{&quot;height&quot;:209.45,&quot;left&quot;:39.95,&quot;top&quot;:306.4,&quot;width&quot;:182.5}"/>
</p:tagLst>
</file>

<file path=ppt/tags/tag26.xml><?xml version="1.0" encoding="utf-8"?>
<p:tagLst xmlns:p="http://schemas.openxmlformats.org/presentationml/2006/main">
  <p:tag name="KSO_WM_DIAGRAM_VIRTUALLY_FRAME" val="{&quot;height&quot;:209.45,&quot;left&quot;:39.95,&quot;top&quot;:306.4,&quot;width&quot;:182.5}"/>
</p:tagLst>
</file>

<file path=ppt/tags/tag27.xml><?xml version="1.0" encoding="utf-8"?>
<p:tagLst xmlns:p="http://schemas.openxmlformats.org/presentationml/2006/main">
  <p:tag name="resource_record_key" val="{&quot;70&quot;:[3318475]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84D4D"/>
      </a:accent1>
      <a:accent2>
        <a:srgbClr val="FF6B42"/>
      </a:accent2>
      <a:accent3>
        <a:srgbClr val="5BA3EB"/>
      </a:accent3>
      <a:accent4>
        <a:srgbClr val="06BB9A"/>
      </a:accent4>
      <a:accent5>
        <a:srgbClr val="8E7EF0"/>
      </a:accent5>
      <a:accent6>
        <a:srgbClr val="F4B919"/>
      </a:accent6>
      <a:hlink>
        <a:srgbClr val="4472C4"/>
      </a:hlink>
      <a:folHlink>
        <a:srgbClr val="BFBFBF"/>
      </a:folHlink>
    </a:clrScheme>
    <a:fontScheme name="自定义 6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论文蓝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65FAA"/>
      </a:accent1>
      <a:accent2>
        <a:srgbClr val="4472C4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论文">
      <a:majorFont>
        <a:latin typeface="微软雅黑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主体母版">
  <a:themeElements>
    <a:clrScheme name="我给母校送模板配色1">
      <a:dk1>
        <a:sysClr val="windowText" lastClr="000000"/>
      </a:dk1>
      <a:lt1>
        <a:sysClr val="window" lastClr="FFFFFF"/>
      </a:lt1>
      <a:dk2>
        <a:srgbClr val="7F7F7F"/>
      </a:dk2>
      <a:lt2>
        <a:srgbClr val="FAFAFC"/>
      </a:lt2>
      <a:accent1>
        <a:srgbClr val="36456E"/>
      </a:accent1>
      <a:accent2>
        <a:srgbClr val="1D75AB"/>
      </a:accent2>
      <a:accent3>
        <a:srgbClr val="0EAEC4"/>
      </a:accent3>
      <a:accent4>
        <a:srgbClr val="EF5F2D"/>
      </a:accent4>
      <a:accent5>
        <a:srgbClr val="FBD533"/>
      </a:accent5>
      <a:accent6>
        <a:srgbClr val="D35AD2"/>
      </a:accent6>
      <a:hlink>
        <a:srgbClr val="7030A0"/>
      </a:hlink>
      <a:folHlink>
        <a:srgbClr val="FF0000"/>
      </a:folHlink>
    </a:clrScheme>
    <a:fontScheme name="我给母校送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F84D4D"/>
    </a:accent1>
    <a:accent2>
      <a:srgbClr val="FF6B42"/>
    </a:accent2>
    <a:accent3>
      <a:srgbClr val="5BA3EB"/>
    </a:accent3>
    <a:accent4>
      <a:srgbClr val="06BB9A"/>
    </a:accent4>
    <a:accent5>
      <a:srgbClr val="8E7EF0"/>
    </a:accent5>
    <a:accent6>
      <a:srgbClr val="F4B919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4795</Words>
  <Application>WPS 演示</Application>
  <PresentationFormat>宽屏</PresentationFormat>
  <Paragraphs>598</Paragraphs>
  <Slides>35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35</vt:i4>
      </vt:variant>
    </vt:vector>
  </HeadingPairs>
  <TitlesOfParts>
    <vt:vector size="69" baseType="lpstr">
      <vt:lpstr>Arial</vt:lpstr>
      <vt:lpstr>宋体</vt:lpstr>
      <vt:lpstr>Wingdings</vt:lpstr>
      <vt:lpstr>等线</vt:lpstr>
      <vt:lpstr>微软雅黑</vt:lpstr>
      <vt:lpstr>Britannic Bold</vt:lpstr>
      <vt:lpstr>Calibri</vt:lpstr>
      <vt:lpstr>Times New Roman</vt:lpstr>
      <vt:lpstr>Adobe 宋体 Std L</vt:lpstr>
      <vt:lpstr>微软简中圆</vt:lpstr>
      <vt:lpstr>思源黑体 CN ExtraLight</vt:lpstr>
      <vt:lpstr>黑体</vt:lpstr>
      <vt:lpstr>Arial</vt:lpstr>
      <vt:lpstr>MicrosoftYaHei</vt:lpstr>
      <vt:lpstr>Segoe Print</vt:lpstr>
      <vt:lpstr>OPPOSans M</vt:lpstr>
      <vt:lpstr>Segoe UI</vt:lpstr>
      <vt:lpstr>Arial Unicode MS</vt:lpstr>
      <vt:lpstr>Cambria Math</vt:lpstr>
      <vt:lpstr>Aharoni</vt:lpstr>
      <vt:lpstr>微软雅黑 Light</vt:lpstr>
      <vt:lpstr>Bodoni MT Black</vt:lpstr>
      <vt:lpstr>经典综艺体简</vt:lpstr>
      <vt:lpstr>Microsoft YaHei UI</vt:lpstr>
      <vt:lpstr>Adobe 宋体 Std L</vt:lpstr>
      <vt:lpstr>Aharoni</vt:lpstr>
      <vt:lpstr>MicrosoftYaHei</vt:lpstr>
      <vt:lpstr>OPPOSans M</vt:lpstr>
      <vt:lpstr>Wingdings</vt:lpstr>
      <vt:lpstr>思源黑体 CN ExtraLight</vt:lpstr>
      <vt:lpstr>经典综艺体简</vt:lpstr>
      <vt:lpstr>Office 主题​​</vt:lpstr>
      <vt:lpstr>Office 主题</vt:lpstr>
      <vt:lpstr>主体母版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Ge Biyan</dc:creator>
  <cp:lastModifiedBy>祈逝</cp:lastModifiedBy>
  <cp:revision>511</cp:revision>
  <dcterms:created xsi:type="dcterms:W3CDTF">2024-01-10T19:24:00Z</dcterms:created>
  <dcterms:modified xsi:type="dcterms:W3CDTF">2026-07-11T03:58:18Z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2052-12.1.0.26375</vt:lpwstr>
  </property>
</Properties>
</file>