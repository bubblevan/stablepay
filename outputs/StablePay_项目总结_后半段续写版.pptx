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bookmarkIdSeed="5">
  <p:sldMasterIdLst>
    <p:sldMasterId id="2147483648" r:id="rId1"/>
    <p:sldMasterId id="2147483676" r:id="rId2"/>
  </p:sldMasterIdLst>
  <p:notesMasterIdLst>
    <p:notesMasterId r:id="rId31"/>
  </p:notesMasterIdLst>
  <p:sldIdLst>
    <p:sldId id="259" r:id="rId3"/>
    <p:sldId id="1799" r:id="rId4"/>
    <p:sldId id="333" r:id="rId5"/>
    <p:sldId id="1798" r:id="rId6"/>
    <p:sldId id="1801" r:id="rId7"/>
    <p:sldId id="1782" r:id="rId8"/>
    <p:sldId id="1803" r:id="rId9"/>
    <p:sldId id="1804" r:id="rId10"/>
    <p:sldId id="1805" r:id="rId11"/>
    <p:sldId id="1806" r:id="rId12"/>
    <p:sldId id="1807" r:id="rId13"/>
    <p:sldId id="1808" r:id="rId14"/>
    <p:sldId id="1809" r:id="rId15"/>
    <p:sldId id="1810" r:id="rId16"/>
    <p:sldId id="1813" r:id="rId17"/>
    <p:sldId id="1811" r:id="rId18"/>
    <p:sldId id="1815" r:id="rId19"/>
    <p:sldId id="1816" r:id="rId20"/>
    <p:sldId id="1817" r:id="rId21"/>
    <p:sldId id="1818" r:id="rId22"/>
    <p:sldId id="1819" r:id="rId23"/>
    <p:sldId id="1785" r:id="rId24"/>
    <p:sldId id="1820" r:id="rId25"/>
    <p:sldId id="1821" r:id="rId26"/>
    <p:sldId id="1822" r:id="rId27"/>
    <p:sldId id="1784" r:id="rId28"/>
    <p:sldId id="1823" r:id="rId29"/>
    <p:sldId id="1824" r:id="rId30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72" userDrawn="1">
          <p15:clr>
            <a:srgbClr val="A4A3A4"/>
          </p15:clr>
        </p15:guide>
        <p15:guide id="2" pos="69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 Biyan" initials="GB" lastIdx="1" clrIdx="0"/>
  <p:cmAuthor id="2" name="WPS" initials="W" lastIdx="0" clrIdx="1"/>
  <p:cmAuthor id="3" name="作者" initials="A" lastIdx="0" clrIdx="2"/>
  <p:cmAuthor id="4" name="WPS_1679281038" initials="W" lastIdx="0" clrIdx="3"/>
  <p:cmAuthor id="5" name="路 子豪" initials="路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4F2"/>
    <a:srgbClr val="A12300"/>
    <a:srgbClr val="F84D4D"/>
    <a:srgbClr val="035D4D"/>
    <a:srgbClr val="CEE6C0"/>
    <a:srgbClr val="262626"/>
    <a:srgbClr val="A02300"/>
    <a:srgbClr val="02468E"/>
    <a:srgbClr val="C82B00"/>
    <a:srgbClr val="FA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1" autoAdjust="0"/>
    <p:restoredTop sz="85446" autoAdjust="0"/>
  </p:normalViewPr>
  <p:slideViewPr>
    <p:cSldViewPr snapToGrid="0" showGuides="1">
      <p:cViewPr>
        <p:scale>
          <a:sx n="75" d="100"/>
          <a:sy n="75" d="100"/>
        </p:scale>
        <p:origin x="747" y="233"/>
      </p:cViewPr>
      <p:guideLst>
        <p:guide orient="horz" pos="3372"/>
        <p:guide pos="69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4FDE9-8F51-4230-A725-30CE20208BFE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23777-BDB0-4081-B476-439F93D3998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我的汇报主要分为四部分：研究背景、技术方案、结果分析以及结论与展望。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D7C0-D2EC-4F78-A71F-0993C46EB1B1}" type="datetime1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74D2D-2CA3-4DA2-960D-ACCD54CD11BE}" type="datetime1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43FC-A3D2-4518-BE7A-C3F813165DC2}" type="datetime1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7724-71C7-4D24-A8B2-7B1AB51B0FBB}" type="datetime1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6820-6768-483F-A616-75E641EEA21E}" type="datetime1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EF73-CE81-465E-A193-2D15779B4B9A}" type="datetime1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413-1498-498D-ADFE-25C0D54EF81B}" type="datetime1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TextBox 6"/>
          <p:cNvSpPr txBox="1"/>
          <p:nvPr userDrawn="1"/>
        </p:nvSpPr>
        <p:spPr>
          <a:xfrm>
            <a:off x="609600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10" name="TextBox 7"/>
          <p:cNvSpPr txBox="1"/>
          <p:nvPr userDrawn="1"/>
        </p:nvSpPr>
        <p:spPr>
          <a:xfrm>
            <a:off x="7797800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最终成果</a:t>
            </a: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2" name="直接连接符 11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3" name="TextBox 6"/>
          <p:cNvSpPr txBox="1"/>
          <p:nvPr userDrawn="1"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5" name="TextBox 9"/>
          <p:cNvSpPr txBox="1"/>
          <p:nvPr userDrawn="1"/>
        </p:nvSpPr>
        <p:spPr>
          <a:xfrm>
            <a:off x="949960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grpSp>
        <p:nvGrpSpPr>
          <p:cNvPr id="19" name="组合 18"/>
          <p:cNvGrpSpPr/>
          <p:nvPr userDrawn="1"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0" name="箭头: 五边形 19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21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pic>
        <p:nvPicPr>
          <p:cNvPr id="1026" name="Picture 2" descr="合作伙伴 - 同方环境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8" y="-211866"/>
            <a:ext cx="2331531" cy="124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413-1498-498D-ADFE-25C0D54EF81B}" type="datetime1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026" name="Picture 2" descr="合作伙伴 - 同方环境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8" y="-211866"/>
            <a:ext cx="2331531" cy="124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77CD-47D9-4FC4-B8A4-623AAFF35AF3}" type="datetime1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F1B48-CEAD-4F1C-AE71-CB7229355321}" type="datetime1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8A2BA-4249-4F82-847B-D81ACA07A930}" type="datetime1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89CC-024E-42E9-86B3-397BF2D2E2E5}" type="datetime1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图片占位符 17"/>
          <p:cNvSpPr>
            <a:spLocks noGrp="1"/>
          </p:cNvSpPr>
          <p:nvPr>
            <p:ph type="pic" sz="quarter" idx="10"/>
          </p:nvPr>
        </p:nvSpPr>
        <p:spPr>
          <a:xfrm>
            <a:off x="682171" y="1526793"/>
            <a:ext cx="6047631" cy="40466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660400" y="1901825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3841069" y="1901825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60400" y="3915696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3"/>
          </p:nvPr>
        </p:nvSpPr>
        <p:spPr>
          <a:xfrm>
            <a:off x="3841069" y="3915696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12200" y="1825116"/>
            <a:ext cx="5731862" cy="392252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80380" y="2155760"/>
            <a:ext cx="3493085" cy="260267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1"/>
          </p:nvPr>
        </p:nvSpPr>
        <p:spPr>
          <a:xfrm>
            <a:off x="7997864" y="2155760"/>
            <a:ext cx="3513066" cy="260267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567543" y="1301530"/>
            <a:ext cx="4209138" cy="219961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406686" y="1301530"/>
            <a:ext cx="4209138" cy="219961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827088" y="1815250"/>
            <a:ext cx="5584149" cy="371286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5025543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2"/>
          </p:nvPr>
        </p:nvSpPr>
        <p:spPr>
          <a:xfrm>
            <a:off x="8482794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568292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179904" y="1901468"/>
            <a:ext cx="3434167" cy="2104474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7842363" y="1895930"/>
            <a:ext cx="3434167" cy="2104474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  <a:scene3d>
            <a:camera prst="perspectiveLeft"/>
            <a:lightRig rig="threePt" dir="t"/>
          </a:scene3d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3793560" y="1644454"/>
            <a:ext cx="4604880" cy="2584487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82171" y="1770744"/>
            <a:ext cx="5776686" cy="3758837"/>
          </a:xfrm>
          <a:custGeom>
            <a:avLst/>
            <a:gdLst>
              <a:gd name="connsiteX0" fmla="*/ 0 w 5776686"/>
              <a:gd name="connsiteY0" fmla="*/ 0 h 3758837"/>
              <a:gd name="connsiteX1" fmla="*/ 5776686 w 5776686"/>
              <a:gd name="connsiteY1" fmla="*/ 0 h 3758837"/>
              <a:gd name="connsiteX2" fmla="*/ 5776686 w 5776686"/>
              <a:gd name="connsiteY2" fmla="*/ 3758837 h 3758837"/>
              <a:gd name="connsiteX3" fmla="*/ 0 w 5776686"/>
              <a:gd name="connsiteY3" fmla="*/ 3758837 h 3758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6686" h="3758837">
                <a:moveTo>
                  <a:pt x="0" y="0"/>
                </a:moveTo>
                <a:lnTo>
                  <a:pt x="5776686" y="0"/>
                </a:lnTo>
                <a:lnTo>
                  <a:pt x="5776686" y="3758837"/>
                </a:lnTo>
                <a:lnTo>
                  <a:pt x="0" y="375883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817635" y="1035591"/>
            <a:ext cx="10556729" cy="3240588"/>
          </a:xfrm>
          <a:custGeom>
            <a:avLst/>
            <a:gdLst>
              <a:gd name="connsiteX0" fmla="*/ 0 w 10874375"/>
              <a:gd name="connsiteY0" fmla="*/ 0 h 3462946"/>
              <a:gd name="connsiteX1" fmla="*/ 10874375 w 10874375"/>
              <a:gd name="connsiteY1" fmla="*/ 0 h 3462946"/>
              <a:gd name="connsiteX2" fmla="*/ 10874375 w 10874375"/>
              <a:gd name="connsiteY2" fmla="*/ 3462946 h 3462946"/>
              <a:gd name="connsiteX3" fmla="*/ 0 w 10874375"/>
              <a:gd name="connsiteY3" fmla="*/ 3462946 h 3462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74375" h="3462946">
                <a:moveTo>
                  <a:pt x="0" y="0"/>
                </a:moveTo>
                <a:lnTo>
                  <a:pt x="10874375" y="0"/>
                </a:lnTo>
                <a:lnTo>
                  <a:pt x="10874375" y="3462946"/>
                </a:lnTo>
                <a:lnTo>
                  <a:pt x="0" y="34629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5144298" y="1327793"/>
            <a:ext cx="1903405" cy="1903405"/>
          </a:xfrm>
          <a:custGeom>
            <a:avLst/>
            <a:gdLst>
              <a:gd name="connsiteX0" fmla="*/ 800318 w 1600636"/>
              <a:gd name="connsiteY0" fmla="*/ 0 h 1600636"/>
              <a:gd name="connsiteX1" fmla="*/ 1600636 w 1600636"/>
              <a:gd name="connsiteY1" fmla="*/ 800318 h 1600636"/>
              <a:gd name="connsiteX2" fmla="*/ 800318 w 1600636"/>
              <a:gd name="connsiteY2" fmla="*/ 1600636 h 1600636"/>
              <a:gd name="connsiteX3" fmla="*/ 0 w 1600636"/>
              <a:gd name="connsiteY3" fmla="*/ 800318 h 1600636"/>
              <a:gd name="connsiteX4" fmla="*/ 800318 w 1600636"/>
              <a:gd name="connsiteY4" fmla="*/ 0 h 1600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0636" h="1600636">
                <a:moveTo>
                  <a:pt x="800318" y="0"/>
                </a:moveTo>
                <a:cubicBezTo>
                  <a:pt x="1242321" y="0"/>
                  <a:pt x="1600636" y="358315"/>
                  <a:pt x="1600636" y="800318"/>
                </a:cubicBezTo>
                <a:cubicBezTo>
                  <a:pt x="1600636" y="1242321"/>
                  <a:pt x="1242321" y="1600636"/>
                  <a:pt x="800318" y="1600636"/>
                </a:cubicBezTo>
                <a:cubicBezTo>
                  <a:pt x="358315" y="1600636"/>
                  <a:pt x="0" y="1242321"/>
                  <a:pt x="0" y="800318"/>
                </a:cubicBezTo>
                <a:cubicBezTo>
                  <a:pt x="0" y="358315"/>
                  <a:pt x="358315" y="0"/>
                  <a:pt x="8003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3534731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6286725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9038718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782737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691218" y="1273462"/>
            <a:ext cx="6811938" cy="2441929"/>
          </a:xfrm>
          <a:custGeom>
            <a:avLst/>
            <a:gdLst>
              <a:gd name="connsiteX0" fmla="*/ 0 w 10828469"/>
              <a:gd name="connsiteY0" fmla="*/ 0 h 2441929"/>
              <a:gd name="connsiteX1" fmla="*/ 10828469 w 10828469"/>
              <a:gd name="connsiteY1" fmla="*/ 0 h 2441929"/>
              <a:gd name="connsiteX2" fmla="*/ 10828469 w 10828469"/>
              <a:gd name="connsiteY2" fmla="*/ 2441929 h 2441929"/>
              <a:gd name="connsiteX3" fmla="*/ 0 w 10828469"/>
              <a:gd name="connsiteY3" fmla="*/ 2441929 h 244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28469" h="2441929">
                <a:moveTo>
                  <a:pt x="0" y="0"/>
                </a:moveTo>
                <a:lnTo>
                  <a:pt x="10828469" y="0"/>
                </a:lnTo>
                <a:lnTo>
                  <a:pt x="10828469" y="2441929"/>
                </a:lnTo>
                <a:lnTo>
                  <a:pt x="0" y="244192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图片占位符 35"/>
          <p:cNvSpPr>
            <a:spLocks noGrp="1"/>
          </p:cNvSpPr>
          <p:nvPr>
            <p:ph type="pic" sz="quarter" idx="11"/>
          </p:nvPr>
        </p:nvSpPr>
        <p:spPr>
          <a:xfrm>
            <a:off x="50038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7" name="图片占位符 36"/>
          <p:cNvSpPr>
            <a:spLocks noGrp="1"/>
          </p:cNvSpPr>
          <p:nvPr>
            <p:ph type="pic" sz="quarter" idx="12"/>
          </p:nvPr>
        </p:nvSpPr>
        <p:spPr>
          <a:xfrm>
            <a:off x="93472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8" name="图片占位符 37"/>
          <p:cNvSpPr>
            <a:spLocks noGrp="1"/>
          </p:cNvSpPr>
          <p:nvPr>
            <p:ph type="pic" sz="quarter" idx="13"/>
          </p:nvPr>
        </p:nvSpPr>
        <p:spPr>
          <a:xfrm>
            <a:off x="7175500" y="1549833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9" name="图片占位符 38"/>
          <p:cNvSpPr>
            <a:spLocks noGrp="1"/>
          </p:cNvSpPr>
          <p:nvPr>
            <p:ph type="pic" sz="quarter" idx="14"/>
          </p:nvPr>
        </p:nvSpPr>
        <p:spPr>
          <a:xfrm>
            <a:off x="2832100" y="1549833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" name="图片占位符 34"/>
          <p:cNvSpPr>
            <a:spLocks noGrp="1"/>
          </p:cNvSpPr>
          <p:nvPr>
            <p:ph type="pic" sz="quarter" idx="10"/>
          </p:nvPr>
        </p:nvSpPr>
        <p:spPr>
          <a:xfrm>
            <a:off x="6604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679744" y="1127592"/>
            <a:ext cx="4553385" cy="5038264"/>
          </a:xfrm>
          <a:custGeom>
            <a:avLst/>
            <a:gdLst>
              <a:gd name="connsiteX0" fmla="*/ 0 w 4553385"/>
              <a:gd name="connsiteY0" fmla="*/ 0 h 5038264"/>
              <a:gd name="connsiteX1" fmla="*/ 4553385 w 4553385"/>
              <a:gd name="connsiteY1" fmla="*/ 0 h 5038264"/>
              <a:gd name="connsiteX2" fmla="*/ 4553385 w 4553385"/>
              <a:gd name="connsiteY2" fmla="*/ 5038264 h 5038264"/>
              <a:gd name="connsiteX3" fmla="*/ 0 w 4553385"/>
              <a:gd name="connsiteY3" fmla="*/ 5038264 h 503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3385" h="5038264">
                <a:moveTo>
                  <a:pt x="0" y="0"/>
                </a:moveTo>
                <a:lnTo>
                  <a:pt x="4553385" y="0"/>
                </a:lnTo>
                <a:lnTo>
                  <a:pt x="4553385" y="5038264"/>
                </a:lnTo>
                <a:lnTo>
                  <a:pt x="0" y="503826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3313569" y="1151227"/>
            <a:ext cx="2397593" cy="1708088"/>
          </a:xfrm>
          <a:custGeom>
            <a:avLst/>
            <a:gdLst>
              <a:gd name="connsiteX0" fmla="*/ 0 w 2397593"/>
              <a:gd name="connsiteY0" fmla="*/ 0 h 1497361"/>
              <a:gd name="connsiteX1" fmla="*/ 2397593 w 2397593"/>
              <a:gd name="connsiteY1" fmla="*/ 0 h 1497361"/>
              <a:gd name="connsiteX2" fmla="*/ 2397593 w 2397593"/>
              <a:gd name="connsiteY2" fmla="*/ 1497361 h 1497361"/>
              <a:gd name="connsiteX3" fmla="*/ 0 w 2397593"/>
              <a:gd name="connsiteY3" fmla="*/ 1497361 h 149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7593" h="1497361">
                <a:moveTo>
                  <a:pt x="0" y="0"/>
                </a:moveTo>
                <a:lnTo>
                  <a:pt x="2397593" y="0"/>
                </a:lnTo>
                <a:lnTo>
                  <a:pt x="2397593" y="1497361"/>
                </a:lnTo>
                <a:lnTo>
                  <a:pt x="0" y="14973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699839" y="1151227"/>
            <a:ext cx="2418113" cy="3173178"/>
          </a:xfrm>
          <a:custGeom>
            <a:avLst/>
            <a:gdLst>
              <a:gd name="connsiteX0" fmla="*/ 0 w 2418113"/>
              <a:gd name="connsiteY0" fmla="*/ 0 h 3063575"/>
              <a:gd name="connsiteX1" fmla="*/ 2418113 w 2418113"/>
              <a:gd name="connsiteY1" fmla="*/ 0 h 3063575"/>
              <a:gd name="connsiteX2" fmla="*/ 2418113 w 2418113"/>
              <a:gd name="connsiteY2" fmla="*/ 3063575 h 3063575"/>
              <a:gd name="connsiteX3" fmla="*/ 0 w 2418113"/>
              <a:gd name="connsiteY3" fmla="*/ 3063575 h 306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8113" h="3063575">
                <a:moveTo>
                  <a:pt x="0" y="0"/>
                </a:moveTo>
                <a:lnTo>
                  <a:pt x="2418113" y="0"/>
                </a:lnTo>
                <a:lnTo>
                  <a:pt x="2418113" y="3063575"/>
                </a:lnTo>
                <a:lnTo>
                  <a:pt x="0" y="30635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707883" y="4572000"/>
            <a:ext cx="2410673" cy="1579425"/>
          </a:xfrm>
          <a:custGeom>
            <a:avLst/>
            <a:gdLst>
              <a:gd name="connsiteX0" fmla="*/ 0 w 2410673"/>
              <a:gd name="connsiteY0" fmla="*/ 0 h 1517855"/>
              <a:gd name="connsiteX1" fmla="*/ 2410673 w 2410673"/>
              <a:gd name="connsiteY1" fmla="*/ 0 h 1517855"/>
              <a:gd name="connsiteX2" fmla="*/ 2410673 w 2410673"/>
              <a:gd name="connsiteY2" fmla="*/ 1517855 h 1517855"/>
              <a:gd name="connsiteX3" fmla="*/ 0 w 2410673"/>
              <a:gd name="connsiteY3" fmla="*/ 1517855 h 1517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0673" h="1517855">
                <a:moveTo>
                  <a:pt x="0" y="0"/>
                </a:moveTo>
                <a:lnTo>
                  <a:pt x="2410673" y="0"/>
                </a:lnTo>
                <a:lnTo>
                  <a:pt x="2410673" y="1517855"/>
                </a:lnTo>
                <a:lnTo>
                  <a:pt x="0" y="1517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3313569" y="3097382"/>
            <a:ext cx="2397594" cy="3063574"/>
          </a:xfrm>
          <a:custGeom>
            <a:avLst/>
            <a:gdLst>
              <a:gd name="connsiteX0" fmla="*/ 0 w 2418113"/>
              <a:gd name="connsiteY0" fmla="*/ 0 h 3063574"/>
              <a:gd name="connsiteX1" fmla="*/ 2418113 w 2418113"/>
              <a:gd name="connsiteY1" fmla="*/ 0 h 3063574"/>
              <a:gd name="connsiteX2" fmla="*/ 2418113 w 2418113"/>
              <a:gd name="connsiteY2" fmla="*/ 3063574 h 3063574"/>
              <a:gd name="connsiteX3" fmla="*/ 0 w 2418113"/>
              <a:gd name="connsiteY3" fmla="*/ 3063574 h 306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8113" h="3063574">
                <a:moveTo>
                  <a:pt x="0" y="0"/>
                </a:moveTo>
                <a:lnTo>
                  <a:pt x="2418113" y="0"/>
                </a:lnTo>
                <a:lnTo>
                  <a:pt x="2418113" y="3063574"/>
                </a:lnTo>
                <a:lnTo>
                  <a:pt x="0" y="306357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5203032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572720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1833345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4"/>
          </p:nvPr>
        </p:nvSpPr>
        <p:spPr>
          <a:xfrm>
            <a:off x="5203032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8572720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833345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67657" y="926059"/>
            <a:ext cx="10900229" cy="4670056"/>
          </a:xfrm>
          <a:custGeom>
            <a:avLst/>
            <a:gdLst>
              <a:gd name="connsiteX0" fmla="*/ 0 w 10900229"/>
              <a:gd name="connsiteY0" fmla="*/ 0 h 4670056"/>
              <a:gd name="connsiteX1" fmla="*/ 10900229 w 10900229"/>
              <a:gd name="connsiteY1" fmla="*/ 0 h 4670056"/>
              <a:gd name="connsiteX2" fmla="*/ 10900229 w 10900229"/>
              <a:gd name="connsiteY2" fmla="*/ 4670056 h 4670056"/>
              <a:gd name="connsiteX3" fmla="*/ 0 w 10900229"/>
              <a:gd name="connsiteY3" fmla="*/ 4670056 h 467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00229" h="4670056">
                <a:moveTo>
                  <a:pt x="0" y="0"/>
                </a:moveTo>
                <a:lnTo>
                  <a:pt x="10900229" y="0"/>
                </a:lnTo>
                <a:lnTo>
                  <a:pt x="10900229" y="4670056"/>
                </a:lnTo>
                <a:lnTo>
                  <a:pt x="0" y="46700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图片占位符 18"/>
          <p:cNvSpPr>
            <a:spLocks noGrp="1"/>
          </p:cNvSpPr>
          <p:nvPr>
            <p:ph type="pic" sz="quarter" idx="10"/>
          </p:nvPr>
        </p:nvSpPr>
        <p:spPr>
          <a:xfrm>
            <a:off x="1154243" y="2437107"/>
            <a:ext cx="4141657" cy="2368446"/>
          </a:xfrm>
          <a:custGeom>
            <a:avLst/>
            <a:gdLst>
              <a:gd name="connsiteX0" fmla="*/ 0 w 3703496"/>
              <a:gd name="connsiteY0" fmla="*/ 0 h 2368446"/>
              <a:gd name="connsiteX1" fmla="*/ 3703496 w 3703496"/>
              <a:gd name="connsiteY1" fmla="*/ 0 h 2368446"/>
              <a:gd name="connsiteX2" fmla="*/ 3703496 w 3703496"/>
              <a:gd name="connsiteY2" fmla="*/ 2368446 h 2368446"/>
              <a:gd name="connsiteX3" fmla="*/ 0 w 3703496"/>
              <a:gd name="connsiteY3" fmla="*/ 2368446 h 236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3496" h="2368446">
                <a:moveTo>
                  <a:pt x="0" y="0"/>
                </a:moveTo>
                <a:lnTo>
                  <a:pt x="3703496" y="0"/>
                </a:lnTo>
                <a:lnTo>
                  <a:pt x="3703496" y="2368446"/>
                </a:lnTo>
                <a:lnTo>
                  <a:pt x="0" y="23684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1"/>
          </p:nvPr>
        </p:nvSpPr>
        <p:spPr>
          <a:xfrm>
            <a:off x="5485632" y="1686925"/>
            <a:ext cx="5724510" cy="3821111"/>
          </a:xfrm>
          <a:custGeom>
            <a:avLst/>
            <a:gdLst>
              <a:gd name="connsiteX0" fmla="*/ 0 w 5724510"/>
              <a:gd name="connsiteY0" fmla="*/ 0 h 3821111"/>
              <a:gd name="connsiteX1" fmla="*/ 5724510 w 5724510"/>
              <a:gd name="connsiteY1" fmla="*/ 0 h 3821111"/>
              <a:gd name="connsiteX2" fmla="*/ 5724510 w 5724510"/>
              <a:gd name="connsiteY2" fmla="*/ 3821111 h 3821111"/>
              <a:gd name="connsiteX3" fmla="*/ 0 w 5724510"/>
              <a:gd name="connsiteY3" fmla="*/ 3821111 h 382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4510" h="3821111">
                <a:moveTo>
                  <a:pt x="0" y="0"/>
                </a:moveTo>
                <a:lnTo>
                  <a:pt x="5724510" y="0"/>
                </a:lnTo>
                <a:lnTo>
                  <a:pt x="5724510" y="3821111"/>
                </a:lnTo>
                <a:lnTo>
                  <a:pt x="0" y="38211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1547730" y="3703459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6201725" y="1173056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215580" y="3703459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547730" y="1173056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图片占位符 18"/>
          <p:cNvSpPr>
            <a:spLocks noGrp="1"/>
          </p:cNvSpPr>
          <p:nvPr>
            <p:ph type="pic" sz="quarter" idx="19"/>
          </p:nvPr>
        </p:nvSpPr>
        <p:spPr>
          <a:xfrm>
            <a:off x="4460264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1113537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7806991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6"/>
          </p:nvPr>
        </p:nvSpPr>
        <p:spPr>
          <a:xfrm>
            <a:off x="7806991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7"/>
          </p:nvPr>
        </p:nvSpPr>
        <p:spPr>
          <a:xfrm>
            <a:off x="4460264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8"/>
          </p:nvPr>
        </p:nvSpPr>
        <p:spPr>
          <a:xfrm>
            <a:off x="1113537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7806991" y="2834016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20"/>
          </p:nvPr>
        </p:nvSpPr>
        <p:spPr>
          <a:xfrm>
            <a:off x="1113537" y="2834016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2"/>
          </p:nvPr>
        </p:nvSpPr>
        <p:spPr>
          <a:xfrm>
            <a:off x="1342154" y="2487065"/>
            <a:ext cx="3867489" cy="2443108"/>
          </a:xfrm>
          <a:custGeom>
            <a:avLst/>
            <a:gdLst>
              <a:gd name="connsiteX0" fmla="*/ 0 w 3867489"/>
              <a:gd name="connsiteY0" fmla="*/ 0 h 2443108"/>
              <a:gd name="connsiteX1" fmla="*/ 3867489 w 3867489"/>
              <a:gd name="connsiteY1" fmla="*/ 0 h 2443108"/>
              <a:gd name="connsiteX2" fmla="*/ 3867489 w 3867489"/>
              <a:gd name="connsiteY2" fmla="*/ 2443108 h 2443108"/>
              <a:gd name="connsiteX3" fmla="*/ 0 w 3867489"/>
              <a:gd name="connsiteY3" fmla="*/ 2443108 h 244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489" h="2443108">
                <a:moveTo>
                  <a:pt x="0" y="0"/>
                </a:moveTo>
                <a:lnTo>
                  <a:pt x="3867489" y="0"/>
                </a:lnTo>
                <a:lnTo>
                  <a:pt x="3867489" y="2443108"/>
                </a:lnTo>
                <a:lnTo>
                  <a:pt x="0" y="24431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4899109" y="3568026"/>
            <a:ext cx="915572" cy="1619376"/>
          </a:xfrm>
          <a:custGeom>
            <a:avLst/>
            <a:gdLst>
              <a:gd name="connsiteX0" fmla="*/ 0 w 915572"/>
              <a:gd name="connsiteY0" fmla="*/ 0 h 1619376"/>
              <a:gd name="connsiteX1" fmla="*/ 915572 w 915572"/>
              <a:gd name="connsiteY1" fmla="*/ 0 h 1619376"/>
              <a:gd name="connsiteX2" fmla="*/ 915572 w 915572"/>
              <a:gd name="connsiteY2" fmla="*/ 1619376 h 1619376"/>
              <a:gd name="connsiteX3" fmla="*/ 0 w 915572"/>
              <a:gd name="connsiteY3" fmla="*/ 1619376 h 161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5572" h="1619376">
                <a:moveTo>
                  <a:pt x="0" y="0"/>
                </a:moveTo>
                <a:lnTo>
                  <a:pt x="915572" y="0"/>
                </a:lnTo>
                <a:lnTo>
                  <a:pt x="915572" y="1619376"/>
                </a:lnTo>
                <a:lnTo>
                  <a:pt x="0" y="16193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874023" y="3943899"/>
            <a:ext cx="1876507" cy="1397416"/>
          </a:xfrm>
          <a:custGeom>
            <a:avLst/>
            <a:gdLst>
              <a:gd name="connsiteX0" fmla="*/ 0 w 1876507"/>
              <a:gd name="connsiteY0" fmla="*/ 0 h 1397416"/>
              <a:gd name="connsiteX1" fmla="*/ 1876507 w 1876507"/>
              <a:gd name="connsiteY1" fmla="*/ 0 h 1397416"/>
              <a:gd name="connsiteX2" fmla="*/ 1876507 w 1876507"/>
              <a:gd name="connsiteY2" fmla="*/ 1397416 h 1397416"/>
              <a:gd name="connsiteX3" fmla="*/ 0 w 1876507"/>
              <a:gd name="connsiteY3" fmla="*/ 1397416 h 139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507" h="1397416">
                <a:moveTo>
                  <a:pt x="0" y="0"/>
                </a:moveTo>
                <a:lnTo>
                  <a:pt x="1876507" y="0"/>
                </a:lnTo>
                <a:lnTo>
                  <a:pt x="1876507" y="1397416"/>
                </a:lnTo>
                <a:lnTo>
                  <a:pt x="0" y="13974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2"/>
          </p:nvPr>
        </p:nvSpPr>
        <p:spPr>
          <a:xfrm>
            <a:off x="1363097" y="2641600"/>
            <a:ext cx="3947091" cy="2279650"/>
          </a:xfrm>
          <a:custGeom>
            <a:avLst/>
            <a:gdLst>
              <a:gd name="connsiteX0" fmla="*/ 0 w 3867489"/>
              <a:gd name="connsiteY0" fmla="*/ 0 h 2443108"/>
              <a:gd name="connsiteX1" fmla="*/ 3867489 w 3867489"/>
              <a:gd name="connsiteY1" fmla="*/ 0 h 2443108"/>
              <a:gd name="connsiteX2" fmla="*/ 3867489 w 3867489"/>
              <a:gd name="connsiteY2" fmla="*/ 2443108 h 2443108"/>
              <a:gd name="connsiteX3" fmla="*/ 0 w 3867489"/>
              <a:gd name="connsiteY3" fmla="*/ 2443108 h 244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489" h="2443108">
                <a:moveTo>
                  <a:pt x="0" y="0"/>
                </a:moveTo>
                <a:lnTo>
                  <a:pt x="3867489" y="0"/>
                </a:lnTo>
                <a:lnTo>
                  <a:pt x="3867489" y="2443108"/>
                </a:lnTo>
                <a:lnTo>
                  <a:pt x="0" y="24431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3"/>
          </p:nvPr>
        </p:nvSpPr>
        <p:spPr>
          <a:xfrm>
            <a:off x="971361" y="4290054"/>
            <a:ext cx="1900089" cy="1424946"/>
          </a:xfrm>
          <a:custGeom>
            <a:avLst/>
            <a:gdLst>
              <a:gd name="connsiteX0" fmla="*/ 0 w 1876507"/>
              <a:gd name="connsiteY0" fmla="*/ 0 h 1397416"/>
              <a:gd name="connsiteX1" fmla="*/ 1876507 w 1876507"/>
              <a:gd name="connsiteY1" fmla="*/ 0 h 1397416"/>
              <a:gd name="connsiteX2" fmla="*/ 1876507 w 1876507"/>
              <a:gd name="connsiteY2" fmla="*/ 1397416 h 1397416"/>
              <a:gd name="connsiteX3" fmla="*/ 0 w 1876507"/>
              <a:gd name="connsiteY3" fmla="*/ 1397416 h 139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507" h="1397416">
                <a:moveTo>
                  <a:pt x="0" y="0"/>
                </a:moveTo>
                <a:lnTo>
                  <a:pt x="1876507" y="0"/>
                </a:lnTo>
                <a:lnTo>
                  <a:pt x="1876507" y="1397416"/>
                </a:lnTo>
                <a:lnTo>
                  <a:pt x="0" y="13974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4"/>
          </p:nvPr>
        </p:nvSpPr>
        <p:spPr>
          <a:xfrm>
            <a:off x="4707481" y="3862286"/>
            <a:ext cx="915572" cy="1619376"/>
          </a:xfrm>
          <a:custGeom>
            <a:avLst/>
            <a:gdLst>
              <a:gd name="connsiteX0" fmla="*/ 0 w 915572"/>
              <a:gd name="connsiteY0" fmla="*/ 0 h 1619376"/>
              <a:gd name="connsiteX1" fmla="*/ 915572 w 915572"/>
              <a:gd name="connsiteY1" fmla="*/ 0 h 1619376"/>
              <a:gd name="connsiteX2" fmla="*/ 915572 w 915572"/>
              <a:gd name="connsiteY2" fmla="*/ 1619376 h 1619376"/>
              <a:gd name="connsiteX3" fmla="*/ 0 w 915572"/>
              <a:gd name="connsiteY3" fmla="*/ 1619376 h 161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5572" h="1619376">
                <a:moveTo>
                  <a:pt x="0" y="0"/>
                </a:moveTo>
                <a:lnTo>
                  <a:pt x="915572" y="0"/>
                </a:lnTo>
                <a:lnTo>
                  <a:pt x="915572" y="1619376"/>
                </a:lnTo>
                <a:lnTo>
                  <a:pt x="0" y="16193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4734988" y="3873705"/>
            <a:ext cx="2713564" cy="1597935"/>
          </a:xfrm>
          <a:custGeom>
            <a:avLst/>
            <a:gdLst>
              <a:gd name="connsiteX0" fmla="*/ 0 w 2713564"/>
              <a:gd name="connsiteY0" fmla="*/ 0 h 1597935"/>
              <a:gd name="connsiteX1" fmla="*/ 2713564 w 2713564"/>
              <a:gd name="connsiteY1" fmla="*/ 0 h 1597935"/>
              <a:gd name="connsiteX2" fmla="*/ 2713564 w 2713564"/>
              <a:gd name="connsiteY2" fmla="*/ 1597935 h 1597935"/>
              <a:gd name="connsiteX3" fmla="*/ 0 w 2713564"/>
              <a:gd name="connsiteY3" fmla="*/ 1597935 h 1597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3564" h="1597935">
                <a:moveTo>
                  <a:pt x="0" y="0"/>
                </a:moveTo>
                <a:lnTo>
                  <a:pt x="2713564" y="0"/>
                </a:lnTo>
                <a:lnTo>
                  <a:pt x="2713564" y="1597935"/>
                </a:lnTo>
                <a:lnTo>
                  <a:pt x="0" y="159793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4536006" y="3134995"/>
            <a:ext cx="3339734" cy="1876612"/>
          </a:xfrm>
          <a:custGeom>
            <a:avLst/>
            <a:gdLst>
              <a:gd name="connsiteX0" fmla="*/ 0 w 3339734"/>
              <a:gd name="connsiteY0" fmla="*/ 0 h 1876612"/>
              <a:gd name="connsiteX1" fmla="*/ 3339734 w 3339734"/>
              <a:gd name="connsiteY1" fmla="*/ 0 h 1876612"/>
              <a:gd name="connsiteX2" fmla="*/ 3339734 w 3339734"/>
              <a:gd name="connsiteY2" fmla="*/ 1876612 h 1876612"/>
              <a:gd name="connsiteX3" fmla="*/ 0 w 3339734"/>
              <a:gd name="connsiteY3" fmla="*/ 1876612 h 1876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9734" h="1876612">
                <a:moveTo>
                  <a:pt x="0" y="0"/>
                </a:moveTo>
                <a:lnTo>
                  <a:pt x="3339734" y="0"/>
                </a:lnTo>
                <a:lnTo>
                  <a:pt x="3339734" y="1876612"/>
                </a:lnTo>
                <a:lnTo>
                  <a:pt x="0" y="187661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6"/>
          </p:nvPr>
        </p:nvSpPr>
        <p:spPr>
          <a:xfrm>
            <a:off x="9164588" y="5517557"/>
            <a:ext cx="220846" cy="274631"/>
          </a:xfrm>
          <a:custGeom>
            <a:avLst/>
            <a:gdLst>
              <a:gd name="connsiteX0" fmla="*/ 0 w 220846"/>
              <a:gd name="connsiteY0" fmla="*/ 0 h 274631"/>
              <a:gd name="connsiteX1" fmla="*/ 220846 w 220846"/>
              <a:gd name="connsiteY1" fmla="*/ 0 h 274631"/>
              <a:gd name="connsiteX2" fmla="*/ 220846 w 220846"/>
              <a:gd name="connsiteY2" fmla="*/ 274631 h 274631"/>
              <a:gd name="connsiteX3" fmla="*/ 0 w 220846"/>
              <a:gd name="connsiteY3" fmla="*/ 274631 h 27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846" h="274631">
                <a:moveTo>
                  <a:pt x="0" y="0"/>
                </a:moveTo>
                <a:lnTo>
                  <a:pt x="220846" y="0"/>
                </a:lnTo>
                <a:lnTo>
                  <a:pt x="220846" y="274631"/>
                </a:lnTo>
                <a:lnTo>
                  <a:pt x="0" y="27463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5"/>
          </p:nvPr>
        </p:nvSpPr>
        <p:spPr>
          <a:xfrm>
            <a:off x="8495376" y="4934790"/>
            <a:ext cx="506818" cy="893045"/>
          </a:xfrm>
          <a:custGeom>
            <a:avLst/>
            <a:gdLst>
              <a:gd name="connsiteX0" fmla="*/ 0 w 506818"/>
              <a:gd name="connsiteY0" fmla="*/ 0 h 893045"/>
              <a:gd name="connsiteX1" fmla="*/ 506818 w 506818"/>
              <a:gd name="connsiteY1" fmla="*/ 0 h 893045"/>
              <a:gd name="connsiteX2" fmla="*/ 506818 w 506818"/>
              <a:gd name="connsiteY2" fmla="*/ 893045 h 893045"/>
              <a:gd name="connsiteX3" fmla="*/ 0 w 506818"/>
              <a:gd name="connsiteY3" fmla="*/ 893045 h 89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6818" h="893045">
                <a:moveTo>
                  <a:pt x="0" y="0"/>
                </a:moveTo>
                <a:lnTo>
                  <a:pt x="506818" y="0"/>
                </a:lnTo>
                <a:lnTo>
                  <a:pt x="506818" y="893045"/>
                </a:lnTo>
                <a:lnTo>
                  <a:pt x="0" y="8930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4"/>
          </p:nvPr>
        </p:nvSpPr>
        <p:spPr>
          <a:xfrm>
            <a:off x="7447394" y="4339593"/>
            <a:ext cx="1087644" cy="1452596"/>
          </a:xfrm>
          <a:custGeom>
            <a:avLst/>
            <a:gdLst>
              <a:gd name="connsiteX0" fmla="*/ 0 w 1087644"/>
              <a:gd name="connsiteY0" fmla="*/ 0 h 1452596"/>
              <a:gd name="connsiteX1" fmla="*/ 1087644 w 1087644"/>
              <a:gd name="connsiteY1" fmla="*/ 0 h 1452596"/>
              <a:gd name="connsiteX2" fmla="*/ 1087644 w 1087644"/>
              <a:gd name="connsiteY2" fmla="*/ 1452596 h 1452596"/>
              <a:gd name="connsiteX3" fmla="*/ 0 w 1087644"/>
              <a:gd name="connsiteY3" fmla="*/ 1452596 h 145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7644" h="1452596">
                <a:moveTo>
                  <a:pt x="0" y="0"/>
                </a:moveTo>
                <a:lnTo>
                  <a:pt x="1087644" y="0"/>
                </a:lnTo>
                <a:lnTo>
                  <a:pt x="1087644" y="1452596"/>
                </a:lnTo>
                <a:lnTo>
                  <a:pt x="0" y="145259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2696096" y="4426890"/>
            <a:ext cx="2127445" cy="1351064"/>
          </a:xfrm>
          <a:custGeom>
            <a:avLst/>
            <a:gdLst>
              <a:gd name="connsiteX0" fmla="*/ 0 w 2127445"/>
              <a:gd name="connsiteY0" fmla="*/ 0 h 1351064"/>
              <a:gd name="connsiteX1" fmla="*/ 2127445 w 2127445"/>
              <a:gd name="connsiteY1" fmla="*/ 0 h 1351064"/>
              <a:gd name="connsiteX2" fmla="*/ 2127445 w 2127445"/>
              <a:gd name="connsiteY2" fmla="*/ 1351064 h 1351064"/>
              <a:gd name="connsiteX3" fmla="*/ 0 w 2127445"/>
              <a:gd name="connsiteY3" fmla="*/ 1351064 h 135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445" h="1351064">
                <a:moveTo>
                  <a:pt x="0" y="0"/>
                </a:moveTo>
                <a:lnTo>
                  <a:pt x="2127445" y="0"/>
                </a:lnTo>
                <a:lnTo>
                  <a:pt x="2127445" y="1351064"/>
                </a:lnTo>
                <a:lnTo>
                  <a:pt x="0" y="135106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1371600" y="1383505"/>
            <a:ext cx="3206754" cy="4641634"/>
          </a:xfrm>
          <a:custGeom>
            <a:avLst/>
            <a:gdLst>
              <a:gd name="connsiteX0" fmla="*/ 0 w 3206754"/>
              <a:gd name="connsiteY0" fmla="*/ 0 h 4641634"/>
              <a:gd name="connsiteX1" fmla="*/ 3206754 w 3206754"/>
              <a:gd name="connsiteY1" fmla="*/ 0 h 4641634"/>
              <a:gd name="connsiteX2" fmla="*/ 3206754 w 3206754"/>
              <a:gd name="connsiteY2" fmla="*/ 4641634 h 4641634"/>
              <a:gd name="connsiteX3" fmla="*/ 0 w 3206754"/>
              <a:gd name="connsiteY3" fmla="*/ 4641634 h 4641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6754" h="4641634">
                <a:moveTo>
                  <a:pt x="0" y="0"/>
                </a:moveTo>
                <a:lnTo>
                  <a:pt x="3206754" y="0"/>
                </a:lnTo>
                <a:lnTo>
                  <a:pt x="3206754" y="4641634"/>
                </a:lnTo>
                <a:lnTo>
                  <a:pt x="0" y="464163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24"/>
          <p:cNvSpPr>
            <a:spLocks noGrp="1"/>
          </p:cNvSpPr>
          <p:nvPr>
            <p:ph type="pic" sz="quarter" idx="12"/>
          </p:nvPr>
        </p:nvSpPr>
        <p:spPr>
          <a:xfrm>
            <a:off x="3291965" y="1736725"/>
            <a:ext cx="1372840" cy="1372112"/>
          </a:xfrm>
          <a:custGeom>
            <a:avLst/>
            <a:gdLst>
              <a:gd name="connsiteX0" fmla="*/ 679198 w 1372840"/>
              <a:gd name="connsiteY0" fmla="*/ 0 h 1372112"/>
              <a:gd name="connsiteX1" fmla="*/ 693642 w 1372840"/>
              <a:gd name="connsiteY1" fmla="*/ 0 h 1372112"/>
              <a:gd name="connsiteX2" fmla="*/ 824758 w 1372840"/>
              <a:gd name="connsiteY2" fmla="*/ 13218 h 1372112"/>
              <a:gd name="connsiteX3" fmla="*/ 1372840 w 1372840"/>
              <a:gd name="connsiteY3" fmla="*/ 685692 h 1372112"/>
              <a:gd name="connsiteX4" fmla="*/ 686420 w 1372840"/>
              <a:gd name="connsiteY4" fmla="*/ 1372112 h 1372112"/>
              <a:gd name="connsiteX5" fmla="*/ 0 w 1372840"/>
              <a:gd name="connsiteY5" fmla="*/ 685692 h 1372112"/>
              <a:gd name="connsiteX6" fmla="*/ 548083 w 1372840"/>
              <a:gd name="connsiteY6" fmla="*/ 13218 h 137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2840" h="1372112">
                <a:moveTo>
                  <a:pt x="679198" y="0"/>
                </a:moveTo>
                <a:lnTo>
                  <a:pt x="693642" y="0"/>
                </a:lnTo>
                <a:lnTo>
                  <a:pt x="824758" y="13218"/>
                </a:lnTo>
                <a:cubicBezTo>
                  <a:pt x="1137548" y="77224"/>
                  <a:pt x="1372840" y="353980"/>
                  <a:pt x="1372840" y="685692"/>
                </a:cubicBezTo>
                <a:cubicBezTo>
                  <a:pt x="1372840" y="1064791"/>
                  <a:pt x="1065519" y="1372112"/>
                  <a:pt x="686420" y="1372112"/>
                </a:cubicBezTo>
                <a:cubicBezTo>
                  <a:pt x="307321" y="1372112"/>
                  <a:pt x="0" y="1064791"/>
                  <a:pt x="0" y="685692"/>
                </a:cubicBezTo>
                <a:cubicBezTo>
                  <a:pt x="0" y="353980"/>
                  <a:pt x="235293" y="77224"/>
                  <a:pt x="548083" y="1321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3"/>
          </p:nvPr>
        </p:nvSpPr>
        <p:spPr>
          <a:xfrm>
            <a:off x="5185679" y="1512096"/>
            <a:ext cx="1820642" cy="1820642"/>
          </a:xfrm>
          <a:custGeom>
            <a:avLst/>
            <a:gdLst>
              <a:gd name="connsiteX0" fmla="*/ 910321 w 1820642"/>
              <a:gd name="connsiteY0" fmla="*/ 0 h 1820642"/>
              <a:gd name="connsiteX1" fmla="*/ 1820642 w 1820642"/>
              <a:gd name="connsiteY1" fmla="*/ 910321 h 1820642"/>
              <a:gd name="connsiteX2" fmla="*/ 910321 w 1820642"/>
              <a:gd name="connsiteY2" fmla="*/ 1820642 h 1820642"/>
              <a:gd name="connsiteX3" fmla="*/ 0 w 1820642"/>
              <a:gd name="connsiteY3" fmla="*/ 910321 h 1820642"/>
              <a:gd name="connsiteX4" fmla="*/ 910321 w 1820642"/>
              <a:gd name="connsiteY4" fmla="*/ 0 h 182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0642" h="1820642">
                <a:moveTo>
                  <a:pt x="910321" y="0"/>
                </a:moveTo>
                <a:cubicBezTo>
                  <a:pt x="1413077" y="0"/>
                  <a:pt x="1820642" y="407565"/>
                  <a:pt x="1820642" y="910321"/>
                </a:cubicBezTo>
                <a:cubicBezTo>
                  <a:pt x="1820642" y="1413077"/>
                  <a:pt x="1413077" y="1820642"/>
                  <a:pt x="910321" y="1820642"/>
                </a:cubicBezTo>
                <a:cubicBezTo>
                  <a:pt x="407565" y="1820642"/>
                  <a:pt x="0" y="1413077"/>
                  <a:pt x="0" y="910321"/>
                </a:cubicBezTo>
                <a:cubicBezTo>
                  <a:pt x="0" y="407565"/>
                  <a:pt x="407565" y="0"/>
                  <a:pt x="91032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7" name="图片占位符 26"/>
          <p:cNvSpPr>
            <a:spLocks noGrp="1"/>
          </p:cNvSpPr>
          <p:nvPr>
            <p:ph type="pic" sz="quarter" idx="14"/>
          </p:nvPr>
        </p:nvSpPr>
        <p:spPr>
          <a:xfrm>
            <a:off x="7527196" y="1735997"/>
            <a:ext cx="1372840" cy="1372840"/>
          </a:xfrm>
          <a:custGeom>
            <a:avLst/>
            <a:gdLst>
              <a:gd name="connsiteX0" fmla="*/ 686420 w 1372840"/>
              <a:gd name="connsiteY0" fmla="*/ 0 h 1372840"/>
              <a:gd name="connsiteX1" fmla="*/ 1372840 w 1372840"/>
              <a:gd name="connsiteY1" fmla="*/ 686420 h 1372840"/>
              <a:gd name="connsiteX2" fmla="*/ 686420 w 1372840"/>
              <a:gd name="connsiteY2" fmla="*/ 1372840 h 1372840"/>
              <a:gd name="connsiteX3" fmla="*/ 0 w 1372840"/>
              <a:gd name="connsiteY3" fmla="*/ 686420 h 1372840"/>
              <a:gd name="connsiteX4" fmla="*/ 686420 w 1372840"/>
              <a:gd name="connsiteY4" fmla="*/ 0 h 137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2840" h="1372840">
                <a:moveTo>
                  <a:pt x="686420" y="0"/>
                </a:moveTo>
                <a:cubicBezTo>
                  <a:pt x="1065519" y="0"/>
                  <a:pt x="1372840" y="307321"/>
                  <a:pt x="1372840" y="686420"/>
                </a:cubicBezTo>
                <a:cubicBezTo>
                  <a:pt x="1372840" y="1065519"/>
                  <a:pt x="1065519" y="1372840"/>
                  <a:pt x="686420" y="1372840"/>
                </a:cubicBezTo>
                <a:cubicBezTo>
                  <a:pt x="307321" y="1372840"/>
                  <a:pt x="0" y="1065519"/>
                  <a:pt x="0" y="686420"/>
                </a:cubicBezTo>
                <a:cubicBezTo>
                  <a:pt x="0" y="307321"/>
                  <a:pt x="307321" y="0"/>
                  <a:pt x="6864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5"/>
          </p:nvPr>
        </p:nvSpPr>
        <p:spPr>
          <a:xfrm>
            <a:off x="9630771" y="1835326"/>
            <a:ext cx="1174184" cy="1174182"/>
          </a:xfrm>
          <a:custGeom>
            <a:avLst/>
            <a:gdLst>
              <a:gd name="connsiteX0" fmla="*/ 587092 w 1174184"/>
              <a:gd name="connsiteY0" fmla="*/ 0 h 1174182"/>
              <a:gd name="connsiteX1" fmla="*/ 1174184 w 1174184"/>
              <a:gd name="connsiteY1" fmla="*/ 587091 h 1174182"/>
              <a:gd name="connsiteX2" fmla="*/ 587092 w 1174184"/>
              <a:gd name="connsiteY2" fmla="*/ 1174182 h 1174182"/>
              <a:gd name="connsiteX3" fmla="*/ 0 w 1174184"/>
              <a:gd name="connsiteY3" fmla="*/ 587091 h 1174182"/>
              <a:gd name="connsiteX4" fmla="*/ 587092 w 1174184"/>
              <a:gd name="connsiteY4" fmla="*/ 0 h 1174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184" h="1174182">
                <a:moveTo>
                  <a:pt x="587092" y="0"/>
                </a:moveTo>
                <a:cubicBezTo>
                  <a:pt x="911334" y="0"/>
                  <a:pt x="1174184" y="262850"/>
                  <a:pt x="1174184" y="587091"/>
                </a:cubicBezTo>
                <a:cubicBezTo>
                  <a:pt x="1174184" y="911332"/>
                  <a:pt x="911334" y="1174182"/>
                  <a:pt x="587092" y="1174182"/>
                </a:cubicBezTo>
                <a:cubicBezTo>
                  <a:pt x="262850" y="1174182"/>
                  <a:pt x="0" y="911332"/>
                  <a:pt x="0" y="587091"/>
                </a:cubicBezTo>
                <a:cubicBezTo>
                  <a:pt x="0" y="262850"/>
                  <a:pt x="262850" y="0"/>
                  <a:pt x="5870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图片占位符 23"/>
          <p:cNvSpPr>
            <a:spLocks noGrp="1"/>
          </p:cNvSpPr>
          <p:nvPr>
            <p:ph type="pic" sz="quarter" idx="11"/>
          </p:nvPr>
        </p:nvSpPr>
        <p:spPr>
          <a:xfrm>
            <a:off x="1387047" y="1835326"/>
            <a:ext cx="1174184" cy="1174182"/>
          </a:xfrm>
          <a:custGeom>
            <a:avLst/>
            <a:gdLst>
              <a:gd name="connsiteX0" fmla="*/ 587092 w 1174184"/>
              <a:gd name="connsiteY0" fmla="*/ 0 h 1174182"/>
              <a:gd name="connsiteX1" fmla="*/ 1174184 w 1174184"/>
              <a:gd name="connsiteY1" fmla="*/ 587091 h 1174182"/>
              <a:gd name="connsiteX2" fmla="*/ 587092 w 1174184"/>
              <a:gd name="connsiteY2" fmla="*/ 1174182 h 1174182"/>
              <a:gd name="connsiteX3" fmla="*/ 0 w 1174184"/>
              <a:gd name="connsiteY3" fmla="*/ 587091 h 1174182"/>
              <a:gd name="connsiteX4" fmla="*/ 587092 w 1174184"/>
              <a:gd name="connsiteY4" fmla="*/ 0 h 1174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184" h="1174182">
                <a:moveTo>
                  <a:pt x="587092" y="0"/>
                </a:moveTo>
                <a:cubicBezTo>
                  <a:pt x="911334" y="0"/>
                  <a:pt x="1174184" y="262850"/>
                  <a:pt x="1174184" y="587091"/>
                </a:cubicBezTo>
                <a:cubicBezTo>
                  <a:pt x="1174184" y="911332"/>
                  <a:pt x="911334" y="1174182"/>
                  <a:pt x="587092" y="1174182"/>
                </a:cubicBezTo>
                <a:cubicBezTo>
                  <a:pt x="262850" y="1174182"/>
                  <a:pt x="0" y="911332"/>
                  <a:pt x="0" y="587091"/>
                </a:cubicBezTo>
                <a:cubicBezTo>
                  <a:pt x="0" y="262850"/>
                  <a:pt x="262850" y="0"/>
                  <a:pt x="5870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F9E12-90AA-4790-BC12-98F68239B599}" type="datetime1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bin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notesSlide" Target="../notesSlides/notesSlide4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5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notesSlide" Target="../notesSlides/notesSlide7.xml"/><Relationship Id="rId5" Type="http://schemas.openxmlformats.org/officeDocument/2006/relationships/tags" Target="../tags/tag23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65314" y="-25400"/>
            <a:ext cx="12257314" cy="6908800"/>
          </a:xfrm>
          <a:prstGeom prst="rect">
            <a:avLst/>
          </a:prstGeom>
          <a:solidFill>
            <a:srgbClr val="FA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ZJU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" y="90805"/>
            <a:ext cx="1976120" cy="52578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5"/>
          <a:stretch>
            <a:fillRect/>
          </a:stretch>
        </p:blipFill>
        <p:spPr>
          <a:xfrm>
            <a:off x="3325495" y="90805"/>
            <a:ext cx="1445260" cy="670560"/>
          </a:xfrm>
          <a:prstGeom prst="rect">
            <a:avLst/>
          </a:prstGeom>
        </p:spPr>
      </p:pic>
      <p:sp>
        <p:nvSpPr>
          <p:cNvPr id="9" name="文本占位符 4"/>
          <p:cNvSpPr>
            <a:spLocks noGrp="1"/>
          </p:cNvSpPr>
          <p:nvPr/>
        </p:nvSpPr>
        <p:spPr>
          <a:xfrm>
            <a:off x="376555" y="1300480"/>
            <a:ext cx="6273165" cy="2735580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200" dirty="0"/>
              <a:t> </a:t>
            </a:r>
            <a:endParaRPr lang="zh-CN" altLang="en-US" dirty="0"/>
          </a:p>
        </p:txBody>
      </p:sp>
      <p:sp>
        <p:nvSpPr>
          <p:cNvPr id="2" name="文本框 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436880" y="1452880"/>
            <a:ext cx="6272530" cy="24561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64565" fontAlgn="base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tabLst>
                <a:tab pos="4029710" algn="l"/>
              </a:tabLst>
            </a:pPr>
            <a:r>
              <a:rPr lang="en-US" altLang="zh-CN" sz="4265" b="1">
                <a:solidFill>
                  <a:srgbClr val="C00000"/>
                </a:solidFill>
                <a:sym typeface="Calibri" panose="020F0502020204030204" pitchFamily="34" charset="0"/>
              </a:rPr>
              <a:t>Stablepay Agentic Payment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7027667" y="537616"/>
            <a:ext cx="6961907" cy="7021575"/>
            <a:chOff x="4038600" y="2259880"/>
            <a:chExt cx="2647060" cy="2669747"/>
          </a:xfrm>
          <a:solidFill>
            <a:srgbClr val="A6A6A6">
              <a:alpha val="20000"/>
            </a:srgbClr>
          </a:solidFill>
        </p:grpSpPr>
        <p:sp>
          <p:nvSpPr>
            <p:cNvPr id="11" name="Freeform 105"/>
            <p:cNvSpPr>
              <a:spLocks noEditPoints="1"/>
            </p:cNvSpPr>
            <p:nvPr userDrawn="1"/>
          </p:nvSpPr>
          <p:spPr bwMode="auto">
            <a:xfrm>
              <a:off x="4038600" y="2259880"/>
              <a:ext cx="2647060" cy="2669747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" name="Freeform 106"/>
            <p:cNvSpPr/>
            <p:nvPr userDrawn="1"/>
          </p:nvSpPr>
          <p:spPr bwMode="auto">
            <a:xfrm>
              <a:off x="4636079" y="2857359"/>
              <a:ext cx="1459664" cy="130840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107"/>
            <p:cNvSpPr/>
            <p:nvPr userDrawn="1"/>
          </p:nvSpPr>
          <p:spPr bwMode="auto">
            <a:xfrm>
              <a:off x="4174734" y="3825426"/>
              <a:ext cx="302521" cy="219328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108"/>
            <p:cNvSpPr/>
            <p:nvPr userDrawn="1"/>
          </p:nvSpPr>
          <p:spPr bwMode="auto">
            <a:xfrm>
              <a:off x="4265491" y="3984249"/>
              <a:ext cx="287395" cy="234454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109"/>
            <p:cNvSpPr/>
            <p:nvPr userDrawn="1"/>
          </p:nvSpPr>
          <p:spPr bwMode="auto">
            <a:xfrm>
              <a:off x="4348684" y="4120384"/>
              <a:ext cx="287395" cy="249580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110"/>
            <p:cNvSpPr/>
            <p:nvPr userDrawn="1"/>
          </p:nvSpPr>
          <p:spPr bwMode="auto">
            <a:xfrm>
              <a:off x="4583138" y="4332148"/>
              <a:ext cx="181513" cy="219328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111"/>
            <p:cNvSpPr>
              <a:spLocks noEditPoints="1"/>
            </p:cNvSpPr>
            <p:nvPr userDrawn="1"/>
          </p:nvSpPr>
          <p:spPr bwMode="auto">
            <a:xfrm>
              <a:off x="4643642" y="4392652"/>
              <a:ext cx="219328" cy="264706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112"/>
            <p:cNvSpPr/>
            <p:nvPr/>
          </p:nvSpPr>
          <p:spPr bwMode="auto">
            <a:xfrm>
              <a:off x="4794903" y="4438031"/>
              <a:ext cx="242017" cy="294958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114"/>
            <p:cNvSpPr/>
            <p:nvPr userDrawn="1"/>
          </p:nvSpPr>
          <p:spPr bwMode="auto">
            <a:xfrm>
              <a:off x="5301626" y="4543913"/>
              <a:ext cx="143698" cy="249580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115"/>
            <p:cNvSpPr/>
            <p:nvPr userDrawn="1"/>
          </p:nvSpPr>
          <p:spPr bwMode="auto">
            <a:xfrm>
              <a:off x="5460449" y="4521224"/>
              <a:ext cx="158824" cy="272269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116"/>
            <p:cNvSpPr/>
            <p:nvPr userDrawn="1"/>
          </p:nvSpPr>
          <p:spPr bwMode="auto">
            <a:xfrm>
              <a:off x="5611710" y="4506098"/>
              <a:ext cx="105882" cy="249580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117"/>
            <p:cNvSpPr/>
            <p:nvPr userDrawn="1"/>
          </p:nvSpPr>
          <p:spPr bwMode="auto">
            <a:xfrm>
              <a:off x="5664651" y="4438031"/>
              <a:ext cx="173950" cy="279832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118"/>
            <p:cNvSpPr/>
            <p:nvPr userDrawn="1"/>
          </p:nvSpPr>
          <p:spPr bwMode="auto">
            <a:xfrm>
              <a:off x="5808348" y="4369963"/>
              <a:ext cx="249580" cy="287395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119"/>
            <p:cNvSpPr>
              <a:spLocks noEditPoints="1"/>
            </p:cNvSpPr>
            <p:nvPr userDrawn="1"/>
          </p:nvSpPr>
          <p:spPr bwMode="auto">
            <a:xfrm>
              <a:off x="5936920" y="4309459"/>
              <a:ext cx="257143" cy="257143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120"/>
            <p:cNvSpPr/>
            <p:nvPr userDrawn="1"/>
          </p:nvSpPr>
          <p:spPr bwMode="auto">
            <a:xfrm>
              <a:off x="6073054" y="4196014"/>
              <a:ext cx="257143" cy="219328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121"/>
            <p:cNvSpPr/>
            <p:nvPr userDrawn="1"/>
          </p:nvSpPr>
          <p:spPr bwMode="auto">
            <a:xfrm>
              <a:off x="6156248" y="4120384"/>
              <a:ext cx="234454" cy="158823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122"/>
            <p:cNvSpPr/>
            <p:nvPr userDrawn="1"/>
          </p:nvSpPr>
          <p:spPr bwMode="auto">
            <a:xfrm>
              <a:off x="6194063" y="3953997"/>
              <a:ext cx="272269" cy="211765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123"/>
            <p:cNvSpPr/>
            <p:nvPr userDrawn="1"/>
          </p:nvSpPr>
          <p:spPr bwMode="auto">
            <a:xfrm>
              <a:off x="6254567" y="3810300"/>
              <a:ext cx="272269" cy="173950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124"/>
            <p:cNvSpPr/>
            <p:nvPr userDrawn="1"/>
          </p:nvSpPr>
          <p:spPr bwMode="auto">
            <a:xfrm>
              <a:off x="4462130" y="4286770"/>
              <a:ext cx="257143" cy="189076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25"/>
            <p:cNvSpPr>
              <a:spLocks noEditPoints="1"/>
            </p:cNvSpPr>
            <p:nvPr userDrawn="1"/>
          </p:nvSpPr>
          <p:spPr bwMode="auto">
            <a:xfrm>
              <a:off x="4938600" y="4203577"/>
              <a:ext cx="801681" cy="249580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26"/>
            <p:cNvSpPr/>
            <p:nvPr userDrawn="1"/>
          </p:nvSpPr>
          <p:spPr bwMode="auto">
            <a:xfrm>
              <a:off x="5778096" y="2774166"/>
              <a:ext cx="105882" cy="105882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27"/>
            <p:cNvSpPr/>
            <p:nvPr userDrawn="1"/>
          </p:nvSpPr>
          <p:spPr bwMode="auto">
            <a:xfrm>
              <a:off x="5505827" y="2456519"/>
              <a:ext cx="385714" cy="340336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28"/>
            <p:cNvSpPr/>
            <p:nvPr userDrawn="1"/>
          </p:nvSpPr>
          <p:spPr bwMode="auto">
            <a:xfrm>
              <a:off x="4862970" y="2668283"/>
              <a:ext cx="151261" cy="310084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29"/>
            <p:cNvSpPr/>
            <p:nvPr userDrawn="1"/>
          </p:nvSpPr>
          <p:spPr bwMode="auto">
            <a:xfrm>
              <a:off x="5067172" y="2592653"/>
              <a:ext cx="121008" cy="121008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30"/>
            <p:cNvSpPr/>
            <p:nvPr userDrawn="1"/>
          </p:nvSpPr>
          <p:spPr bwMode="auto">
            <a:xfrm>
              <a:off x="4855407" y="2638031"/>
              <a:ext cx="90756" cy="105882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31"/>
            <p:cNvSpPr/>
            <p:nvPr userDrawn="1"/>
          </p:nvSpPr>
          <p:spPr bwMode="auto">
            <a:xfrm>
              <a:off x="5029357" y="2471645"/>
              <a:ext cx="143698" cy="158823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32"/>
            <p:cNvSpPr/>
            <p:nvPr userDrawn="1"/>
          </p:nvSpPr>
          <p:spPr bwMode="auto">
            <a:xfrm>
              <a:off x="4855407" y="2509460"/>
              <a:ext cx="90756" cy="98319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33"/>
            <p:cNvSpPr/>
            <p:nvPr userDrawn="1"/>
          </p:nvSpPr>
          <p:spPr bwMode="auto">
            <a:xfrm>
              <a:off x="4356247" y="2880048"/>
              <a:ext cx="355462" cy="627731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34"/>
            <p:cNvSpPr/>
            <p:nvPr userDrawn="1"/>
          </p:nvSpPr>
          <p:spPr bwMode="auto">
            <a:xfrm>
              <a:off x="4303306" y="3235510"/>
              <a:ext cx="98319" cy="83193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35"/>
            <p:cNvSpPr/>
            <p:nvPr userDrawn="1"/>
          </p:nvSpPr>
          <p:spPr bwMode="auto">
            <a:xfrm>
              <a:off x="4212550" y="3137191"/>
              <a:ext cx="105882" cy="98319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3" name="Freeform 136"/>
            <p:cNvSpPr/>
            <p:nvPr userDrawn="1"/>
          </p:nvSpPr>
          <p:spPr bwMode="auto">
            <a:xfrm>
              <a:off x="4749525" y="3212821"/>
              <a:ext cx="1232773" cy="1066386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4" name="Freeform 137"/>
            <p:cNvSpPr>
              <a:spLocks noEditPoints="1"/>
            </p:cNvSpPr>
            <p:nvPr userDrawn="1"/>
          </p:nvSpPr>
          <p:spPr bwMode="auto">
            <a:xfrm>
              <a:off x="6004987" y="2993493"/>
              <a:ext cx="484034" cy="325210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5" name="Freeform 138"/>
            <p:cNvSpPr/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6" name="Freeform 139"/>
            <p:cNvSpPr/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7" name="Freeform 140"/>
            <p:cNvSpPr/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8" name="Freeform 141"/>
            <p:cNvSpPr/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15315" y="4775200"/>
            <a:ext cx="3010535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汇报人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包博文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贾越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杨世博</a:t>
            </a:r>
            <a:endParaRPr lang="en-US" altLang="zh-CN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指导老师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谭俊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ChangeArrowheads="1"/>
          </p:cNvSpPr>
          <p:nvPr/>
        </p:nvSpPr>
        <p:spPr bwMode="auto">
          <a:xfrm>
            <a:off x="0" y="0"/>
            <a:ext cx="4008438" cy="6858000"/>
          </a:xfrm>
          <a:prstGeom prst="rect">
            <a:avLst/>
          </a:prstGeom>
          <a:solidFill>
            <a:srgbClr val="A123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9" name="TextBox 15"/>
          <p:cNvSpPr>
            <a:spLocks noChangeArrowheads="1"/>
          </p:cNvSpPr>
          <p:nvPr/>
        </p:nvSpPr>
        <p:spPr bwMode="auto">
          <a:xfrm>
            <a:off x="817245" y="2586038"/>
            <a:ext cx="23749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zh-CN" sz="3200">
                <a:solidFill>
                  <a:schemeClr val="bg1"/>
                </a:solidFill>
                <a:latin typeface="Times New Roman" panose="02020603050405020304" pitchFamily="18" charset="0"/>
                <a:ea typeface="Adobe 宋体 Std L" pitchFamily="2" charset="-122"/>
                <a:cs typeface="Times New Roman" panose="02020603050405020304" pitchFamily="18" charset="0"/>
                <a:sym typeface="微软简中圆" charset="0"/>
              </a:rPr>
              <a:t>Contents Page</a:t>
            </a:r>
          </a:p>
        </p:txBody>
      </p:sp>
      <p:sp>
        <p:nvSpPr>
          <p:cNvPr id="4100" name="文本框 52"/>
          <p:cNvSpPr>
            <a:spLocks noChangeArrowheads="1"/>
          </p:cNvSpPr>
          <p:nvPr/>
        </p:nvSpPr>
        <p:spPr bwMode="auto">
          <a:xfrm>
            <a:off x="817245" y="1700213"/>
            <a:ext cx="23749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zh-CN" sz="5000" b="1">
                <a:solidFill>
                  <a:schemeClr val="bg1"/>
                </a:solidFill>
                <a:ea typeface="微软雅黑" panose="020B0503020204020204" pitchFamily="34" charset="-122"/>
              </a:rPr>
              <a:t>目录页</a:t>
            </a:r>
          </a:p>
        </p:txBody>
      </p:sp>
      <p:sp>
        <p:nvSpPr>
          <p:cNvPr id="10" name="TextBox 6"/>
          <p:cNvSpPr>
            <a:spLocks noChangeArrowheads="1"/>
          </p:cNvSpPr>
          <p:nvPr/>
        </p:nvSpPr>
        <p:spPr bwMode="auto">
          <a:xfrm>
            <a:off x="5750116" y="1237900"/>
            <a:ext cx="5134865" cy="387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项目背景</a:t>
            </a: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技术方案</a:t>
            </a: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最终成果</a:t>
            </a: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总结与展望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01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</a:t>
            </a: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7" name="矩形 1046"/>
          <p:cNvSpPr/>
          <p:nvPr/>
        </p:nvSpPr>
        <p:spPr>
          <a:xfrm>
            <a:off x="531495" y="4471670"/>
            <a:ext cx="10389870" cy="49149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285750" marR="0" lvl="0" indent="-28575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AI Agent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从对话工具升级为自主消费主体时，如何重构适配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生态的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支付底层逻辑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048" name="矩形: 圆角 1047"/>
          <p:cNvSpPr/>
          <p:nvPr/>
        </p:nvSpPr>
        <p:spPr>
          <a:xfrm>
            <a:off x="1407160" y="5732780"/>
            <a:ext cx="1429385" cy="3454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购买数字资源</a:t>
            </a:r>
          </a:p>
        </p:txBody>
      </p:sp>
      <p:sp>
        <p:nvSpPr>
          <p:cNvPr id="1049" name="矩形: 圆角 1048"/>
          <p:cNvSpPr/>
          <p:nvPr/>
        </p:nvSpPr>
        <p:spPr>
          <a:xfrm>
            <a:off x="3252373" y="5215530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账户体系复杂</a:t>
            </a:r>
          </a:p>
        </p:txBody>
      </p:sp>
      <p:sp>
        <p:nvSpPr>
          <p:cNvPr id="1050" name="矩形: 圆角 1049"/>
          <p:cNvSpPr/>
          <p:nvPr/>
        </p:nvSpPr>
        <p:spPr>
          <a:xfrm>
            <a:off x="3257958" y="5733930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结算滞后</a:t>
            </a:r>
          </a:p>
        </p:txBody>
      </p:sp>
      <p:cxnSp>
        <p:nvCxnSpPr>
          <p:cNvPr id="1051" name="连接符: 肘形 1050"/>
          <p:cNvCxnSpPr>
            <a:stCxn id="1048" idx="3"/>
            <a:endCxn id="1049" idx="1"/>
          </p:cNvCxnSpPr>
          <p:nvPr/>
        </p:nvCxnSpPr>
        <p:spPr>
          <a:xfrm flipV="1">
            <a:off x="2836545" y="5387975"/>
            <a:ext cx="415925" cy="517525"/>
          </a:xfrm>
          <a:prstGeom prst="bentConnector3">
            <a:avLst>
              <a:gd name="adj1" fmla="val 50076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52" name="连接符: 肘形 1051"/>
          <p:cNvCxnSpPr>
            <a:stCxn id="1048" idx="3"/>
            <a:endCxn id="1050" idx="1"/>
          </p:cNvCxnSpPr>
          <p:nvPr/>
        </p:nvCxnSpPr>
        <p:spPr>
          <a:xfrm>
            <a:off x="2836545" y="5905500"/>
            <a:ext cx="421640" cy="127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54" name="矩形: 圆角 1053"/>
          <p:cNvSpPr/>
          <p:nvPr/>
        </p:nvSpPr>
        <p:spPr>
          <a:xfrm>
            <a:off x="3258468" y="6268092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出金困难</a:t>
            </a:r>
          </a:p>
        </p:txBody>
      </p:sp>
      <p:cxnSp>
        <p:nvCxnSpPr>
          <p:cNvPr id="1055" name="连接符: 肘形 1054"/>
          <p:cNvCxnSpPr>
            <a:stCxn id="1048" idx="3"/>
            <a:endCxn id="1054" idx="1"/>
          </p:cNvCxnSpPr>
          <p:nvPr/>
        </p:nvCxnSpPr>
        <p:spPr>
          <a:xfrm>
            <a:off x="2836545" y="5905500"/>
            <a:ext cx="421640" cy="53530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61" name="椭圆 1060"/>
          <p:cNvSpPr/>
          <p:nvPr/>
        </p:nvSpPr>
        <p:spPr>
          <a:xfrm>
            <a:off x="6673850" y="5078856"/>
            <a:ext cx="633600" cy="633600"/>
          </a:xfrm>
          <a:prstGeom prst="ellipse">
            <a:avLst/>
          </a:prstGeom>
          <a:solidFill>
            <a:srgbClr val="4CBFA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</a:p>
        </p:txBody>
      </p:sp>
      <p:sp>
        <p:nvSpPr>
          <p:cNvPr id="1062" name="椭圆 1061"/>
          <p:cNvSpPr/>
          <p:nvPr/>
        </p:nvSpPr>
        <p:spPr>
          <a:xfrm>
            <a:off x="6673850" y="6046477"/>
            <a:ext cx="633600" cy="633600"/>
          </a:xfrm>
          <a:prstGeom prst="ellipse">
            <a:avLst/>
          </a:prstGeom>
          <a:solidFill>
            <a:srgbClr val="4CBFA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USDC</a:t>
            </a:r>
          </a:p>
        </p:txBody>
      </p:sp>
      <p:sp>
        <p:nvSpPr>
          <p:cNvPr id="1063" name="椭圆 1062"/>
          <p:cNvSpPr/>
          <p:nvPr/>
        </p:nvSpPr>
        <p:spPr>
          <a:xfrm>
            <a:off x="6674270" y="5590786"/>
            <a:ext cx="633600" cy="633600"/>
          </a:xfrm>
          <a:prstGeom prst="ellipse">
            <a:avLst/>
          </a:prstGeom>
          <a:solidFill>
            <a:srgbClr val="174A73">
              <a:lumMod val="60000"/>
              <a:lumOff val="40000"/>
            </a:srgb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x402</a:t>
            </a:r>
          </a:p>
        </p:txBody>
      </p:sp>
      <p:sp>
        <p:nvSpPr>
          <p:cNvPr id="1064" name="椭圆 1063"/>
          <p:cNvSpPr/>
          <p:nvPr/>
        </p:nvSpPr>
        <p:spPr>
          <a:xfrm>
            <a:off x="8660130" y="5386705"/>
            <a:ext cx="1026795" cy="1009650"/>
          </a:xfrm>
          <a:prstGeom prst="ellipse">
            <a:avLst/>
          </a:prstGeom>
          <a:solidFill>
            <a:srgbClr val="174A73">
              <a:lumMod val="60000"/>
              <a:lumOff val="40000"/>
            </a:srgb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Agentic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Payment</a:t>
            </a:r>
          </a:p>
        </p:txBody>
      </p:sp>
      <p:cxnSp>
        <p:nvCxnSpPr>
          <p:cNvPr id="1066" name="直接箭头连接符 1065"/>
          <p:cNvCxnSpPr>
            <a:stCxn id="1061" idx="6"/>
            <a:endCxn id="1064" idx="1"/>
          </p:cNvCxnSpPr>
          <p:nvPr/>
        </p:nvCxnSpPr>
        <p:spPr>
          <a:xfrm>
            <a:off x="7307450" y="5395656"/>
            <a:ext cx="1503045" cy="13906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67" name="直接箭头连接符 1066"/>
          <p:cNvCxnSpPr>
            <a:stCxn id="1062" idx="6"/>
            <a:endCxn id="1064" idx="3"/>
          </p:cNvCxnSpPr>
          <p:nvPr/>
        </p:nvCxnSpPr>
        <p:spPr>
          <a:xfrm flipV="1">
            <a:off x="7307450" y="6248342"/>
            <a:ext cx="1503045" cy="11493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68" name="直接箭头连接符 1067"/>
          <p:cNvCxnSpPr>
            <a:stCxn id="1063" idx="6"/>
            <a:endCxn id="1064" idx="2"/>
          </p:cNvCxnSpPr>
          <p:nvPr/>
        </p:nvCxnSpPr>
        <p:spPr>
          <a:xfrm flipV="1">
            <a:off x="7308505" y="5891711"/>
            <a:ext cx="1351915" cy="1587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70" name="箭头: 右 1069"/>
          <p:cNvSpPr/>
          <p:nvPr/>
        </p:nvSpPr>
        <p:spPr>
          <a:xfrm>
            <a:off x="4996815" y="5762625"/>
            <a:ext cx="1275715" cy="276860"/>
          </a:xfrm>
          <a:prstGeom prst="rightArrow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思源黑体 CN ExtraLight"/>
              <a:cs typeface="+mn-cs"/>
            </a:endParaRPr>
          </a:p>
        </p:txBody>
      </p:sp>
      <p:sp>
        <p:nvSpPr>
          <p:cNvPr id="1071" name="文本框 1070"/>
          <p:cNvSpPr txBox="1"/>
          <p:nvPr/>
        </p:nvSpPr>
        <p:spPr>
          <a:xfrm>
            <a:off x="4948592" y="5403972"/>
            <a:ext cx="12331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74A73"/>
                </a:solidFill>
                <a:ea typeface="思源黑体 CN ExtraLight"/>
              </a:rPr>
              <a:t>Stablepay</a:t>
            </a:r>
            <a:endParaRPr lang="zh-CN" altLang="en-US" b="1" dirty="0">
              <a:solidFill>
                <a:srgbClr val="174A73"/>
              </a:solidFill>
              <a:ea typeface="思源黑体 CN ExtraLight"/>
            </a:endParaRPr>
          </a:p>
        </p:txBody>
      </p:sp>
      <p:grpSp>
        <p:nvGrpSpPr>
          <p:cNvPr id="1081" name="组合 1080"/>
          <p:cNvGrpSpPr/>
          <p:nvPr/>
        </p:nvGrpSpPr>
        <p:grpSpPr>
          <a:xfrm>
            <a:off x="1007745" y="1560195"/>
            <a:ext cx="9374505" cy="1005205"/>
            <a:chOff x="675130" y="1499483"/>
            <a:chExt cx="8453109" cy="760446"/>
          </a:xfrm>
        </p:grpSpPr>
        <p:sp>
          <p:nvSpPr>
            <p:cNvPr id="1073" name="矩形: 圆角 1072"/>
            <p:cNvSpPr/>
            <p:nvPr/>
          </p:nvSpPr>
          <p:spPr>
            <a:xfrm>
              <a:off x="675130" y="1499483"/>
              <a:ext cx="8453109" cy="760446"/>
            </a:xfrm>
            <a:prstGeom prst="roundRect">
              <a:avLst/>
            </a:prstGeom>
            <a:solidFill>
              <a:srgbClr val="CEE6C0"/>
            </a:solidFill>
            <a:ln>
              <a:solidFill>
                <a:srgbClr val="E2F0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4" name="文本框 1073"/>
            <p:cNvSpPr txBox="1"/>
            <p:nvPr/>
          </p:nvSpPr>
          <p:spPr>
            <a:xfrm>
              <a:off x="783349" y="1499963"/>
              <a:ext cx="8299083" cy="7196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传统金融支付体系完全围绕人类身份设计，依赖银行开户、人工</a:t>
              </a:r>
              <a:r>
                <a:rPr lang="en-US" altLang="zh-CN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KYC、</a:t>
              </a:r>
              <a:r>
                <a:rPr lang="zh-CN" altLang="en-US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绑卡验证等流程，存在账户体系复杂、资金托管风险高、跨境支付费率高、结算滞后、出金困难等诸多痛点。</a:t>
              </a:r>
            </a:p>
          </p:txBody>
        </p:sp>
      </p:grpSp>
      <p:sp>
        <p:nvSpPr>
          <p:cNvPr id="1077" name="文本框 1076"/>
          <p:cNvSpPr txBox="1"/>
          <p:nvPr/>
        </p:nvSpPr>
        <p:spPr>
          <a:xfrm>
            <a:off x="1079500" y="2922270"/>
            <a:ext cx="9302115" cy="922020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Agent 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新型智能执行主体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，无身份证、无银行账户，可自主替人类完成采购、工具调用、付费订阅等操作，行业亟需一套适配</a:t>
            </a:r>
            <a:r>
              <a:rPr lang="en-US" altLang="zh-CN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去中心化、无人化支付体系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80" name="powerpoint template design by DAJU_PPT正版来源小红书大橘PPT微信DAJU_PPT请勿抄袭搬运！盗版必究！-5"/>
          <p:cNvSpPr/>
          <p:nvPr/>
        </p:nvSpPr>
        <p:spPr>
          <a:xfrm>
            <a:off x="621519" y="1541301"/>
            <a:ext cx="309177" cy="2159605"/>
          </a:xfrm>
          <a:prstGeom prst="leftBrace">
            <a:avLst>
              <a:gd name="adj1" fmla="val 174625"/>
              <a:gd name="adj2" fmla="val 50000"/>
            </a:avLst>
          </a:prstGeom>
          <a:noFill/>
          <a:ln w="28575" cap="flat" cmpd="sng" algn="ctr">
            <a:solidFill>
              <a:srgbClr val="CFAF6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83" name="箭头: 下 1082"/>
          <p:cNvSpPr/>
          <p:nvPr/>
        </p:nvSpPr>
        <p:spPr>
          <a:xfrm>
            <a:off x="5418214" y="3915191"/>
            <a:ext cx="432000" cy="519254"/>
          </a:xfrm>
          <a:prstGeom prst="downArrow">
            <a:avLst/>
          </a:prstGeom>
          <a:solidFill>
            <a:srgbClr val="A023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948592" y="5993887"/>
            <a:ext cx="12522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74A73"/>
                </a:solidFill>
                <a:ea typeface="思源黑体 CN ExtraLight"/>
              </a:rPr>
              <a:t>Facilitator</a:t>
            </a:r>
            <a:endParaRPr lang="zh-CN" altLang="en-US" b="1" dirty="0">
              <a:solidFill>
                <a:srgbClr val="174A73"/>
              </a:solidFill>
              <a:ea typeface="思源黑体 CN Extra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02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技术概念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"/>
          <p:cNvSpPr/>
          <p:nvPr>
            <p:custDataLst>
              <p:tags r:id="rId1"/>
            </p:custDataLst>
          </p:nvPr>
        </p:nvSpPr>
        <p:spPr>
          <a:xfrm>
            <a:off x="5481003" y="3490913"/>
            <a:ext cx="1326694" cy="1327350"/>
          </a:xfrm>
          <a:prstGeom prst="ellipse">
            <a:avLst/>
          </a:prstGeom>
          <a:noFill/>
          <a:ln w="6350">
            <a:gradFill flip="none" rotWithShape="1">
              <a:gsLst>
                <a:gs pos="5000">
                  <a:schemeClr val="accent2">
                    <a:alpha val="100000"/>
                  </a:schemeClr>
                </a:gs>
                <a:gs pos="88000">
                  <a:schemeClr val="accent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6" name="椭圆 25"/>
          <p:cNvSpPr/>
          <p:nvPr>
            <p:custDataLst>
              <p:tags r:id="rId2"/>
            </p:custDataLst>
          </p:nvPr>
        </p:nvSpPr>
        <p:spPr>
          <a:xfrm>
            <a:off x="5603558" y="3614103"/>
            <a:ext cx="1080889" cy="1080889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</a:p>
        </p:txBody>
      </p:sp>
      <p:sp>
        <p:nvSpPr>
          <p:cNvPr id="27" name="弧形 85"/>
          <p:cNvSpPr/>
          <p:nvPr>
            <p:custDataLst>
              <p:tags r:id="rId3"/>
            </p:custDataLst>
          </p:nvPr>
        </p:nvSpPr>
        <p:spPr>
          <a:xfrm rot="16200000">
            <a:off x="5382578" y="3439478"/>
            <a:ext cx="1425672" cy="1425016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" name="椭圆"/>
          <p:cNvSpPr/>
          <p:nvPr>
            <p:custDataLst>
              <p:tags r:id="rId4"/>
            </p:custDataLst>
          </p:nvPr>
        </p:nvSpPr>
        <p:spPr>
          <a:xfrm>
            <a:off x="2252028" y="3492183"/>
            <a:ext cx="1326694" cy="1327350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3" name="椭圆 2"/>
          <p:cNvSpPr/>
          <p:nvPr>
            <p:custDataLst>
              <p:tags r:id="rId5"/>
            </p:custDataLst>
          </p:nvPr>
        </p:nvSpPr>
        <p:spPr>
          <a:xfrm>
            <a:off x="2373948" y="3615373"/>
            <a:ext cx="1080889" cy="1080889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</a:p>
        </p:txBody>
      </p:sp>
      <p:sp>
        <p:nvSpPr>
          <p:cNvPr id="8" name="弧形 85"/>
          <p:cNvSpPr/>
          <p:nvPr>
            <p:custDataLst>
              <p:tags r:id="rId6"/>
            </p:custDataLst>
          </p:nvPr>
        </p:nvSpPr>
        <p:spPr>
          <a:xfrm rot="16200000">
            <a:off x="2153603" y="3440113"/>
            <a:ext cx="1425672" cy="1425016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7"/>
            </p:custDataLst>
          </p:nvPr>
        </p:nvCxnSpPr>
        <p:spPr>
          <a:xfrm>
            <a:off x="3595688" y="4155758"/>
            <a:ext cx="1886018" cy="0"/>
          </a:xfrm>
          <a:prstGeom prst="line">
            <a:avLst/>
          </a:prstGeom>
          <a:ln w="15875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8"/>
            </p:custDataLst>
          </p:nvPr>
        </p:nvSpPr>
        <p:spPr>
          <a:xfrm>
            <a:off x="789305" y="1710690"/>
            <a:ext cx="4593590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区别于传统人工支付模式，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专为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AI Agent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打造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的自动化支付体系，无需人工干预、无需人类身份校验，支持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自主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发起交易、校验订单、完成结算。</a:t>
            </a:r>
          </a:p>
        </p:txBody>
      </p:sp>
      <p:sp>
        <p:nvSpPr>
          <p:cNvPr id="33" name="矩形 32"/>
          <p:cNvSpPr/>
          <p:nvPr>
            <p:custDataLst>
              <p:tags r:id="rId9"/>
            </p:custDataLst>
          </p:nvPr>
        </p:nvSpPr>
        <p:spPr>
          <a:xfrm>
            <a:off x="703263" y="2801303"/>
            <a:ext cx="4334524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Agentic Payment</a:t>
            </a:r>
          </a:p>
        </p:txBody>
      </p:sp>
      <p:sp>
        <p:nvSpPr>
          <p:cNvPr id="34" name="矩形 33"/>
          <p:cNvSpPr/>
          <p:nvPr>
            <p:custDataLst>
              <p:tags r:id="rId10"/>
            </p:custDataLst>
          </p:nvPr>
        </p:nvSpPr>
        <p:spPr>
          <a:xfrm>
            <a:off x="4371023" y="5100638"/>
            <a:ext cx="3556302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x402</a:t>
            </a:r>
            <a:r>
              <a:rPr lang="zh-CN" altLang="en-US" sz="2400" b="1"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协议</a:t>
            </a:r>
          </a:p>
        </p:txBody>
      </p:sp>
      <p:sp>
        <p:nvSpPr>
          <p:cNvPr id="41" name="矩形 40"/>
          <p:cNvSpPr/>
          <p:nvPr>
            <p:custDataLst>
              <p:tags r:id="rId11"/>
            </p:custDataLst>
          </p:nvPr>
        </p:nvSpPr>
        <p:spPr>
          <a:xfrm>
            <a:off x="6732270" y="1710690"/>
            <a:ext cx="5090160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依托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Solana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公链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USDC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稳定币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开展交易，解决传统跨境支付汇率波动、清算周期长、跨境受限问题，实现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秒级链上结算、低成本资金流转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，适配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 Skill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轻量化付费场景。</a:t>
            </a:r>
          </a:p>
        </p:txBody>
      </p:sp>
      <p:sp>
        <p:nvSpPr>
          <p:cNvPr id="44" name="矩形 43"/>
          <p:cNvSpPr/>
          <p:nvPr>
            <p:custDataLst>
              <p:tags r:id="rId12"/>
            </p:custDataLst>
          </p:nvPr>
        </p:nvSpPr>
        <p:spPr>
          <a:xfrm>
            <a:off x="7153593" y="2801303"/>
            <a:ext cx="4334524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稳定币</a:t>
            </a:r>
          </a:p>
        </p:txBody>
      </p:sp>
      <p:sp>
        <p:nvSpPr>
          <p:cNvPr id="45" name="矩形 44"/>
          <p:cNvSpPr/>
          <p:nvPr>
            <p:custDataLst>
              <p:tags r:id="rId13"/>
            </p:custDataLst>
          </p:nvPr>
        </p:nvSpPr>
        <p:spPr>
          <a:xfrm>
            <a:off x="1744980" y="5715000"/>
            <a:ext cx="8338185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基于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HTTP 402 Payment Required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迭代的轻量化智能支付协议，为本项目核心通信标准。可实现自动化支付拦截、交易校验、状态回调，适配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工具按需付费、小额高频的交易场景。</a:t>
            </a:r>
          </a:p>
        </p:txBody>
      </p:sp>
      <p:sp>
        <p:nvSpPr>
          <p:cNvPr id="53" name="椭圆"/>
          <p:cNvSpPr/>
          <p:nvPr>
            <p:custDataLst>
              <p:tags r:id="rId14"/>
            </p:custDataLst>
          </p:nvPr>
        </p:nvSpPr>
        <p:spPr>
          <a:xfrm>
            <a:off x="8729663" y="3529648"/>
            <a:ext cx="1228993" cy="1229597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lstStyle/>
          <a:p>
            <a:pPr algn="ctr"/>
            <a:endParaRPr lang="bg-BG" sz="2400" dirty="0">
              <a:solidFill>
                <a:prstClr val="white"/>
              </a:solidFill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9" name="椭圆 8"/>
          <p:cNvSpPr/>
          <p:nvPr>
            <p:custDataLst>
              <p:tags r:id="rId15"/>
            </p:custDataLst>
          </p:nvPr>
        </p:nvSpPr>
        <p:spPr>
          <a:xfrm>
            <a:off x="8843963" y="3643948"/>
            <a:ext cx="1001538" cy="1002143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</a:p>
        </p:txBody>
      </p:sp>
      <p:sp>
        <p:nvSpPr>
          <p:cNvPr id="52" name="弧形 85"/>
          <p:cNvSpPr/>
          <p:nvPr>
            <p:custDataLst>
              <p:tags r:id="rId16"/>
            </p:custDataLst>
          </p:nvPr>
        </p:nvSpPr>
        <p:spPr>
          <a:xfrm rot="16200000">
            <a:off x="8639493" y="3482023"/>
            <a:ext cx="1320090" cy="1320097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7"/>
            </p:custDataLst>
          </p:nvPr>
        </p:nvCxnSpPr>
        <p:spPr>
          <a:xfrm flipV="1">
            <a:off x="6822758" y="4144328"/>
            <a:ext cx="1906905" cy="12065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672080" cy="9525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项目定位与切入点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52475" y="1543050"/>
            <a:ext cx="12954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项目定位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638175" y="1857375"/>
            <a:ext cx="3124200" cy="2371725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47725" y="1947545"/>
            <a:ext cx="2724150" cy="1529080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 </a:t>
            </a:r>
            <a:r>
              <a:rPr lang="en-US" altLang="zh-CN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提供一套可自主发起、可验证、可结算的稳定币支付底座，让支付不再依赖人类身份和人工确认流程。</a:t>
            </a:r>
          </a:p>
        </p:txBody>
      </p:sp>
      <p:sp>
        <p:nvSpPr>
          <p:cNvPr id="9" name="矩形 8"/>
          <p:cNvSpPr/>
          <p:nvPr/>
        </p:nvSpPr>
        <p:spPr>
          <a:xfrm>
            <a:off x="4505325" y="1543050"/>
            <a:ext cx="142875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第一切入场景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4391025" y="1857375"/>
            <a:ext cx="3124200" cy="2370455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600575" y="1947545"/>
            <a:ext cx="2724150" cy="1554272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从 </a:t>
            </a:r>
            <a:r>
              <a:rPr lang="en-US" altLang="zh-CN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ClawHub 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切入，解决 </a:t>
            </a:r>
            <a:r>
              <a:rPr lang="en-US" altLang="zh-CN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Skill 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作者希望获得报酬、</a:t>
            </a:r>
            <a:r>
              <a:rPr lang="en-US" altLang="zh-CN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自动购买工具和能力的问题（后续扩展到其他数字资源卖家）</a:t>
            </a:r>
          </a:p>
        </p:txBody>
      </p:sp>
      <p:sp>
        <p:nvSpPr>
          <p:cNvPr id="12" name="矩形 11"/>
          <p:cNvSpPr/>
          <p:nvPr/>
        </p:nvSpPr>
        <p:spPr>
          <a:xfrm>
            <a:off x="8105775" y="1543050"/>
            <a:ext cx="1452245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生态扩展方向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7991475" y="1857375"/>
            <a:ext cx="3124200" cy="2378075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191500" y="1947545"/>
            <a:ext cx="2724150" cy="1208023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双轨支持 </a:t>
            </a:r>
            <a:r>
              <a:rPr lang="en-US" altLang="zh-CN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OpenClaw 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插件与 </a:t>
            </a:r>
            <a:r>
              <a:rPr lang="en-US" altLang="zh-CN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MCP SDK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，后端从服务单一宿主升级为服务整个 </a:t>
            </a:r>
            <a:r>
              <a:rPr lang="en-US" altLang="zh-CN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 sz="19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生态。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47725" y="4723765"/>
            <a:ext cx="10474325" cy="654050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我们的目标不是再做一个收银台，而是把 </a:t>
            </a:r>
            <a:r>
              <a:rPr lang="en-US" altLang="zh-CN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</a:t>
            </a:r>
            <a:r>
              <a:rPr lang="zh-CN" altLang="en-US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如何支付 抽象成一套底层逻辑：谁可以付、何时可以付、付完如何验证与复用。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07415" y="5866130"/>
            <a:ext cx="1028700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一句话总结：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StablePay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希望成为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Web3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时代面向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Agent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PayPal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级支付基础设施。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47725" y="5788660"/>
            <a:ext cx="10193655" cy="532130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 rtlCol="0">
            <a:noAutofit/>
          </a:bodyPr>
          <a:lstStyle/>
          <a:p>
            <a:pPr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hatGPT Image 2026年7月8日 19_50_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45" y="2148840"/>
            <a:ext cx="7063105" cy="470916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04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 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核心技术方案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1081" name="文本框 1080"/>
          <p:cNvSpPr txBox="1"/>
          <p:nvPr/>
        </p:nvSpPr>
        <p:spPr>
          <a:xfrm>
            <a:off x="445383" y="1345450"/>
            <a:ext cx="11322051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本项目搭建</a:t>
            </a:r>
            <a:r>
              <a:rPr lang="zh-CN" altLang="en-US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en-US" altLang="zh-CN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</a:t>
            </a:r>
            <a:r>
              <a:rPr lang="zh-CN" altLang="en-US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Cloudwego</a:t>
            </a:r>
            <a:r>
              <a:rPr lang="zh-CN" altLang="en-US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全家桶微服务后端</a:t>
            </a:r>
            <a:r>
              <a:rPr lang="zh-CN" altLang="en-US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ker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阿里云云端部署流水线</a:t>
            </a:r>
            <a:r>
              <a:rPr lang="zh-CN" altLang="en-US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的全链路技术架构，从</a:t>
            </a:r>
            <a:r>
              <a:rPr lang="en-US" altLang="zh-CN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IDL</a:t>
            </a:r>
            <a:r>
              <a:rPr lang="zh-CN" altLang="en-US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接口规范出发，实现开发标准化、服务解耦化、部署自动化，完整覆盖</a:t>
            </a:r>
            <a:r>
              <a:rPr lang="en-US" altLang="zh-CN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Agent</a:t>
            </a:r>
            <a:r>
              <a:rPr lang="zh-CN" altLang="en-US" b="1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支付全流程能力。</a:t>
            </a:r>
          </a:p>
        </p:txBody>
      </p:sp>
      <p:sp>
        <p:nvSpPr>
          <p:cNvPr id="7" name="矩形: 圆角 4"/>
          <p:cNvSpPr/>
          <p:nvPr/>
        </p:nvSpPr>
        <p:spPr>
          <a:xfrm>
            <a:off x="7929880" y="3034665"/>
            <a:ext cx="3390900" cy="77724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客户端层</a:t>
            </a:r>
            <a:r>
              <a:rPr lang="zh-CN" altLang="en-US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
本地钱包、</a:t>
            </a:r>
            <a:r>
              <a:rPr lang="en-US" altLang="zh-CN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DID</a:t>
            </a:r>
            <a:r>
              <a:rPr lang="zh-CN" altLang="en-US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、额度策略</a:t>
            </a:r>
            <a:endParaRPr lang="zh-CN" altLang="en-US" b="1"/>
          </a:p>
        </p:txBody>
      </p:sp>
      <p:sp>
        <p:nvSpPr>
          <p:cNvPr id="8" name="矩形: 圆角 4"/>
          <p:cNvSpPr/>
          <p:nvPr/>
        </p:nvSpPr>
        <p:spPr>
          <a:xfrm>
            <a:off x="7906385" y="3992245"/>
            <a:ext cx="3414395" cy="77724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服务层</a:t>
            </a:r>
            <a:r>
              <a:rPr lang="zh-CN" altLang="en-US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
网关、支付、验证、查询协作</a:t>
            </a:r>
            <a:endParaRPr lang="zh-CN" altLang="en-US" b="1"/>
          </a:p>
        </p:txBody>
      </p:sp>
      <p:sp>
        <p:nvSpPr>
          <p:cNvPr id="9" name="矩形: 圆角 4"/>
          <p:cNvSpPr/>
          <p:nvPr/>
        </p:nvSpPr>
        <p:spPr>
          <a:xfrm>
            <a:off x="7906385" y="4949825"/>
            <a:ext cx="3413760" cy="77724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结算层
</a:t>
            </a:r>
            <a:r>
              <a:rPr lang="en-US" altLang="zh-CN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Solana + USDC </a:t>
            </a:r>
            <a:r>
              <a:rPr lang="zh-CN" altLang="en-US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完成最终转账</a:t>
            </a:r>
            <a:endParaRPr lang="zh-CN" altLang="en-US" b="1"/>
          </a:p>
        </p:txBody>
      </p:sp>
      <p:sp>
        <p:nvSpPr>
          <p:cNvPr id="10" name="矩形 9"/>
          <p:cNvSpPr/>
          <p:nvPr/>
        </p:nvSpPr>
        <p:spPr>
          <a:xfrm>
            <a:off x="7929880" y="2378710"/>
            <a:ext cx="1927225" cy="512445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rgbClr val="FFFFFF"/>
                </a:solidFill>
                <a:ea typeface="微软雅黑" panose="020B0503020204020204" pitchFamily="34" charset="-122"/>
              </a:rPr>
              <a:t>三层设计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800340" y="6199505"/>
            <a:ext cx="374777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让 </a:t>
            </a:r>
            <a:r>
              <a:rPr lang="en-US" altLang="zh-CN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的每一笔支付都「能做、敢做、查得清」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05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后端微服务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pic>
        <p:nvPicPr>
          <p:cNvPr id="3" name="图片 2" descr="ChatGPT Image 2026年7月8日 19_50_5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45485" y="934085"/>
            <a:ext cx="8886190" cy="592391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322955" y="962025"/>
            <a:ext cx="2298700" cy="659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1"/>
            </p:custDataLst>
          </p:nvPr>
        </p:nvSpPr>
        <p:spPr>
          <a:xfrm>
            <a:off x="507365" y="3891280"/>
            <a:ext cx="2317750" cy="734695"/>
          </a:xfrm>
          <a:prstGeom prst="roundRect">
            <a:avLst/>
          </a:prstGeom>
          <a:solidFill>
            <a:srgbClr val="F6F4F2">
              <a:alpha val="94000"/>
            </a:srgbClr>
          </a:solidFill>
          <a:ln w="10477">
            <a:solidFill>
              <a:srgbClr val="AAC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21665" y="3967480"/>
            <a:ext cx="17716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同步调用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21665" y="4205605"/>
            <a:ext cx="17716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网关分发后，关键链路通过 </a:t>
            </a:r>
            <a:r>
              <a:rPr lang="en-US" altLang="zh-CN" sz="1200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Kitex RPC </a:t>
            </a:r>
            <a:r>
              <a:rPr lang="zh-CN" altLang="en-US" sz="1200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快速完成。</a:t>
            </a:r>
          </a:p>
        </p:txBody>
      </p:sp>
      <p:sp>
        <p:nvSpPr>
          <p:cNvPr id="9" name="矩形: 圆角 8"/>
          <p:cNvSpPr/>
          <p:nvPr>
            <p:custDataLst>
              <p:tags r:id="rId4"/>
            </p:custDataLst>
          </p:nvPr>
        </p:nvSpPr>
        <p:spPr>
          <a:xfrm>
            <a:off x="507365" y="4832350"/>
            <a:ext cx="2317750" cy="718185"/>
          </a:xfrm>
          <a:prstGeom prst="roundRect">
            <a:avLst/>
          </a:prstGeom>
          <a:solidFill>
            <a:srgbClr val="F6F4F2">
              <a:alpha val="94000"/>
            </a:srgbClr>
          </a:solidFill>
          <a:ln w="10477">
            <a:solidFill>
              <a:srgbClr val="AAC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621665" y="4908550"/>
            <a:ext cx="21145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异步解耦</a:t>
            </a: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621665" y="5146675"/>
            <a:ext cx="21145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支付成功后发布事件，验证服务异步落购买记录。</a:t>
            </a:r>
          </a:p>
        </p:txBody>
      </p:sp>
      <p:sp>
        <p:nvSpPr>
          <p:cNvPr id="12" name="矩形: 圆角 11"/>
          <p:cNvSpPr/>
          <p:nvPr>
            <p:custDataLst>
              <p:tags r:id="rId7"/>
            </p:custDataLst>
          </p:nvPr>
        </p:nvSpPr>
        <p:spPr>
          <a:xfrm>
            <a:off x="507365" y="5806440"/>
            <a:ext cx="2317750" cy="744855"/>
          </a:xfrm>
          <a:prstGeom prst="roundRect">
            <a:avLst/>
          </a:prstGeom>
          <a:solidFill>
            <a:srgbClr val="F6F4F2">
              <a:alpha val="94000"/>
            </a:srgbClr>
          </a:solidFill>
          <a:ln w="10477">
            <a:solidFill>
              <a:srgbClr val="AAC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622300" y="5882640"/>
            <a:ext cx="20497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工程价值</a:t>
            </a: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622300" y="6120765"/>
            <a:ext cx="204978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 b="1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单个服务职责更清晰，也更适合后续扩容与迭代。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45135" y="1345565"/>
            <a:ext cx="2800985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>
                <a:solidFill>
                  <a:srgbClr val="2837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后端不是一个「大接口」，而是把身份、支付、查询、验单拆成独立服务，再用 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API Gateway </a:t>
            </a:r>
            <a:r>
              <a:rPr lang="zh-CN" altLang="en-US" sz="1600" b="1">
                <a:solidFill>
                  <a:srgbClr val="2837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消息队列</a:t>
            </a:r>
            <a:r>
              <a:rPr lang="zh-CN" altLang="en-US" sz="1600" b="1">
                <a:solidFill>
                  <a:srgbClr val="2837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把它们组织起来。</a:t>
            </a:r>
            <a:endParaRPr lang="zh-CN" altLang="en-US" sz="16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ChatGPT Image 2026年7月8日 19_50_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035" y="1036955"/>
            <a:ext cx="8730615" cy="5821045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06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2.1.1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API Gateway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4" name="矩形 3"/>
          <p:cNvSpPr/>
          <p:nvPr/>
        </p:nvSpPr>
        <p:spPr>
          <a:xfrm>
            <a:off x="345440" y="1407795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45440" y="1639570"/>
            <a:ext cx="3015615" cy="1043305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API Gateway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是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StablePay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后端的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统一接入入口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，负责把所有外部请求安全、稳定地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转发到具体微服务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矩形: 圆角 4"/>
          <p:cNvSpPr/>
          <p:nvPr/>
        </p:nvSpPr>
        <p:spPr>
          <a:xfrm>
            <a:off x="234315" y="3376295"/>
            <a:ext cx="3080385" cy="3481705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45440" y="3429000"/>
            <a:ext cx="2763520" cy="346075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99085" y="3697605"/>
            <a:ext cx="2965450" cy="2879725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en-US" altLang="zh-CN" sz="16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/api/v1/{did,payment,verify,query,revenue,sales} 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21 </a:t>
            </a:r>
            <a:r>
              <a:rPr lang="zh-CN" altLang="en-US" sz="16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条核心路由</a:t>
            </a: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的核心承接；</a:t>
            </a:r>
            <a:endParaRPr lang="zh-CN" altLang="en-US" sz="16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16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按路径和方法分发请求，让客户端始终</a:t>
            </a:r>
            <a:r>
              <a:rPr lang="zh-CN" altLang="en-US" sz="16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只面对一个入口</a:t>
            </a:r>
            <a:r>
              <a:rPr lang="zh-CN" altLang="en-US" sz="16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16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将鉴权、限流、防重放等横切逻辑集中治理，避免下游服务重复实现。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07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DID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00" y="1605280"/>
            <a:ext cx="5735320" cy="3823970"/>
          </a:xfrm>
          <a:prstGeom prst="rect">
            <a:avLst/>
          </a:prstGeom>
        </p:spPr>
      </p:pic>
      <p:sp>
        <p:nvSpPr>
          <p:cNvPr id="1081" name="文本框 1080"/>
          <p:cNvSpPr txBox="1"/>
          <p:nvPr/>
        </p:nvSpPr>
        <p:spPr>
          <a:xfrm>
            <a:off x="445383" y="1345450"/>
            <a:ext cx="1132205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DID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为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AI Agent 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生成并管理去中心化身份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，是整套系统最底层、最基础的身份能力提供者。</a:t>
            </a:r>
            <a:endParaRPr lang="zh-CN" altLang="en-US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31495" y="2128520"/>
            <a:ext cx="3611245" cy="62484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生成 </a:t>
            </a:r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Ed25519 </a:t>
            </a:r>
            <a:r>
              <a:rPr lang="zh-CN" altLang="en-US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密钥对并拼装 </a:t>
            </a:r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did:solana:&lt;pubkey&gt; </a:t>
            </a:r>
            <a:r>
              <a:rPr lang="zh-CN" altLang="en-US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身份标识</a:t>
            </a:r>
          </a:p>
        </p:txBody>
      </p:sp>
      <p:sp>
        <p:nvSpPr>
          <p:cNvPr id="8" name="powerpoint template design by DAJU_PPT正版来源小红书大橘PPT微信DAJU_PPT请勿抄袭搬运！盗版必究！-5"/>
          <p:cNvSpPr/>
          <p:nvPr/>
        </p:nvSpPr>
        <p:spPr>
          <a:xfrm flipH="1">
            <a:off x="4286885" y="2128520"/>
            <a:ext cx="367665" cy="2292350"/>
          </a:xfrm>
          <a:prstGeom prst="leftBrace">
            <a:avLst>
              <a:gd name="adj1" fmla="val 174625"/>
              <a:gd name="adj2" fmla="val 50000"/>
            </a:avLst>
          </a:prstGeom>
          <a:noFill/>
          <a:ln w="28575" cap="flat" cmpd="sng" algn="ctr">
            <a:solidFill>
              <a:srgbClr val="CFAF6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31495" y="2962275"/>
            <a:ext cx="3611245" cy="62484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提供身份注册、查询、验签、状态管理等基础能力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31495" y="3796030"/>
            <a:ext cx="3611245" cy="62484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zh-CN" altLang="en-US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所有支付请求都可先由 </a:t>
            </a:r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DID </a:t>
            </a:r>
            <a:r>
              <a:rPr lang="zh-CN" altLang="en-US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服务完成签名校验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1495" y="4933950"/>
            <a:ext cx="3350260" cy="423545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08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Payment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395" y="2997200"/>
            <a:ext cx="6005830" cy="32956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68935" y="143383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68935" y="1771650"/>
            <a:ext cx="11210925" cy="592455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Payment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是支付链路核心，负责处理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x402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协议、协调链上转账，并保证交易可重试、不可重复扣款。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09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Blockchain Adapter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" y="1865630"/>
            <a:ext cx="7527925" cy="4236720"/>
          </a:xfrm>
          <a:prstGeom prst="rect">
            <a:avLst/>
          </a:prstGeom>
        </p:spPr>
      </p:pic>
      <p:sp>
        <p:nvSpPr>
          <p:cNvPr id="1081" name="文本框 1080"/>
          <p:cNvSpPr txBox="1"/>
          <p:nvPr/>
        </p:nvSpPr>
        <p:spPr>
          <a:xfrm>
            <a:off x="445383" y="1345450"/>
            <a:ext cx="1132205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Blockchain Adapter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把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业务支付语义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翻译成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Solana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链上动作，是系统与真实稳定币网络交互的执行层。</a:t>
            </a:r>
            <a:endParaRPr lang="zh-CN" altLang="en-US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10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2.1.5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Verification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245" y="2273935"/>
            <a:ext cx="5712460" cy="380936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30200" y="1410335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30200" y="1771650"/>
            <a:ext cx="10948035" cy="592455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Verification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负责把链上支付转化为平台已购买的可信证明，同时承担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验证与新用户激励发放。</a:t>
            </a:r>
          </a:p>
        </p:txBody>
      </p:sp>
      <p:sp>
        <p:nvSpPr>
          <p:cNvPr id="6" name="矩形: 圆角 4"/>
          <p:cNvSpPr/>
          <p:nvPr/>
        </p:nvSpPr>
        <p:spPr>
          <a:xfrm>
            <a:off x="330200" y="2348865"/>
            <a:ext cx="4905375" cy="735965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订阅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payment_events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，把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agent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与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skill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的购买关系写入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purchase_records</a:t>
            </a:r>
            <a:endParaRPr lang="zh-CN" altLang="en-US" b="1"/>
          </a:p>
        </p:txBody>
      </p:sp>
      <p:sp>
        <p:nvSpPr>
          <p:cNvPr id="7" name="矩形: 圆角 4"/>
          <p:cNvSpPr/>
          <p:nvPr/>
        </p:nvSpPr>
        <p:spPr>
          <a:xfrm>
            <a:off x="330200" y="3792220"/>
            <a:ext cx="4905375" cy="735965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zh-CN" altLang="en-US" b="1">
                <a:solidFill>
                  <a:schemeClr val="tx1"/>
                </a:solidFill>
              </a:rPr>
              <a:t>对外提供单次验证、批量验证、购买证明查询等 </a:t>
            </a:r>
            <a:r>
              <a:rPr lang="en-US" altLang="zh-CN" b="1">
                <a:solidFill>
                  <a:schemeClr val="tx1"/>
                </a:solidFill>
              </a:rPr>
              <a:t>RPC </a:t>
            </a:r>
            <a:r>
              <a:rPr lang="zh-CN" altLang="en-US" b="1">
                <a:solidFill>
                  <a:schemeClr val="tx1"/>
                </a:solidFill>
              </a:rPr>
              <a:t>能力</a:t>
            </a:r>
          </a:p>
        </p:txBody>
      </p:sp>
      <p:sp>
        <p:nvSpPr>
          <p:cNvPr id="8" name="矩形: 圆角 4"/>
          <p:cNvSpPr/>
          <p:nvPr/>
        </p:nvSpPr>
        <p:spPr>
          <a:xfrm>
            <a:off x="328930" y="5235575"/>
            <a:ext cx="4905375" cy="735965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zh-CN" altLang="en-US" b="1">
                <a:solidFill>
                  <a:schemeClr val="tx1"/>
                </a:solidFill>
              </a:rPr>
              <a:t>实现 </a:t>
            </a:r>
            <a:r>
              <a:rPr lang="en-US" altLang="zh-CN" b="1">
                <a:solidFill>
                  <a:schemeClr val="tx1"/>
                </a:solidFill>
              </a:rPr>
              <a:t>X </a:t>
            </a:r>
            <a:r>
              <a:rPr lang="zh-CN" altLang="en-US" b="1">
                <a:solidFill>
                  <a:schemeClr val="tx1"/>
                </a:solidFill>
              </a:rPr>
              <a:t>推文绑定验证与 1 </a:t>
            </a:r>
            <a:r>
              <a:rPr lang="en-US" altLang="zh-CN" b="1">
                <a:solidFill>
                  <a:schemeClr val="tx1"/>
                </a:solidFill>
              </a:rPr>
              <a:t>USDC onboarding </a:t>
            </a:r>
            <a:r>
              <a:rPr lang="zh-CN" altLang="en-US" b="1">
                <a:solidFill>
                  <a:schemeClr val="tx1"/>
                </a:solidFill>
              </a:rPr>
              <a:t>奖励发放</a:t>
            </a:r>
          </a:p>
        </p:txBody>
      </p:sp>
      <p:sp>
        <p:nvSpPr>
          <p:cNvPr id="21" name="powerpoint template design by DAJU_PPT正版来源小红书大橘PPT微信DAJU_PPT请勿抄袭搬运！盗版必究！-2"/>
          <p:cNvSpPr/>
          <p:nvPr/>
        </p:nvSpPr>
        <p:spPr>
          <a:xfrm flipH="1">
            <a:off x="328930" y="2355850"/>
            <a:ext cx="76200" cy="3616325"/>
          </a:xfrm>
          <a:prstGeom prst="rect">
            <a:avLst/>
          </a:prstGeom>
          <a:solidFill>
            <a:srgbClr val="9E0000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箭头: 右 22"/>
          <p:cNvSpPr/>
          <p:nvPr/>
        </p:nvSpPr>
        <p:spPr>
          <a:xfrm>
            <a:off x="5490811" y="3873212"/>
            <a:ext cx="914400" cy="5736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90" y="1575435"/>
            <a:ext cx="5209540" cy="347345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 dirty="0">
                  <a:solidFill>
                    <a:schemeClr val="bg1"/>
                  </a:solidFill>
                  <a:latin typeface="Britannic Bold" panose="020B0903060703020204" pitchFamily="34" charset="0"/>
                </a:rPr>
                <a:t>11</a:t>
              </a: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2.1.6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Query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1081" name="文本框 1080"/>
          <p:cNvSpPr txBox="1"/>
          <p:nvPr/>
        </p:nvSpPr>
        <p:spPr>
          <a:xfrm>
            <a:off x="8125460" y="1336040"/>
            <a:ext cx="355727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Query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面向用户和商家提供余额、交易、收益与销售查询，是支付能力产品化后的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可视化出口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48885"/>
            <a:ext cx="7755890" cy="18776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36040"/>
            <a:ext cx="7720330" cy="374523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8125460" y="4168775"/>
            <a:ext cx="3497580" cy="1830070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同时服务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买家侧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余额查询和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商家侧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收益、销售明细查询。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支持内部交易同步接口，作为 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MQ 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消费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后的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幂等写入入口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078470" y="3564958"/>
            <a:ext cx="1666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</a:rPr>
              <a:t>设计亮点：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13"/>
          <p:cNvSpPr/>
          <p:nvPr/>
        </p:nvSpPr>
        <p:spPr>
          <a:xfrm>
            <a:off x="9566910" y="5602605"/>
            <a:ext cx="2030095" cy="101092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13"/>
          <p:cNvSpPr/>
          <p:nvPr/>
        </p:nvSpPr>
        <p:spPr>
          <a:xfrm>
            <a:off x="9566910" y="4425950"/>
            <a:ext cx="2030095" cy="101092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13"/>
          <p:cNvSpPr/>
          <p:nvPr/>
        </p:nvSpPr>
        <p:spPr>
          <a:xfrm>
            <a:off x="9566910" y="3203575"/>
            <a:ext cx="2030095" cy="101092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 dirty="0">
                  <a:solidFill>
                    <a:schemeClr val="bg1"/>
                  </a:solidFill>
                  <a:latin typeface="Britannic Bold" panose="020B0903060703020204" pitchFamily="34" charset="0"/>
                </a:rPr>
                <a:t>12</a:t>
              </a: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云端运维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1081" name="文本框 1080"/>
          <p:cNvSpPr txBox="1"/>
          <p:nvPr/>
        </p:nvSpPr>
        <p:spPr>
          <a:xfrm>
            <a:off x="445383" y="1345450"/>
            <a:ext cx="1132205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我们把多微服务系统真正部署到云端，形成从本地开发、镜像构建、集群运行到公网访问的完整交付链路。</a:t>
            </a:r>
            <a:endParaRPr lang="zh-CN" altLang="en-US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02690" y="-419100"/>
            <a:ext cx="508000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193040" y="2153285"/>
            <a:ext cx="9060180" cy="4390390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9566910" y="2082800"/>
            <a:ext cx="2030095" cy="1010920"/>
          </a:xfrm>
          <a:prstGeom prst="roundRect">
            <a:avLst/>
          </a:prstGeom>
          <a:solidFill>
            <a:srgbClr val="DCEEF7">
              <a:alpha val="98000"/>
            </a:srgbClr>
          </a:solidFill>
          <a:ln w="9525">
            <a:solidFill>
              <a:srgbClr val="A8C8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681210" y="2159000"/>
            <a:ext cx="156083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ACK </a:t>
            </a:r>
            <a:r>
              <a:rPr lang="zh-CN" altLang="en-US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容器编排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681210" y="2498725"/>
            <a:ext cx="1814195" cy="5702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统一承载业务服务与中间件运行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9681210" y="3281680"/>
            <a:ext cx="156083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ACR </a:t>
            </a:r>
            <a:r>
              <a:rPr lang="zh-CN" altLang="en-US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镜像仓库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9681210" y="3615055"/>
            <a:ext cx="1813560" cy="336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镜像统一托管，发布入口标准化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681210" y="4523105"/>
            <a:ext cx="13906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消息与存储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626600" y="4817745"/>
            <a:ext cx="186753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RocketMQ,MySQL,Redis </a:t>
            </a:r>
            <a:r>
              <a:rPr lang="zh-CN" altLang="en-US" sz="1600" b="1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共同支撑链路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681210" y="5683885"/>
            <a:ext cx="13906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公网接入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681210" y="6043930"/>
            <a:ext cx="17576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ALB </a:t>
            </a:r>
            <a:r>
              <a:rPr lang="zh-CN" altLang="en-US" sz="1600" b="1">
                <a:solidFill>
                  <a:srgbClr val="55555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统一承接外部访问与域名流量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2126"/>
            <a:ext cx="1011868" cy="346190"/>
            <a:chOff x="12109738" y="6793166"/>
            <a:chExt cx="1011868" cy="33264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3166"/>
              <a:ext cx="767252" cy="311784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 dirty="0">
                  <a:solidFill>
                    <a:schemeClr val="bg1"/>
                  </a:solidFill>
                  <a:latin typeface="Britannic Bold" panose="020B0903060703020204" pitchFamily="34" charset="0"/>
                </a:rPr>
                <a:t>13</a:t>
              </a: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云端运维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1081" name="文本框 1080"/>
          <p:cNvSpPr txBox="1"/>
          <p:nvPr/>
        </p:nvSpPr>
        <p:spPr>
          <a:xfrm>
            <a:off x="445135" y="1345565"/>
            <a:ext cx="4387850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我们把多微服务系统真正部署到云端，形成从本地开发、镜像构建、集群运行到公网访问的完整交付链路。</a:t>
            </a:r>
            <a:endParaRPr lang="zh-CN" altLang="en-US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02690" y="-419100"/>
            <a:ext cx="508000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  <p:pic>
        <p:nvPicPr>
          <p:cNvPr id="13" name="图片 1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90" y="2334895"/>
            <a:ext cx="7214235" cy="34956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260" y="1085215"/>
            <a:ext cx="4453890" cy="2343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260" y="3844290"/>
            <a:ext cx="4469765" cy="23031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E4F07E-E510-ACAD-4ABE-D64E838C4152}"/>
              </a:ext>
            </a:extLst>
          </p:cNvPr>
          <p:cNvSpPr txBox="1"/>
          <p:nvPr/>
        </p:nvSpPr>
        <p:spPr>
          <a:xfrm>
            <a:off x="419100" y="552450"/>
            <a:ext cx="7429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2.3 Agent Plugin</a:t>
            </a:r>
            <a:endParaRPr lang="zh-CN" altLang="en-US" sz="2600" b="1">
              <a:solidFill>
                <a:srgbClr val="93311D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0B2E13-CDB3-A039-8C6C-71F846422B44}"/>
              </a:ext>
            </a:extLst>
          </p:cNvPr>
          <p:cNvSpPr/>
          <p:nvPr/>
        </p:nvSpPr>
        <p:spPr>
          <a:xfrm>
            <a:off x="590550" y="1257300"/>
            <a:ext cx="1009650" cy="228600"/>
          </a:xfrm>
          <a:prstGeom prst="rect">
            <a:avLst/>
          </a:prstGeom>
          <a:solidFill>
            <a:srgbClr val="0B12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客户端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734A3B-483E-CF6F-A458-82A19F48DC0D}"/>
              </a:ext>
            </a:extLst>
          </p:cNvPr>
          <p:cNvSpPr txBox="1"/>
          <p:nvPr/>
        </p:nvSpPr>
        <p:spPr>
          <a:xfrm>
            <a:off x="590550" y="1657350"/>
            <a:ext cx="72390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从 </a:t>
            </a:r>
            <a:r>
              <a:rPr lang="en-US" altLang="zh-CN" sz="26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OpenClaw </a:t>
            </a:r>
            <a:r>
              <a:rPr lang="zh-CN" altLang="en-US" sz="26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插件出发，升级为服务整个 </a:t>
            </a:r>
            <a:r>
              <a:rPr lang="en-US" altLang="zh-CN" sz="26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26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生态的支付客户端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377889-CA5C-D3B3-5FF4-74D97CED7915}"/>
              </a:ext>
            </a:extLst>
          </p:cNvPr>
          <p:cNvSpPr txBox="1"/>
          <p:nvPr/>
        </p:nvSpPr>
        <p:spPr>
          <a:xfrm>
            <a:off x="590550" y="2514600"/>
            <a:ext cx="72771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37445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这部分重点不在“工具数量”，而在于我们把支付能力产品化成了 </a:t>
            </a:r>
            <a:r>
              <a:rPr lang="en-US" altLang="zh-CN" sz="1500">
                <a:solidFill>
                  <a:srgbClr val="37445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500">
                <a:solidFill>
                  <a:srgbClr val="37445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可调用、可恢复、可审计、可控风险的一套客户端层。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F86924A-213D-F309-A2CC-CC630C52D58A}"/>
              </a:ext>
            </a:extLst>
          </p:cNvPr>
          <p:cNvSpPr/>
          <p:nvPr/>
        </p:nvSpPr>
        <p:spPr>
          <a:xfrm>
            <a:off x="590550" y="3181350"/>
            <a:ext cx="2343150" cy="110490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FF3F8BE-8650-4A12-47DE-10CC7D82F0B0}"/>
              </a:ext>
            </a:extLst>
          </p:cNvPr>
          <p:cNvSpPr/>
          <p:nvPr/>
        </p:nvSpPr>
        <p:spPr>
          <a:xfrm>
            <a:off x="3162300" y="3181350"/>
            <a:ext cx="2343150" cy="110490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BDDBF09-C5A8-8802-7EA0-6CD329C1B208}"/>
              </a:ext>
            </a:extLst>
          </p:cNvPr>
          <p:cNvSpPr/>
          <p:nvPr/>
        </p:nvSpPr>
        <p:spPr>
          <a:xfrm>
            <a:off x="5734050" y="3181350"/>
            <a:ext cx="2343150" cy="110490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4733DEA-AE4D-EDA9-9C5C-543D4718E48F}"/>
              </a:ext>
            </a:extLst>
          </p:cNvPr>
          <p:cNvSpPr txBox="1"/>
          <p:nvPr/>
        </p:nvSpPr>
        <p:spPr>
          <a:xfrm>
            <a:off x="742950" y="3333750"/>
            <a:ext cx="20002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OpenClaw </a:t>
            </a:r>
            <a:r>
              <a:rPr lang="zh-CN" altLang="en-US" sz="19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已上线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41EC70-9684-FD68-038D-6258640E2183}"/>
              </a:ext>
            </a:extLst>
          </p:cNvPr>
          <p:cNvSpPr txBox="1"/>
          <p:nvPr/>
        </p:nvSpPr>
        <p:spPr>
          <a:xfrm>
            <a:off x="742950" y="3600450"/>
            <a:ext cx="20002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已支撑飞书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TUI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场景，证明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调支付工具这条路可以跑通。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E309CE4-230B-120D-3AEF-710867EE4ED7}"/>
              </a:ext>
            </a:extLst>
          </p:cNvPr>
          <p:cNvSpPr txBox="1"/>
          <p:nvPr/>
        </p:nvSpPr>
        <p:spPr>
          <a:xfrm>
            <a:off x="3314700" y="3333750"/>
            <a:ext cx="20002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MCP SDK </a:t>
            </a:r>
            <a:r>
              <a:rPr lang="zh-CN" altLang="en-US" sz="19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在路上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1C6562-ED3B-C58F-58F4-2AEA7E956056}"/>
              </a:ext>
            </a:extLst>
          </p:cNvPr>
          <p:cNvSpPr txBox="1"/>
          <p:nvPr/>
        </p:nvSpPr>
        <p:spPr>
          <a:xfrm>
            <a:off x="3314700" y="3600450"/>
            <a:ext cx="20002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目标是让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Claude Code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Codex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Cursor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等宿主都能共享同一套支付后端。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BC904DB-3F8C-470E-F473-D26E1CEF9588}"/>
              </a:ext>
            </a:extLst>
          </p:cNvPr>
          <p:cNvSpPr txBox="1"/>
          <p:nvPr/>
        </p:nvSpPr>
        <p:spPr>
          <a:xfrm>
            <a:off x="5886450" y="3333750"/>
            <a:ext cx="20002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CLI </a:t>
            </a:r>
            <a:r>
              <a:rPr lang="zh-CN" altLang="en-US" sz="19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补齐开发体验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A3CB3E-2AD4-35CB-30E9-32A6ECDE100B}"/>
              </a:ext>
            </a:extLst>
          </p:cNvPr>
          <p:cNvSpPr txBox="1"/>
          <p:nvPr/>
        </p:nvSpPr>
        <p:spPr>
          <a:xfrm>
            <a:off x="5886450" y="3600450"/>
            <a:ext cx="20002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没有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IDE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宿主时，也能直接调试钱包、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DID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、限额与支付链路。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EE7FC20-3027-7E35-B797-52F94F2458CF}"/>
              </a:ext>
            </a:extLst>
          </p:cNvPr>
          <p:cNvSpPr txBox="1"/>
          <p:nvPr/>
        </p:nvSpPr>
        <p:spPr>
          <a:xfrm>
            <a:off x="723900" y="4438650"/>
            <a:ext cx="73152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一句话：后端微服务解决“支付怎么完成”，客户端层解决“</a:t>
            </a:r>
            <a:r>
              <a:rPr lang="en-US" altLang="zh-CN" sz="14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4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怎么安全地把它用起来”。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782053-21B6-46B0-D8EB-67755FB73346}"/>
              </a:ext>
            </a:extLst>
          </p:cNvPr>
          <p:cNvSpPr txBox="1"/>
          <p:nvPr/>
        </p:nvSpPr>
        <p:spPr>
          <a:xfrm>
            <a:off x="419100" y="552450"/>
            <a:ext cx="7429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2.3.1 </a:t>
            </a:r>
            <a:r>
              <a:rPr lang="zh-CN" altLang="en-US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客户端生态与升级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BC74C1-D6A3-BED0-F6D8-58638E4C315C}"/>
              </a:ext>
            </a:extLst>
          </p:cNvPr>
          <p:cNvSpPr txBox="1"/>
          <p:nvPr/>
        </p:nvSpPr>
        <p:spPr>
          <a:xfrm>
            <a:off x="457200" y="1028700"/>
            <a:ext cx="7810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产品不是绑定在单一宿主里，而是从一开始就规划成“先跑通，再外扩”的双轨升级路线。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785B08-4E64-0DF9-825C-9E16D5241A4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295400"/>
            <a:ext cx="7981950" cy="257175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9B838C-E836-D2CE-A1B3-3CC2EBE82AD8}"/>
              </a:ext>
            </a:extLst>
          </p:cNvPr>
          <p:cNvSpPr/>
          <p:nvPr/>
        </p:nvSpPr>
        <p:spPr>
          <a:xfrm>
            <a:off x="704850" y="3981450"/>
            <a:ext cx="2381250" cy="5524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0464729-5B34-5DE6-77C3-C27B81F19B57}"/>
              </a:ext>
            </a:extLst>
          </p:cNvPr>
          <p:cNvSpPr/>
          <p:nvPr/>
        </p:nvSpPr>
        <p:spPr>
          <a:xfrm>
            <a:off x="3276600" y="3981450"/>
            <a:ext cx="2381250" cy="5524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85F0F1A-EE31-3688-B362-18B3659DA47F}"/>
              </a:ext>
            </a:extLst>
          </p:cNvPr>
          <p:cNvSpPr/>
          <p:nvPr/>
        </p:nvSpPr>
        <p:spPr>
          <a:xfrm>
            <a:off x="5848350" y="3981450"/>
            <a:ext cx="2381250" cy="5524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4ADC11-D691-29A2-9F2F-9C6A3323DF41}"/>
              </a:ext>
            </a:extLst>
          </p:cNvPr>
          <p:cNvSpPr txBox="1"/>
          <p:nvPr/>
        </p:nvSpPr>
        <p:spPr>
          <a:xfrm>
            <a:off x="857250" y="4114800"/>
            <a:ext cx="20574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已证明：插件模式能跑通真实支付闭环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2B3623-A7F2-117D-839C-407E9BA1DC5E}"/>
              </a:ext>
            </a:extLst>
          </p:cNvPr>
          <p:cNvSpPr txBox="1"/>
          <p:nvPr/>
        </p:nvSpPr>
        <p:spPr>
          <a:xfrm>
            <a:off x="3429000" y="4114800"/>
            <a:ext cx="20574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在扩张：</a:t>
            </a:r>
            <a:r>
              <a:rPr lang="en-US" altLang="zh-CN" sz="125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MCP </a:t>
            </a:r>
            <a:r>
              <a:rPr lang="zh-CN" altLang="en-US" sz="125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把支付能力标准化输出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B0F3B0-41B1-415F-4EFB-3DFA2AE19B97}"/>
              </a:ext>
            </a:extLst>
          </p:cNvPr>
          <p:cNvSpPr txBox="1"/>
          <p:nvPr/>
        </p:nvSpPr>
        <p:spPr>
          <a:xfrm>
            <a:off x="6000750" y="4114800"/>
            <a:ext cx="20574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面向未来：</a:t>
            </a:r>
            <a:r>
              <a:rPr lang="en-US" altLang="zh-CN" sz="125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CLI </a:t>
            </a:r>
            <a:r>
              <a:rPr lang="zh-CN" altLang="en-US" sz="125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让调试与演示更轻量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D41DDE-D9D1-DF02-11DE-D7DBFD1D2CBC}"/>
              </a:ext>
            </a:extLst>
          </p:cNvPr>
          <p:cNvSpPr txBox="1"/>
          <p:nvPr/>
        </p:nvSpPr>
        <p:spPr>
          <a:xfrm>
            <a:off x="419100" y="552450"/>
            <a:ext cx="7429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2.3.2 </a:t>
            </a:r>
            <a:r>
              <a:rPr lang="zh-CN" altLang="en-US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工具能力矩阵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11FF15B-3B48-ACD4-BAA7-E9012896C23D}"/>
              </a:ext>
            </a:extLst>
          </p:cNvPr>
          <p:cNvSpPr txBox="1"/>
          <p:nvPr/>
        </p:nvSpPr>
        <p:spPr>
          <a:xfrm>
            <a:off x="476250" y="1028700"/>
            <a:ext cx="7810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当前插件已注册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18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个工具。对外不需要把它们逐个背出来，更适合按“用户任务”分成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组讲。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AAABDED-65AB-212C-2ABA-E7EAF22DF231}"/>
              </a:ext>
            </a:extLst>
          </p:cNvPr>
          <p:cNvSpPr/>
          <p:nvPr/>
        </p:nvSpPr>
        <p:spPr>
          <a:xfrm>
            <a:off x="552450" y="1371600"/>
            <a:ext cx="3695700" cy="137160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A51B1B-BC79-08AD-482C-DBBD6AC96BF3}"/>
              </a:ext>
            </a:extLst>
          </p:cNvPr>
          <p:cNvSpPr txBox="1"/>
          <p:nvPr/>
        </p:nvSpPr>
        <p:spPr>
          <a:xfrm>
            <a:off x="666750" y="1466850"/>
            <a:ext cx="34671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A. </a:t>
            </a:r>
            <a:r>
              <a:rPr lang="zh-CN" altLang="en-US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身份与钱包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09C5A3-C1F4-1651-22E1-6A4EDC02D458}"/>
              </a:ext>
            </a:extLst>
          </p:cNvPr>
          <p:cNvSpPr txBox="1"/>
          <p:nvPr/>
        </p:nvSpPr>
        <p:spPr>
          <a:xfrm>
            <a:off x="666750" y="1771650"/>
            <a:ext cx="34671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stablepay_runtime_status</a:t>
            </a:r>
          </a:p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stablepay_create_local_wallet</a:t>
            </a:r>
          </a:p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stablepay_bind_existing_wallet</a:t>
            </a:r>
          </a:p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stablepay_register_local_did</a:t>
            </a:r>
            <a:endParaRPr lang="zh-CN" altLang="en-US" sz="1130">
              <a:solidFill>
                <a:srgbClr val="8E5427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230AE2-5C11-02DE-ABF6-529B23E694AD}"/>
              </a:ext>
            </a:extLst>
          </p:cNvPr>
          <p:cNvSpPr txBox="1"/>
          <p:nvPr/>
        </p:nvSpPr>
        <p:spPr>
          <a:xfrm>
            <a:off x="666750" y="2514600"/>
            <a:ext cx="3467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80">
                <a:solidFill>
                  <a:srgbClr val="57687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解决 </a:t>
            </a:r>
            <a:r>
              <a:rPr lang="en-US" altLang="zh-CN" sz="1080">
                <a:solidFill>
                  <a:srgbClr val="57687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080">
                <a:solidFill>
                  <a:srgbClr val="57687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拥有“可签名、可持有资产”的本地身份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CA08587-FD50-D0E3-1F00-BB94CD0A6EC6}"/>
              </a:ext>
            </a:extLst>
          </p:cNvPr>
          <p:cNvSpPr/>
          <p:nvPr/>
        </p:nvSpPr>
        <p:spPr>
          <a:xfrm>
            <a:off x="4476750" y="1371600"/>
            <a:ext cx="3695700" cy="137160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277E312-2925-ACC4-4A2C-18B4529E6F40}"/>
              </a:ext>
            </a:extLst>
          </p:cNvPr>
          <p:cNvSpPr txBox="1"/>
          <p:nvPr/>
        </p:nvSpPr>
        <p:spPr>
          <a:xfrm>
            <a:off x="4591050" y="1466850"/>
            <a:ext cx="34671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B. </a:t>
            </a:r>
            <a:r>
              <a:rPr lang="zh-CN" altLang="en-US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支付与策略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599C9E1-B5AA-5FD6-BC94-CEF3662F5AC4}"/>
              </a:ext>
            </a:extLst>
          </p:cNvPr>
          <p:cNvSpPr txBox="1"/>
          <p:nvPr/>
        </p:nvSpPr>
        <p:spPr>
          <a:xfrm>
            <a:off x="4591050" y="1771650"/>
            <a:ext cx="34671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stablepay_configure_payment_limits</a:t>
            </a:r>
          </a:p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stablepay_build_payment_policy</a:t>
            </a:r>
          </a:p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stablepay_pay_via_gateway</a:t>
            </a:r>
          </a:p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stablepay_query_balance</a:t>
            </a:r>
            <a:endParaRPr lang="zh-CN" altLang="en-US" sz="1130">
              <a:solidFill>
                <a:srgbClr val="8E5427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C90C91B-6B99-9A7D-68FE-8380E771BE3E}"/>
              </a:ext>
            </a:extLst>
          </p:cNvPr>
          <p:cNvSpPr txBox="1"/>
          <p:nvPr/>
        </p:nvSpPr>
        <p:spPr>
          <a:xfrm>
            <a:off x="4591050" y="2514600"/>
            <a:ext cx="3467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80">
                <a:solidFill>
                  <a:srgbClr val="57687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解决 </a:t>
            </a:r>
            <a:r>
              <a:rPr lang="en-US" altLang="zh-CN" sz="1080">
                <a:solidFill>
                  <a:srgbClr val="57687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080">
                <a:solidFill>
                  <a:srgbClr val="57687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在限额内自主支付，并知道自己还能付多少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AD3C42D-2E86-40E4-82C1-66DC7CC03019}"/>
              </a:ext>
            </a:extLst>
          </p:cNvPr>
          <p:cNvSpPr/>
          <p:nvPr/>
        </p:nvSpPr>
        <p:spPr>
          <a:xfrm>
            <a:off x="552450" y="2952750"/>
            <a:ext cx="3695700" cy="137160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601BF04-6E26-8206-4B37-53DC9E5E4A2F}"/>
              </a:ext>
            </a:extLst>
          </p:cNvPr>
          <p:cNvSpPr txBox="1"/>
          <p:nvPr/>
        </p:nvSpPr>
        <p:spPr>
          <a:xfrm>
            <a:off x="666750" y="3048000"/>
            <a:ext cx="34671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C. </a:t>
            </a:r>
            <a:r>
              <a:rPr lang="zh-CN" altLang="en-US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商家与验证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6BEB39-1414-EF62-26BE-983B6B569D50}"/>
              </a:ext>
            </a:extLst>
          </p:cNvPr>
          <p:cNvSpPr txBox="1"/>
          <p:nvPr/>
        </p:nvSpPr>
        <p:spPr>
          <a:xfrm>
            <a:off x="666750" y="3352800"/>
            <a:ext cx="34671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stablepay_generate_verify_link</a:t>
            </a:r>
          </a:p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stablepay_get_verify_status</a:t>
            </a:r>
          </a:p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stablepay_query_sales</a:t>
            </a:r>
          </a:p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stablepay_merchant_buy_product</a:t>
            </a:r>
            <a:endParaRPr lang="zh-CN" altLang="en-US" sz="1130">
              <a:solidFill>
                <a:srgbClr val="8E5427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7118636-B989-50FA-3CE7-C17043718647}"/>
              </a:ext>
            </a:extLst>
          </p:cNvPr>
          <p:cNvSpPr txBox="1"/>
          <p:nvPr/>
        </p:nvSpPr>
        <p:spPr>
          <a:xfrm>
            <a:off x="666750" y="4095750"/>
            <a:ext cx="3467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80">
                <a:solidFill>
                  <a:srgbClr val="57687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解决用户实名门槛、商家接入、已购验证与销售查询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BC942E3-17F0-6A2B-BCBF-1CD734CB80F0}"/>
              </a:ext>
            </a:extLst>
          </p:cNvPr>
          <p:cNvSpPr/>
          <p:nvPr/>
        </p:nvSpPr>
        <p:spPr>
          <a:xfrm>
            <a:off x="4476750" y="2952750"/>
            <a:ext cx="3695700" cy="137160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B41C6BB-F0F4-0ACE-717A-2491C4F6BFE3}"/>
              </a:ext>
            </a:extLst>
          </p:cNvPr>
          <p:cNvSpPr txBox="1"/>
          <p:nvPr/>
        </p:nvSpPr>
        <p:spPr>
          <a:xfrm>
            <a:off x="4591050" y="3048000"/>
            <a:ext cx="34671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D. </a:t>
            </a:r>
            <a:r>
              <a:rPr lang="zh-CN" altLang="en-US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引导与运维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D530C7D-3293-9AC4-952B-82E80396C516}"/>
              </a:ext>
            </a:extLst>
          </p:cNvPr>
          <p:cNvSpPr txBox="1"/>
          <p:nvPr/>
        </p:nvSpPr>
        <p:spPr>
          <a:xfrm>
            <a:off x="4591050" y="3352800"/>
            <a:ext cx="34671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stablepay_doctor</a:t>
            </a:r>
          </a:p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stablepay_onboard</a:t>
            </a:r>
          </a:p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stablepay_operating_manual</a:t>
            </a:r>
          </a:p>
          <a:p>
            <a:r>
              <a:rPr lang="en-US" altLang="zh-CN" sz="1130">
                <a:solidFill>
                  <a:srgbClr val="8E5427"/>
                </a:solidFill>
                <a:latin typeface="Consolas" panose="020B0609020204030204" pitchFamily="49" charset="0"/>
              </a:rPr>
              <a:t>stablepay_merchant_get_product</a:t>
            </a:r>
            <a:endParaRPr lang="zh-CN" altLang="en-US" sz="1130">
              <a:solidFill>
                <a:srgbClr val="8E5427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E3FCEC9-8A8F-27DB-DC39-77684CE5FC4C}"/>
              </a:ext>
            </a:extLst>
          </p:cNvPr>
          <p:cNvSpPr txBox="1"/>
          <p:nvPr/>
        </p:nvSpPr>
        <p:spPr>
          <a:xfrm>
            <a:off x="4591050" y="4095750"/>
            <a:ext cx="3467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080">
                <a:solidFill>
                  <a:srgbClr val="57687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解决首次初始化、状态恢复、故障诊断和日常操作说明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6D5016-E900-0E08-FFC9-7CFB93993623}"/>
              </a:ext>
            </a:extLst>
          </p:cNvPr>
          <p:cNvSpPr txBox="1"/>
          <p:nvPr/>
        </p:nvSpPr>
        <p:spPr>
          <a:xfrm>
            <a:off x="685800" y="4457700"/>
            <a:ext cx="7334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讲法建议：不要说“我们有 </a:t>
            </a:r>
            <a:r>
              <a:rPr lang="en-US" altLang="zh-CN" sz="125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18 </a:t>
            </a:r>
            <a:r>
              <a:rPr lang="zh-CN" altLang="en-US" sz="125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个工具”，而是说“我们把 </a:t>
            </a:r>
            <a:r>
              <a:rPr lang="en-US" altLang="zh-CN" sz="125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25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支付拆成了四类能力，用户只在对应任务里看到必要工具”。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6A37D5-C7C9-3E8D-4BFD-80709973359C}"/>
              </a:ext>
            </a:extLst>
          </p:cNvPr>
          <p:cNvSpPr txBox="1"/>
          <p:nvPr/>
        </p:nvSpPr>
        <p:spPr>
          <a:xfrm>
            <a:off x="419100" y="552450"/>
            <a:ext cx="7429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2.3.3 Onboarding </a:t>
            </a:r>
            <a:r>
              <a:rPr lang="zh-CN" altLang="en-US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状态机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F5E68E-F92F-2EE4-1020-7E4C4F15B2E4}"/>
              </a:ext>
            </a:extLst>
          </p:cNvPr>
          <p:cNvSpPr txBox="1"/>
          <p:nvPr/>
        </p:nvSpPr>
        <p:spPr>
          <a:xfrm>
            <a:off x="457200" y="1028700"/>
            <a:ext cx="7810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初始化不是让用户一次填完所有配置，而是按状态机逐步推进；每一步先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doctor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，再前进。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4D63D35-44C5-6584-C7B0-08EA0803459E}"/>
              </a:ext>
            </a:extLst>
          </p:cNvPr>
          <p:cNvSpPr/>
          <p:nvPr/>
        </p:nvSpPr>
        <p:spPr>
          <a:xfrm>
            <a:off x="495300" y="1619250"/>
            <a:ext cx="146685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77C593-F4D2-88C8-B525-FD972D7E00BF}"/>
              </a:ext>
            </a:extLst>
          </p:cNvPr>
          <p:cNvSpPr txBox="1"/>
          <p:nvPr/>
        </p:nvSpPr>
        <p:spPr>
          <a:xfrm>
            <a:off x="590550" y="169545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1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19BB08-D5B5-C428-FB65-22D41D68C142}"/>
              </a:ext>
            </a:extLst>
          </p:cNvPr>
          <p:cNvSpPr txBox="1"/>
          <p:nvPr/>
        </p:nvSpPr>
        <p:spPr>
          <a:xfrm>
            <a:off x="895350" y="1695450"/>
            <a:ext cx="952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local_config</a:t>
            </a:r>
            <a:endParaRPr lang="zh-CN" altLang="en-US" sz="1600" b="1">
              <a:solidFill>
                <a:srgbClr val="2E415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F9E755-401B-DE6A-DB1D-12E1DBF2DF0E}"/>
              </a:ext>
            </a:extLst>
          </p:cNvPr>
          <p:cNvSpPr txBox="1"/>
          <p:nvPr/>
        </p:nvSpPr>
        <p:spPr>
          <a:xfrm>
            <a:off x="609600" y="1981200"/>
            <a:ext cx="123825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确认本地配置目录、插件运行时和基础文件路径可用。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E100CA5-80D5-2421-F4B5-4F5FF75FCE37}"/>
              </a:ext>
            </a:extLst>
          </p:cNvPr>
          <p:cNvSpPr/>
          <p:nvPr/>
        </p:nvSpPr>
        <p:spPr>
          <a:xfrm>
            <a:off x="2133600" y="1619250"/>
            <a:ext cx="146685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CD174E-7B61-369F-154B-3CE8DE9E685A}"/>
              </a:ext>
            </a:extLst>
          </p:cNvPr>
          <p:cNvSpPr txBox="1"/>
          <p:nvPr/>
        </p:nvSpPr>
        <p:spPr>
          <a:xfrm>
            <a:off x="2228850" y="169545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2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182B8F-9E52-CE4F-2F7F-E391B4B48566}"/>
              </a:ext>
            </a:extLst>
          </p:cNvPr>
          <p:cNvSpPr txBox="1"/>
          <p:nvPr/>
        </p:nvSpPr>
        <p:spPr>
          <a:xfrm>
            <a:off x="2533650" y="1695450"/>
            <a:ext cx="952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master_key</a:t>
            </a:r>
            <a:endParaRPr lang="zh-CN" altLang="en-US" sz="1600" b="1">
              <a:solidFill>
                <a:srgbClr val="2E415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091E0D-99C5-56DF-5B83-E6090C196359}"/>
              </a:ext>
            </a:extLst>
          </p:cNvPr>
          <p:cNvSpPr txBox="1"/>
          <p:nvPr/>
        </p:nvSpPr>
        <p:spPr>
          <a:xfrm>
            <a:off x="2247900" y="1981200"/>
            <a:ext cx="123825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生成或恢复 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master key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，后续本地状态都靠它加密。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C90FAF-369F-2BA2-BD7C-3A062790E6D7}"/>
              </a:ext>
            </a:extLst>
          </p:cNvPr>
          <p:cNvSpPr/>
          <p:nvPr/>
        </p:nvSpPr>
        <p:spPr>
          <a:xfrm>
            <a:off x="3771900" y="1619250"/>
            <a:ext cx="146685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4C87C6-4817-822F-6B95-183516ACC565}"/>
              </a:ext>
            </a:extLst>
          </p:cNvPr>
          <p:cNvSpPr txBox="1"/>
          <p:nvPr/>
        </p:nvSpPr>
        <p:spPr>
          <a:xfrm>
            <a:off x="3867150" y="169545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3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7E78CF-53FA-56AE-62F7-C4D5884467D3}"/>
              </a:ext>
            </a:extLst>
          </p:cNvPr>
          <p:cNvSpPr txBox="1"/>
          <p:nvPr/>
        </p:nvSpPr>
        <p:spPr>
          <a:xfrm>
            <a:off x="4171950" y="1695450"/>
            <a:ext cx="952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backend</a:t>
            </a:r>
            <a:endParaRPr lang="zh-CN" altLang="en-US" sz="1600" b="1">
              <a:solidFill>
                <a:srgbClr val="2E415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0ACA819-267C-C970-4A72-AD264D245724}"/>
              </a:ext>
            </a:extLst>
          </p:cNvPr>
          <p:cNvSpPr txBox="1"/>
          <p:nvPr/>
        </p:nvSpPr>
        <p:spPr>
          <a:xfrm>
            <a:off x="3886200" y="1981200"/>
            <a:ext cx="123825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确认网关、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DID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、验证等后端地址配置正确。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39C22EB-0235-B994-FBED-1D67B1720856}"/>
              </a:ext>
            </a:extLst>
          </p:cNvPr>
          <p:cNvSpPr/>
          <p:nvPr/>
        </p:nvSpPr>
        <p:spPr>
          <a:xfrm>
            <a:off x="5410200" y="1619250"/>
            <a:ext cx="146685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DCAE102-C3CF-19ED-48C0-FC5E47D5C2CF}"/>
              </a:ext>
            </a:extLst>
          </p:cNvPr>
          <p:cNvSpPr txBox="1"/>
          <p:nvPr/>
        </p:nvSpPr>
        <p:spPr>
          <a:xfrm>
            <a:off x="5505450" y="169545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4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64B0B96-D9EA-2CF4-3817-BFD5F7096BD1}"/>
              </a:ext>
            </a:extLst>
          </p:cNvPr>
          <p:cNvSpPr txBox="1"/>
          <p:nvPr/>
        </p:nvSpPr>
        <p:spPr>
          <a:xfrm>
            <a:off x="5810250" y="1695450"/>
            <a:ext cx="952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wallet</a:t>
            </a:r>
            <a:endParaRPr lang="zh-CN" altLang="en-US" sz="1600" b="1">
              <a:solidFill>
                <a:srgbClr val="2E415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ED028D7-83A6-2E09-0AC5-693BC1FFA24A}"/>
              </a:ext>
            </a:extLst>
          </p:cNvPr>
          <p:cNvSpPr txBox="1"/>
          <p:nvPr/>
        </p:nvSpPr>
        <p:spPr>
          <a:xfrm>
            <a:off x="5524500" y="1981200"/>
            <a:ext cx="123825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创建新钱包或绑定已有钱包，进入真正可签名状态。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14B1576-78D6-3A15-E3B1-122922F5697E}"/>
              </a:ext>
            </a:extLst>
          </p:cNvPr>
          <p:cNvSpPr/>
          <p:nvPr/>
        </p:nvSpPr>
        <p:spPr>
          <a:xfrm>
            <a:off x="7048500" y="1619250"/>
            <a:ext cx="146685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CB93037-251D-0BFB-75CB-FC0D8F7F649D}"/>
              </a:ext>
            </a:extLst>
          </p:cNvPr>
          <p:cNvSpPr txBox="1"/>
          <p:nvPr/>
        </p:nvSpPr>
        <p:spPr>
          <a:xfrm>
            <a:off x="7143750" y="169545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5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6610B35-C53D-D139-92A4-17152916A987}"/>
              </a:ext>
            </a:extLst>
          </p:cNvPr>
          <p:cNvSpPr txBox="1"/>
          <p:nvPr/>
        </p:nvSpPr>
        <p:spPr>
          <a:xfrm>
            <a:off x="7448550" y="1695450"/>
            <a:ext cx="952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did</a:t>
            </a:r>
            <a:endParaRPr lang="zh-CN" altLang="en-US" sz="1600" b="1">
              <a:solidFill>
                <a:srgbClr val="2E415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D1F6B61-5BF0-42EA-C9F6-04A1C6D6B231}"/>
              </a:ext>
            </a:extLst>
          </p:cNvPr>
          <p:cNvSpPr txBox="1"/>
          <p:nvPr/>
        </p:nvSpPr>
        <p:spPr>
          <a:xfrm>
            <a:off x="7162800" y="1981200"/>
            <a:ext cx="123825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把本地钱包注册为 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did:solana 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身份，绑定链上公钥。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43F157E-3F8F-33BE-A59B-2CCE85533D1C}"/>
              </a:ext>
            </a:extLst>
          </p:cNvPr>
          <p:cNvSpPr/>
          <p:nvPr/>
        </p:nvSpPr>
        <p:spPr>
          <a:xfrm>
            <a:off x="1333500" y="2895600"/>
            <a:ext cx="177165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08A4B9C-3FFB-23EA-C22D-BDD75E51C114}"/>
              </a:ext>
            </a:extLst>
          </p:cNvPr>
          <p:cNvSpPr txBox="1"/>
          <p:nvPr/>
        </p:nvSpPr>
        <p:spPr>
          <a:xfrm>
            <a:off x="1428750" y="297180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6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B547C12-D71B-AF2B-E61F-22BE1C4F5912}"/>
              </a:ext>
            </a:extLst>
          </p:cNvPr>
          <p:cNvSpPr txBox="1"/>
          <p:nvPr/>
        </p:nvSpPr>
        <p:spPr>
          <a:xfrm>
            <a:off x="1733550" y="2971800"/>
            <a:ext cx="1257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payment_limits</a:t>
            </a:r>
            <a:endParaRPr lang="zh-CN" altLang="en-US" sz="1600" b="1">
              <a:solidFill>
                <a:srgbClr val="2E415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511713-EE54-64BB-EE0D-7E30B8A061F8}"/>
              </a:ext>
            </a:extLst>
          </p:cNvPr>
          <p:cNvSpPr txBox="1"/>
          <p:nvPr/>
        </p:nvSpPr>
        <p:spPr>
          <a:xfrm>
            <a:off x="1447800" y="3257550"/>
            <a:ext cx="154305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配置单笔限额和自动扣款阈值，给 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画安全边界。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89F11AB-A1DC-C4E5-FDFC-7C9F155314C0}"/>
              </a:ext>
            </a:extLst>
          </p:cNvPr>
          <p:cNvSpPr/>
          <p:nvPr/>
        </p:nvSpPr>
        <p:spPr>
          <a:xfrm>
            <a:off x="3486150" y="2895600"/>
            <a:ext cx="203835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A2F26EC-716F-D555-0045-E880F9476455}"/>
              </a:ext>
            </a:extLst>
          </p:cNvPr>
          <p:cNvSpPr txBox="1"/>
          <p:nvPr/>
        </p:nvSpPr>
        <p:spPr>
          <a:xfrm>
            <a:off x="3581400" y="297180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7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E373830-82FA-69F3-5F00-D4BF70809956}"/>
              </a:ext>
            </a:extLst>
          </p:cNvPr>
          <p:cNvSpPr txBox="1"/>
          <p:nvPr/>
        </p:nvSpPr>
        <p:spPr>
          <a:xfrm>
            <a:off x="3886200" y="2971800"/>
            <a:ext cx="152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x_verification</a:t>
            </a:r>
            <a:endParaRPr lang="zh-CN" altLang="en-US" sz="1600" b="1">
              <a:solidFill>
                <a:srgbClr val="2E415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FDF6A2A-EC87-9061-209D-61D43F49EDBC}"/>
              </a:ext>
            </a:extLst>
          </p:cNvPr>
          <p:cNvSpPr txBox="1"/>
          <p:nvPr/>
        </p:nvSpPr>
        <p:spPr>
          <a:xfrm>
            <a:off x="3600450" y="3257550"/>
            <a:ext cx="180975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通过验证链接完成 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 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绑定和奖励领取闭环。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E25B241-165C-88E9-5766-8FCA746A0E69}"/>
              </a:ext>
            </a:extLst>
          </p:cNvPr>
          <p:cNvSpPr/>
          <p:nvPr/>
        </p:nvSpPr>
        <p:spPr>
          <a:xfrm>
            <a:off x="5924550" y="2895600"/>
            <a:ext cx="177165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73A444D-3F9E-D760-6DCD-C4B80FF5C9F6}"/>
              </a:ext>
            </a:extLst>
          </p:cNvPr>
          <p:cNvSpPr txBox="1"/>
          <p:nvPr/>
        </p:nvSpPr>
        <p:spPr>
          <a:xfrm>
            <a:off x="6019800" y="297180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8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07ED628-1853-0F52-8A8F-6F56C2F9BAD4}"/>
              </a:ext>
            </a:extLst>
          </p:cNvPr>
          <p:cNvSpPr txBox="1"/>
          <p:nvPr/>
        </p:nvSpPr>
        <p:spPr>
          <a:xfrm>
            <a:off x="6324600" y="2971800"/>
            <a:ext cx="1257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balance_or_funding</a:t>
            </a:r>
            <a:endParaRPr lang="zh-CN" altLang="en-US" sz="1600" b="1">
              <a:solidFill>
                <a:srgbClr val="2E415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6C002D7-7487-A35A-586A-1C19CDDC3578}"/>
              </a:ext>
            </a:extLst>
          </p:cNvPr>
          <p:cNvSpPr txBox="1"/>
          <p:nvPr/>
        </p:nvSpPr>
        <p:spPr>
          <a:xfrm>
            <a:off x="6038850" y="3257550"/>
            <a:ext cx="154305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检查余额是否足以购买，必要时引导充值或领 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 USDC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3E740FEC-1D24-619E-E0DE-E3F64A86EBEC}"/>
              </a:ext>
            </a:extLst>
          </p:cNvPr>
          <p:cNvSpPr/>
          <p:nvPr/>
        </p:nvSpPr>
        <p:spPr>
          <a:xfrm>
            <a:off x="1962150" y="2038350"/>
            <a:ext cx="171450" cy="95250"/>
          </a:xfrm>
          <a:prstGeom prst="rightArrow">
            <a:avLst/>
          </a:prstGeom>
          <a:solidFill>
            <a:srgbClr val="8DB0C8"/>
          </a:solidFill>
          <a:ln>
            <a:solidFill>
              <a:srgbClr val="8DB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BD6134CE-4731-14A6-4B71-F2E022395AEA}"/>
              </a:ext>
            </a:extLst>
          </p:cNvPr>
          <p:cNvSpPr/>
          <p:nvPr/>
        </p:nvSpPr>
        <p:spPr>
          <a:xfrm>
            <a:off x="3600450" y="2038350"/>
            <a:ext cx="171450" cy="95250"/>
          </a:xfrm>
          <a:prstGeom prst="rightArrow">
            <a:avLst/>
          </a:prstGeom>
          <a:solidFill>
            <a:srgbClr val="8DB0C8"/>
          </a:solidFill>
          <a:ln>
            <a:solidFill>
              <a:srgbClr val="8DB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2AFB3282-4902-FD8C-CD76-475163FA46D6}"/>
              </a:ext>
            </a:extLst>
          </p:cNvPr>
          <p:cNvSpPr/>
          <p:nvPr/>
        </p:nvSpPr>
        <p:spPr>
          <a:xfrm>
            <a:off x="5238750" y="2038350"/>
            <a:ext cx="171450" cy="95250"/>
          </a:xfrm>
          <a:prstGeom prst="rightArrow">
            <a:avLst/>
          </a:prstGeom>
          <a:solidFill>
            <a:srgbClr val="8DB0C8"/>
          </a:solidFill>
          <a:ln>
            <a:solidFill>
              <a:srgbClr val="8DB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0C6B690F-9D02-10BB-192B-3A514C7FC340}"/>
              </a:ext>
            </a:extLst>
          </p:cNvPr>
          <p:cNvSpPr/>
          <p:nvPr/>
        </p:nvSpPr>
        <p:spPr>
          <a:xfrm>
            <a:off x="6877050" y="2038350"/>
            <a:ext cx="171450" cy="95250"/>
          </a:xfrm>
          <a:prstGeom prst="rightArrow">
            <a:avLst/>
          </a:prstGeom>
          <a:solidFill>
            <a:srgbClr val="8DB0C8"/>
          </a:solidFill>
          <a:ln>
            <a:solidFill>
              <a:srgbClr val="8DB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EB3BF1DF-5454-10FC-8F1A-5EE954E629F4}"/>
              </a:ext>
            </a:extLst>
          </p:cNvPr>
          <p:cNvSpPr/>
          <p:nvPr/>
        </p:nvSpPr>
        <p:spPr>
          <a:xfrm>
            <a:off x="3162300" y="3314700"/>
            <a:ext cx="209550" cy="95250"/>
          </a:xfrm>
          <a:prstGeom prst="rightArrow">
            <a:avLst/>
          </a:prstGeom>
          <a:solidFill>
            <a:srgbClr val="8DB0C8"/>
          </a:solidFill>
          <a:ln>
            <a:solidFill>
              <a:srgbClr val="8DB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32511C5C-7EEA-4881-08F6-966CEB62AD2D}"/>
              </a:ext>
            </a:extLst>
          </p:cNvPr>
          <p:cNvSpPr/>
          <p:nvPr/>
        </p:nvSpPr>
        <p:spPr>
          <a:xfrm>
            <a:off x="5581650" y="3314700"/>
            <a:ext cx="209550" cy="95250"/>
          </a:xfrm>
          <a:prstGeom prst="rightArrow">
            <a:avLst/>
          </a:prstGeom>
          <a:solidFill>
            <a:srgbClr val="8DB0C8"/>
          </a:solidFill>
          <a:ln>
            <a:solidFill>
              <a:srgbClr val="8DB0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3B28C925-DAA0-52E0-2779-4541450BA0BD}"/>
              </a:ext>
            </a:extLst>
          </p:cNvPr>
          <p:cNvSpPr/>
          <p:nvPr/>
        </p:nvSpPr>
        <p:spPr>
          <a:xfrm>
            <a:off x="704850" y="4114800"/>
            <a:ext cx="7334250" cy="438150"/>
          </a:xfrm>
          <a:prstGeom prst="roundRect">
            <a:avLst/>
          </a:prstGeom>
          <a:solidFill>
            <a:srgbClr val="FBF5EE"/>
          </a:solidFill>
          <a:ln w="9525">
            <a:solidFill>
              <a:srgbClr val="EEDA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7032AF0-F0E2-027A-A83C-C80C566564D6}"/>
              </a:ext>
            </a:extLst>
          </p:cNvPr>
          <p:cNvSpPr txBox="1"/>
          <p:nvPr/>
        </p:nvSpPr>
        <p:spPr>
          <a:xfrm>
            <a:off x="876300" y="4248150"/>
            <a:ext cx="69913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>
                <a:solidFill>
                  <a:srgbClr val="7C55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状态恢复小巧思：</a:t>
            </a:r>
            <a:r>
              <a:rPr lang="en-US" altLang="zh-CN" sz="1250">
                <a:solidFill>
                  <a:srgbClr val="7C55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stablepay_onboard </a:t>
            </a:r>
            <a:r>
              <a:rPr lang="zh-CN" altLang="en-US" sz="1250">
                <a:solidFill>
                  <a:srgbClr val="7C55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返回 </a:t>
            </a:r>
            <a:r>
              <a:rPr lang="en-US" altLang="zh-CN" sz="1250">
                <a:solidFill>
                  <a:srgbClr val="7C55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onboard_session_id</a:t>
            </a:r>
            <a:r>
              <a:rPr lang="zh-CN" altLang="en-US" sz="1250">
                <a:solidFill>
                  <a:srgbClr val="7C55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z="1250">
                <a:solidFill>
                  <a:srgbClr val="7C55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24 </a:t>
            </a:r>
            <a:r>
              <a:rPr lang="zh-CN" altLang="en-US" sz="1250">
                <a:solidFill>
                  <a:srgbClr val="7C55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小时内可继续上次进度，不怕 </a:t>
            </a:r>
            <a:r>
              <a:rPr lang="en-US" altLang="zh-CN" sz="1250">
                <a:solidFill>
                  <a:srgbClr val="7C55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LLM </a:t>
            </a:r>
            <a:r>
              <a:rPr lang="zh-CN" altLang="en-US" sz="1250">
                <a:solidFill>
                  <a:srgbClr val="7C55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上下文被压缩。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7C1D2B-54AF-BFD4-BD68-5D3F4EBBA7DE}"/>
              </a:ext>
            </a:extLst>
          </p:cNvPr>
          <p:cNvSpPr txBox="1"/>
          <p:nvPr/>
        </p:nvSpPr>
        <p:spPr>
          <a:xfrm>
            <a:off x="419100" y="552450"/>
            <a:ext cx="7429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2.3.4 Agent </a:t>
            </a:r>
            <a:r>
              <a:rPr lang="zh-CN" altLang="en-US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支付全链路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9F2464-C375-9B21-5EAA-9CA8B3EA2024}"/>
              </a:ext>
            </a:extLst>
          </p:cNvPr>
          <p:cNvSpPr txBox="1"/>
          <p:nvPr/>
        </p:nvSpPr>
        <p:spPr>
          <a:xfrm>
            <a:off x="457200" y="1028700"/>
            <a:ext cx="78105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这一页建议用图讲。核心逻辑是：商家先返回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402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，客户端本地签名后重试，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StablePay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后端负责验签、结算、写购买记录。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E4C445A-1FD8-A496-D7C6-39EECF2D56C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1485900"/>
            <a:ext cx="8096250" cy="29908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D0449D-B21E-54B3-7C64-BD6ABD9204D0}"/>
              </a:ext>
            </a:extLst>
          </p:cNvPr>
          <p:cNvSpPr txBox="1"/>
          <p:nvPr/>
        </p:nvSpPr>
        <p:spPr>
          <a:xfrm>
            <a:off x="419100" y="552450"/>
            <a:ext cx="7429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2.3.5 </a:t>
            </a:r>
            <a:r>
              <a:rPr lang="zh-CN" altLang="en-US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插件安全设计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AAA42E-15B9-738D-AB45-27DB82C682F6}"/>
              </a:ext>
            </a:extLst>
          </p:cNvPr>
          <p:cNvSpPr txBox="1"/>
          <p:nvPr/>
        </p:nvSpPr>
        <p:spPr>
          <a:xfrm>
            <a:off x="457200" y="1028700"/>
            <a:ext cx="7810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真正难的不是“把钱付出去”，而是“让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LLM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在正确边界内付钱，并在失败时不会误判”。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661FFFB-4549-37C3-09ED-651F3F69D9E8}"/>
              </a:ext>
            </a:extLst>
          </p:cNvPr>
          <p:cNvSpPr/>
          <p:nvPr/>
        </p:nvSpPr>
        <p:spPr>
          <a:xfrm>
            <a:off x="533400" y="1466850"/>
            <a:ext cx="1847850" cy="27622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0D4FDA2-6C80-5366-E649-708FBAAE762F}"/>
              </a:ext>
            </a:extLst>
          </p:cNvPr>
          <p:cNvSpPr/>
          <p:nvPr/>
        </p:nvSpPr>
        <p:spPr>
          <a:xfrm>
            <a:off x="2571750" y="1466850"/>
            <a:ext cx="1847850" cy="27622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52A6FEA-F0F8-01CC-A7C7-4D17AFEE6B2A}"/>
              </a:ext>
            </a:extLst>
          </p:cNvPr>
          <p:cNvSpPr/>
          <p:nvPr/>
        </p:nvSpPr>
        <p:spPr>
          <a:xfrm>
            <a:off x="4610100" y="1466850"/>
            <a:ext cx="1847850" cy="27622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FC0C524-7CD4-2D8C-5476-112EC3139F54}"/>
              </a:ext>
            </a:extLst>
          </p:cNvPr>
          <p:cNvSpPr/>
          <p:nvPr/>
        </p:nvSpPr>
        <p:spPr>
          <a:xfrm>
            <a:off x="6648450" y="1466850"/>
            <a:ext cx="1847850" cy="2762250"/>
          </a:xfrm>
          <a:prstGeom prst="roundRect">
            <a:avLst/>
          </a:prstGeom>
          <a:solidFill>
            <a:srgbClr val="FBF5EE"/>
          </a:solidFill>
          <a:ln w="9525">
            <a:solidFill>
              <a:srgbClr val="EEDA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A01869-0948-40A9-B783-A0F977E3989B}"/>
              </a:ext>
            </a:extLst>
          </p:cNvPr>
          <p:cNvSpPr txBox="1"/>
          <p:nvPr/>
        </p:nvSpPr>
        <p:spPr>
          <a:xfrm>
            <a:off x="685800" y="1638300"/>
            <a:ext cx="152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失败显式返回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37A888-02B5-8AC4-A493-413C1A7F8B13}"/>
              </a:ext>
            </a:extLst>
          </p:cNvPr>
          <p:cNvSpPr txBox="1"/>
          <p:nvPr/>
        </p:nvSpPr>
        <p:spPr>
          <a:xfrm>
            <a:off x="685800" y="1981200"/>
            <a:ext cx="15240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settled.ok=false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时直接返回 </a:t>
            </a: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failed / policy_denied / manual_confirmation_required</a:t>
            </a:r>
          </a:p>
          <a:p>
            <a:pPr>
              <a:spcAft>
                <a:spcPts val="400"/>
              </a:spcAft>
            </a:pP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避免模型把“有返回”误解成“支付成功”</a:t>
            </a:r>
          </a:p>
          <a:p>
            <a:pPr>
              <a:spcAft>
                <a:spcPts val="400"/>
              </a:spcAft>
            </a:pP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把工具层的失败语义暴露给宿主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4D2382-38E2-33FD-8961-593055F11BBF}"/>
              </a:ext>
            </a:extLst>
          </p:cNvPr>
          <p:cNvSpPr txBox="1"/>
          <p:nvPr/>
        </p:nvSpPr>
        <p:spPr>
          <a:xfrm>
            <a:off x="2724150" y="1638300"/>
            <a:ext cx="152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大额二次确认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2B12B5-BDFE-040B-BB21-77B8DAF6D11C}"/>
              </a:ext>
            </a:extLst>
          </p:cNvPr>
          <p:cNvSpPr txBox="1"/>
          <p:nvPr/>
        </p:nvSpPr>
        <p:spPr>
          <a:xfrm>
            <a:off x="2724150" y="1981200"/>
            <a:ext cx="15240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超过 </a:t>
            </a: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single_purchase_limit_usdc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或 </a:t>
            </a: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auto_purchase_threshold_usdc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必须确认</a:t>
            </a:r>
          </a:p>
          <a:p>
            <a:pPr>
              <a:spcAft>
                <a:spcPts val="400"/>
              </a:spcAft>
            </a:pP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没有 </a:t>
            </a: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confirm_over_threshold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参数就拒签</a:t>
            </a:r>
          </a:p>
          <a:p>
            <a:pPr>
              <a:spcAft>
                <a:spcPts val="400"/>
              </a:spcAft>
            </a:pP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签名前后各做一次策略门校验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055321-C238-172B-B7C2-51BA714855B0}"/>
              </a:ext>
            </a:extLst>
          </p:cNvPr>
          <p:cNvSpPr txBox="1"/>
          <p:nvPr/>
        </p:nvSpPr>
        <p:spPr>
          <a:xfrm>
            <a:off x="4762500" y="1638300"/>
            <a:ext cx="152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本地状态加密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0BFD82-F832-94A4-1920-B2AEDB72BEFA}"/>
              </a:ext>
            </a:extLst>
          </p:cNvPr>
          <p:cNvSpPr txBox="1"/>
          <p:nvPr/>
        </p:nvSpPr>
        <p:spPr>
          <a:xfrm>
            <a:off x="4762500" y="1981200"/>
            <a:ext cx="15240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master key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默认存在 </a:t>
            </a: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~/.stablepay-openclaw/master.key</a:t>
            </a:r>
          </a:p>
          <a:p>
            <a:pPr>
              <a:spcAft>
                <a:spcPts val="400"/>
              </a:spcAft>
            </a:pP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state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文件用 </a:t>
            </a: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AES-256-GCM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加密</a:t>
            </a:r>
          </a:p>
          <a:p>
            <a:pPr>
              <a:spcAft>
                <a:spcPts val="400"/>
              </a:spcAft>
            </a:pP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debug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日志走 </a:t>
            </a: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stderr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，不污染工具 </a:t>
            </a: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stdout</a:t>
            </a:r>
            <a:endParaRPr lang="zh-CN" altLang="en-US" sz="1250">
              <a:solidFill>
                <a:srgbClr val="4C4C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8DAAB94-D30A-352C-1478-C8686C580546}"/>
              </a:ext>
            </a:extLst>
          </p:cNvPr>
          <p:cNvSpPr txBox="1"/>
          <p:nvPr/>
        </p:nvSpPr>
        <p:spPr>
          <a:xfrm>
            <a:off x="6800850" y="1638300"/>
            <a:ext cx="152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7C55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质量保障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9C300A-5601-F051-1F38-8885A006D4B6}"/>
              </a:ext>
            </a:extLst>
          </p:cNvPr>
          <p:cNvSpPr txBox="1"/>
          <p:nvPr/>
        </p:nvSpPr>
        <p:spPr>
          <a:xfrm>
            <a:off x="6800850" y="1981200"/>
            <a:ext cx="1524000" cy="171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eval trace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记录工具选择准确率、参数准确率、任务完成率</a:t>
            </a:r>
          </a:p>
          <a:p>
            <a:pPr>
              <a:spcAft>
                <a:spcPts val="400"/>
              </a:spcAft>
            </a:pP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jargon leak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检测避免把底层术语暴露给用户</a:t>
            </a:r>
          </a:p>
          <a:p>
            <a:pPr>
              <a:spcAft>
                <a:spcPts val="400"/>
              </a:spcAft>
            </a:pPr>
            <a:r>
              <a:rPr lang="en-US" altLang="zh-CN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5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支付工具不是“能用就行”，还要评估体验与安全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49277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810156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最终成果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04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47A569F8-1350-8ED6-7581-06F41420CF9A}"/>
              </a:ext>
            </a:extLst>
          </p:cNvPr>
          <p:cNvSpPr txBox="1"/>
          <p:nvPr/>
        </p:nvSpPr>
        <p:spPr>
          <a:xfrm>
            <a:off x="419100" y="552450"/>
            <a:ext cx="7429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 </a:t>
            </a:r>
            <a:r>
              <a:rPr lang="zh-CN" altLang="en-US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最终成果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C7CE63-09B2-1C2B-0AE3-1D6FCA269144}"/>
              </a:ext>
            </a:extLst>
          </p:cNvPr>
          <p:cNvSpPr/>
          <p:nvPr/>
        </p:nvSpPr>
        <p:spPr>
          <a:xfrm>
            <a:off x="590550" y="1257300"/>
            <a:ext cx="1009650" cy="228600"/>
          </a:xfrm>
          <a:prstGeom prst="rect">
            <a:avLst/>
          </a:prstGeom>
          <a:solidFill>
            <a:srgbClr val="0B12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成果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2928AE-871E-BDD0-C96C-D0AF965C8F73}"/>
              </a:ext>
            </a:extLst>
          </p:cNvPr>
          <p:cNvSpPr txBox="1"/>
          <p:nvPr/>
        </p:nvSpPr>
        <p:spPr>
          <a:xfrm>
            <a:off x="590550" y="1657350"/>
            <a:ext cx="72390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我们不只做了一个 </a:t>
            </a:r>
            <a:r>
              <a:rPr lang="en-US" altLang="zh-CN" sz="26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demo</a:t>
            </a:r>
            <a:r>
              <a:rPr lang="zh-CN" altLang="en-US" sz="26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，而是跑通了“用户用得上、商家接得进、后端撑得住”的三条结果链路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6B044C-FCB5-64FB-44F8-D4C9E11E9FD2}"/>
              </a:ext>
            </a:extLst>
          </p:cNvPr>
          <p:cNvSpPr txBox="1"/>
          <p:nvPr/>
        </p:nvSpPr>
        <p:spPr>
          <a:xfrm>
            <a:off x="590550" y="2514600"/>
            <a:ext cx="72771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37445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这一部分建议按用户侧、开发者侧、平台运行侧三页展开，让老板一眼看到成果不是停留在某个单点技术演示。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03AC570-9864-7870-BCAC-F71FB3B1611F}"/>
              </a:ext>
            </a:extLst>
          </p:cNvPr>
          <p:cNvSpPr/>
          <p:nvPr/>
        </p:nvSpPr>
        <p:spPr>
          <a:xfrm>
            <a:off x="685800" y="3219450"/>
            <a:ext cx="2133600" cy="102870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63D02BE-23FA-C075-E754-AA4F2C888C25}"/>
              </a:ext>
            </a:extLst>
          </p:cNvPr>
          <p:cNvSpPr/>
          <p:nvPr/>
        </p:nvSpPr>
        <p:spPr>
          <a:xfrm>
            <a:off x="3219450" y="3219450"/>
            <a:ext cx="2133600" cy="102870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1954F49-7016-66C2-A6B8-4CF005172DCE}"/>
              </a:ext>
            </a:extLst>
          </p:cNvPr>
          <p:cNvSpPr/>
          <p:nvPr/>
        </p:nvSpPr>
        <p:spPr>
          <a:xfrm>
            <a:off x="5753100" y="3219450"/>
            <a:ext cx="2133600" cy="102870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B88245-496E-25BD-AF0E-9415B4767388}"/>
              </a:ext>
            </a:extLst>
          </p:cNvPr>
          <p:cNvSpPr txBox="1"/>
          <p:nvPr/>
        </p:nvSpPr>
        <p:spPr>
          <a:xfrm>
            <a:off x="857250" y="3390900"/>
            <a:ext cx="18097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用户闭环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8BC5034-45E8-5BAB-EF8D-BD96B5597CFC}"/>
              </a:ext>
            </a:extLst>
          </p:cNvPr>
          <p:cNvSpPr txBox="1"/>
          <p:nvPr/>
        </p:nvSpPr>
        <p:spPr>
          <a:xfrm>
            <a:off x="857250" y="3695700"/>
            <a:ext cx="18097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开户、验证、充值、购买、到账都能走通。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4946D1A-1A0D-5C9E-8DA9-7FA287AED762}"/>
              </a:ext>
            </a:extLst>
          </p:cNvPr>
          <p:cNvSpPr txBox="1"/>
          <p:nvPr/>
        </p:nvSpPr>
        <p:spPr>
          <a:xfrm>
            <a:off x="3390900" y="3390900"/>
            <a:ext cx="18097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开发者闭环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E257E8-2284-812A-BE6D-B6633084A968}"/>
              </a:ext>
            </a:extLst>
          </p:cNvPr>
          <p:cNvSpPr txBox="1"/>
          <p:nvPr/>
        </p:nvSpPr>
        <p:spPr>
          <a:xfrm>
            <a:off x="3390900" y="3695700"/>
            <a:ext cx="18097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商家后端可返回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402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，并依赖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verify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结果放行。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2AAB72A-5AE2-7951-1241-BE0BD391BD7F}"/>
              </a:ext>
            </a:extLst>
          </p:cNvPr>
          <p:cNvSpPr txBox="1"/>
          <p:nvPr/>
        </p:nvSpPr>
        <p:spPr>
          <a:xfrm>
            <a:off x="5924550" y="3390900"/>
            <a:ext cx="18097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平台闭环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24030B7-75B9-E5D8-CE93-67C4B5DF5216}"/>
              </a:ext>
            </a:extLst>
          </p:cNvPr>
          <p:cNvSpPr txBox="1"/>
          <p:nvPr/>
        </p:nvSpPr>
        <p:spPr>
          <a:xfrm>
            <a:off x="5924550" y="3695700"/>
            <a:ext cx="18097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微服务、消息流与云端部署可稳定演示。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49277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810156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最终成果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04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C19BFA04-39D6-A670-981E-1FD801F27D06}"/>
              </a:ext>
            </a:extLst>
          </p:cNvPr>
          <p:cNvSpPr txBox="1"/>
          <p:nvPr/>
        </p:nvSpPr>
        <p:spPr>
          <a:xfrm>
            <a:off x="419100" y="552450"/>
            <a:ext cx="7429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3.1 </a:t>
            </a:r>
            <a:r>
              <a:rPr lang="zh-CN" altLang="en-US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用户侧闭环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D90D68-CF1A-60D8-6EB3-663958394709}"/>
              </a:ext>
            </a:extLst>
          </p:cNvPr>
          <p:cNvSpPr txBox="1"/>
          <p:nvPr/>
        </p:nvSpPr>
        <p:spPr>
          <a:xfrm>
            <a:off x="457200" y="1028700"/>
            <a:ext cx="7810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从用户视角看，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StablePay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最关键的价值是把“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自己买东西”这件事，做成了可感知的一条顺滑流程。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4B938CE-7A96-15A9-9C2E-62042367F991}"/>
              </a:ext>
            </a:extLst>
          </p:cNvPr>
          <p:cNvSpPr/>
          <p:nvPr/>
        </p:nvSpPr>
        <p:spPr>
          <a:xfrm>
            <a:off x="495300" y="1428750"/>
            <a:ext cx="99060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37B2FD-741A-E130-B113-7D193591ED13}"/>
              </a:ext>
            </a:extLst>
          </p:cNvPr>
          <p:cNvSpPr txBox="1"/>
          <p:nvPr/>
        </p:nvSpPr>
        <p:spPr>
          <a:xfrm>
            <a:off x="590550" y="150495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1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817438-8F76-3FED-E2F1-C7017C974F04}"/>
              </a:ext>
            </a:extLst>
          </p:cNvPr>
          <p:cNvSpPr txBox="1"/>
          <p:nvPr/>
        </p:nvSpPr>
        <p:spPr>
          <a:xfrm>
            <a:off x="895350" y="1504950"/>
            <a:ext cx="4762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安装插件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4C1EC0-7F80-E961-2FCA-62B1EFDAC3C0}"/>
              </a:ext>
            </a:extLst>
          </p:cNvPr>
          <p:cNvSpPr txBox="1"/>
          <p:nvPr/>
        </p:nvSpPr>
        <p:spPr>
          <a:xfrm>
            <a:off x="609600" y="1790700"/>
            <a:ext cx="7620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用户说一句“帮我初始化 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StablePay 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插件”。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4CEE497-5C56-37E3-2FF3-D4F6C65A34E3}"/>
              </a:ext>
            </a:extLst>
          </p:cNvPr>
          <p:cNvSpPr/>
          <p:nvPr/>
        </p:nvSpPr>
        <p:spPr>
          <a:xfrm>
            <a:off x="1581150" y="1428750"/>
            <a:ext cx="99060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717E9E-39C9-7546-C48D-EC4E811C2459}"/>
              </a:ext>
            </a:extLst>
          </p:cNvPr>
          <p:cNvSpPr txBox="1"/>
          <p:nvPr/>
        </p:nvSpPr>
        <p:spPr>
          <a:xfrm>
            <a:off x="1676400" y="150495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2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4D4560-EDCD-BD4C-8810-F35FF2021961}"/>
              </a:ext>
            </a:extLst>
          </p:cNvPr>
          <p:cNvSpPr txBox="1"/>
          <p:nvPr/>
        </p:nvSpPr>
        <p:spPr>
          <a:xfrm>
            <a:off x="1981200" y="1504950"/>
            <a:ext cx="4762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自动开户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607DC99-6C31-FBEC-B77C-1A60A0C5073E}"/>
              </a:ext>
            </a:extLst>
          </p:cNvPr>
          <p:cNvSpPr txBox="1"/>
          <p:nvPr/>
        </p:nvSpPr>
        <p:spPr>
          <a:xfrm>
            <a:off x="1695450" y="1790700"/>
            <a:ext cx="7620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创建本地钱包并注册 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DID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1567E16-2091-A1B1-04D1-30FACDD9227D}"/>
              </a:ext>
            </a:extLst>
          </p:cNvPr>
          <p:cNvSpPr/>
          <p:nvPr/>
        </p:nvSpPr>
        <p:spPr>
          <a:xfrm>
            <a:off x="2667000" y="1428750"/>
            <a:ext cx="99060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C6FDDD3-E346-B08C-0D4C-8834DC1053CD}"/>
              </a:ext>
            </a:extLst>
          </p:cNvPr>
          <p:cNvSpPr txBox="1"/>
          <p:nvPr/>
        </p:nvSpPr>
        <p:spPr>
          <a:xfrm>
            <a:off x="2762250" y="150495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3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854F6F1-1164-A0C1-DA1D-1437F7D754E9}"/>
              </a:ext>
            </a:extLst>
          </p:cNvPr>
          <p:cNvSpPr txBox="1"/>
          <p:nvPr/>
        </p:nvSpPr>
        <p:spPr>
          <a:xfrm>
            <a:off x="3067050" y="1504950"/>
            <a:ext cx="4762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跳转验证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9C1FC5-0A68-95E6-6C0C-4CA07271D89F}"/>
              </a:ext>
            </a:extLst>
          </p:cNvPr>
          <p:cNvSpPr txBox="1"/>
          <p:nvPr/>
        </p:nvSpPr>
        <p:spPr>
          <a:xfrm>
            <a:off x="2781300" y="1790700"/>
            <a:ext cx="7620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打开 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verify 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链接完成 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 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绑定。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8731730-B0BA-2DCE-C102-A1BEDBA9D317}"/>
              </a:ext>
            </a:extLst>
          </p:cNvPr>
          <p:cNvSpPr/>
          <p:nvPr/>
        </p:nvSpPr>
        <p:spPr>
          <a:xfrm>
            <a:off x="3752850" y="1428750"/>
            <a:ext cx="99060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9ACFB4-7E2C-2EB0-B96B-826FD2BA4B76}"/>
              </a:ext>
            </a:extLst>
          </p:cNvPr>
          <p:cNvSpPr txBox="1"/>
          <p:nvPr/>
        </p:nvSpPr>
        <p:spPr>
          <a:xfrm>
            <a:off x="3848100" y="150495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4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3440C77-18AC-6EA1-51A3-B978BA4E9C8C}"/>
              </a:ext>
            </a:extLst>
          </p:cNvPr>
          <p:cNvSpPr txBox="1"/>
          <p:nvPr/>
        </p:nvSpPr>
        <p:spPr>
          <a:xfrm>
            <a:off x="4152900" y="1504950"/>
            <a:ext cx="4762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领取奖励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B4BBE0B-DBFB-3703-A1D5-7C8CC5B1EBDF}"/>
              </a:ext>
            </a:extLst>
          </p:cNvPr>
          <p:cNvSpPr txBox="1"/>
          <p:nvPr/>
        </p:nvSpPr>
        <p:spPr>
          <a:xfrm>
            <a:off x="3867150" y="1790700"/>
            <a:ext cx="7620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Verify &amp; Claim 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后收到 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 USDC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DD49B1A-83E4-E9D6-F0AE-2D5FC504D7BF}"/>
              </a:ext>
            </a:extLst>
          </p:cNvPr>
          <p:cNvSpPr/>
          <p:nvPr/>
        </p:nvSpPr>
        <p:spPr>
          <a:xfrm>
            <a:off x="4838700" y="1428750"/>
            <a:ext cx="99060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A0C2F0F-7690-ACB4-20D6-68A1DB0A70E6}"/>
              </a:ext>
            </a:extLst>
          </p:cNvPr>
          <p:cNvSpPr txBox="1"/>
          <p:nvPr/>
        </p:nvSpPr>
        <p:spPr>
          <a:xfrm>
            <a:off x="4933950" y="150495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5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627F90C-E364-E892-F900-1BCAEE2DBCB5}"/>
              </a:ext>
            </a:extLst>
          </p:cNvPr>
          <p:cNvSpPr txBox="1"/>
          <p:nvPr/>
        </p:nvSpPr>
        <p:spPr>
          <a:xfrm>
            <a:off x="5238750" y="1504950"/>
            <a:ext cx="4762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配置限额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7F40D1B-A4C7-2F73-5739-5D4AD6119236}"/>
              </a:ext>
            </a:extLst>
          </p:cNvPr>
          <p:cNvSpPr txBox="1"/>
          <p:nvPr/>
        </p:nvSpPr>
        <p:spPr>
          <a:xfrm>
            <a:off x="4953000" y="1790700"/>
            <a:ext cx="7620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设置 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50 USDC 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总限额与 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 USDC 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自动阈值。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3210983-DA07-F591-F080-9E0F65DF9EC6}"/>
              </a:ext>
            </a:extLst>
          </p:cNvPr>
          <p:cNvSpPr/>
          <p:nvPr/>
        </p:nvSpPr>
        <p:spPr>
          <a:xfrm>
            <a:off x="5924550" y="1428750"/>
            <a:ext cx="99060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0963927-CE88-FD00-1E97-6EB8395172DA}"/>
              </a:ext>
            </a:extLst>
          </p:cNvPr>
          <p:cNvSpPr txBox="1"/>
          <p:nvPr/>
        </p:nvSpPr>
        <p:spPr>
          <a:xfrm>
            <a:off x="6019800" y="150495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6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57B5BAD-8760-93FF-618E-816AD55BDD21}"/>
              </a:ext>
            </a:extLst>
          </p:cNvPr>
          <p:cNvSpPr txBox="1"/>
          <p:nvPr/>
        </p:nvSpPr>
        <p:spPr>
          <a:xfrm>
            <a:off x="6324600" y="1504950"/>
            <a:ext cx="4762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自动小额购买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6D56C08-4E79-A05A-30A4-58AA06EDD342}"/>
              </a:ext>
            </a:extLst>
          </p:cNvPr>
          <p:cNvSpPr txBox="1"/>
          <p:nvPr/>
        </p:nvSpPr>
        <p:spPr>
          <a:xfrm>
            <a:off x="6038850" y="1790700"/>
            <a:ext cx="7620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购买 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 USDC Skill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自动完成支付。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EA7F67E-D2C1-F0EE-9E36-58AB974344A5}"/>
              </a:ext>
            </a:extLst>
          </p:cNvPr>
          <p:cNvSpPr/>
          <p:nvPr/>
        </p:nvSpPr>
        <p:spPr>
          <a:xfrm>
            <a:off x="7010400" y="1428750"/>
            <a:ext cx="990600" cy="9715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AF1E39D-C90C-B1B8-DB08-7BF25D03F649}"/>
              </a:ext>
            </a:extLst>
          </p:cNvPr>
          <p:cNvSpPr txBox="1"/>
          <p:nvPr/>
        </p:nvSpPr>
        <p:spPr>
          <a:xfrm>
            <a:off x="7105650" y="1504950"/>
            <a:ext cx="228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0B128B"/>
                </a:solidFill>
                <a:latin typeface="Georgia" panose="02040502050405020303" pitchFamily="18" charset="0"/>
              </a:rPr>
              <a:t>7</a:t>
            </a:r>
            <a:endParaRPr lang="zh-CN" altLang="en-US" b="1">
              <a:solidFill>
                <a:srgbClr val="0B128B"/>
              </a:solidFill>
              <a:latin typeface="Georgia" panose="02040502050405020303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F81EE3A-D8F6-555B-E190-D4AB7D2F5B05}"/>
              </a:ext>
            </a:extLst>
          </p:cNvPr>
          <p:cNvSpPr txBox="1"/>
          <p:nvPr/>
        </p:nvSpPr>
        <p:spPr>
          <a:xfrm>
            <a:off x="7410450" y="1504950"/>
            <a:ext cx="4762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大额人工确认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2FE31A7-0C76-EC36-1BC5-6D8428A73978}"/>
              </a:ext>
            </a:extLst>
          </p:cNvPr>
          <p:cNvSpPr txBox="1"/>
          <p:nvPr/>
        </p:nvSpPr>
        <p:spPr>
          <a:xfrm>
            <a:off x="7124700" y="1790700"/>
            <a:ext cx="7620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购买 </a:t>
            </a:r>
            <a:r>
              <a:rPr lang="en-US" altLang="zh-CN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15 USDC Skill </a:t>
            </a:r>
            <a:r>
              <a:rPr lang="zh-CN" altLang="en-US" sz="11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时弹确认，再完成扣款。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F129CEEE-8BF7-E86F-1C84-605CF4422496}"/>
              </a:ext>
            </a:extLst>
          </p:cNvPr>
          <p:cNvSpPr/>
          <p:nvPr/>
        </p:nvSpPr>
        <p:spPr>
          <a:xfrm>
            <a:off x="876300" y="2724150"/>
            <a:ext cx="3162300" cy="140970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5A15B423-F282-E918-D1A9-970C8ABA774D}"/>
              </a:ext>
            </a:extLst>
          </p:cNvPr>
          <p:cNvSpPr/>
          <p:nvPr/>
        </p:nvSpPr>
        <p:spPr>
          <a:xfrm>
            <a:off x="4495800" y="2724150"/>
            <a:ext cx="3162300" cy="1409700"/>
          </a:xfrm>
          <a:prstGeom prst="roundRect">
            <a:avLst/>
          </a:prstGeom>
          <a:solidFill>
            <a:srgbClr val="FBF5EE"/>
          </a:solidFill>
          <a:ln w="9525">
            <a:solidFill>
              <a:srgbClr val="EEDA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1FB5F1A-ADA7-29F7-84E4-A88274CC53E1}"/>
              </a:ext>
            </a:extLst>
          </p:cNvPr>
          <p:cNvSpPr txBox="1"/>
          <p:nvPr/>
        </p:nvSpPr>
        <p:spPr>
          <a:xfrm>
            <a:off x="1047750" y="2914650"/>
            <a:ext cx="2781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自动支付场景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21FB738-FD69-AFB1-2979-BF1DA096B1EB}"/>
              </a:ext>
            </a:extLst>
          </p:cNvPr>
          <p:cNvSpPr txBox="1"/>
          <p:nvPr/>
        </p:nvSpPr>
        <p:spPr>
          <a:xfrm>
            <a:off x="1047750" y="3238500"/>
            <a:ext cx="272415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3 USDC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商品低于自动阈值，客户端直接签名支付</a:t>
            </a:r>
          </a:p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支付后余额从 </a:t>
            </a: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50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降到 </a:t>
            </a: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47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，形成清晰结果反馈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41E1A7C-F3AB-D238-FB88-4AA288551A99}"/>
              </a:ext>
            </a:extLst>
          </p:cNvPr>
          <p:cNvSpPr txBox="1"/>
          <p:nvPr/>
        </p:nvSpPr>
        <p:spPr>
          <a:xfrm>
            <a:off x="4667250" y="2914650"/>
            <a:ext cx="2781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7C55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确认支付场景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DC24EB4-403F-76DE-9667-B26C5FFFD347}"/>
              </a:ext>
            </a:extLst>
          </p:cNvPr>
          <p:cNvSpPr txBox="1"/>
          <p:nvPr/>
        </p:nvSpPr>
        <p:spPr>
          <a:xfrm>
            <a:off x="4667250" y="3238500"/>
            <a:ext cx="272415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15 USDC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商品超过阈值，不允许 </a:t>
            </a: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LLM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自己做主</a:t>
            </a:r>
          </a:p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用户确认后再执行，余额从 </a:t>
            </a: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47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降到 </a:t>
            </a: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32</a:t>
            </a:r>
            <a:endParaRPr lang="zh-CN" altLang="en-US" sz="1280">
              <a:solidFill>
                <a:srgbClr val="4C4C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49277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810156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最终成果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04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E1A5AFD1-FD2D-1653-2BD3-649C6D853638}"/>
              </a:ext>
            </a:extLst>
          </p:cNvPr>
          <p:cNvSpPr txBox="1"/>
          <p:nvPr/>
        </p:nvSpPr>
        <p:spPr>
          <a:xfrm>
            <a:off x="419100" y="552450"/>
            <a:ext cx="7429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3.2 </a:t>
            </a:r>
            <a:r>
              <a:rPr lang="zh-CN" altLang="en-US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开发者侧闭环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D575BDF-F18D-E3B8-1A19-2A2EDB001957}"/>
              </a:ext>
            </a:extLst>
          </p:cNvPr>
          <p:cNvSpPr txBox="1"/>
          <p:nvPr/>
        </p:nvSpPr>
        <p:spPr>
          <a:xfrm>
            <a:off x="457200" y="1028700"/>
            <a:ext cx="7810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我们同时验证了商家接入路径。样例商家后端不是“假装接入”，而是真的把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StablePay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当作一个外部支付底座来调用。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43506FA-3941-6898-AB8F-3E60EDA0B413}"/>
              </a:ext>
            </a:extLst>
          </p:cNvPr>
          <p:cNvSpPr/>
          <p:nvPr/>
        </p:nvSpPr>
        <p:spPr>
          <a:xfrm>
            <a:off x="571500" y="1428750"/>
            <a:ext cx="3238500" cy="27241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B477ED-DAD8-91F6-6869-D28D7F63AEE7}"/>
              </a:ext>
            </a:extLst>
          </p:cNvPr>
          <p:cNvSpPr txBox="1"/>
          <p:nvPr/>
        </p:nvSpPr>
        <p:spPr>
          <a:xfrm>
            <a:off x="762000" y="1619250"/>
            <a:ext cx="2857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9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接入步骤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BF3301-E2BC-AA24-F757-C682EB152859}"/>
              </a:ext>
            </a:extLst>
          </p:cNvPr>
          <p:cNvSpPr txBox="1"/>
          <p:nvPr/>
        </p:nvSpPr>
        <p:spPr>
          <a:xfrm>
            <a:off x="762000" y="1962150"/>
            <a:ext cx="272415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开发者创建钱包并注册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Skill DID</a:t>
            </a:r>
          </a:p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把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SKILL_DID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写进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skill.md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或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merchant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配置</a:t>
            </a:r>
          </a:p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merchant backend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/execute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先调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Verification /verify</a:t>
            </a:r>
          </a:p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未购买时返回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402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，让客户端走支付重试链路</a:t>
            </a:r>
          </a:p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支付完成后重试业务请求，最终返回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200</a:t>
            </a:r>
            <a:endParaRPr lang="zh-CN" altLang="en-US" sz="1300">
              <a:solidFill>
                <a:srgbClr val="4C4C4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9BA4BC1-CF5F-F494-9D71-8FF2881871C6}"/>
              </a:ext>
            </a:extLst>
          </p:cNvPr>
          <p:cNvSpPr/>
          <p:nvPr/>
        </p:nvSpPr>
        <p:spPr>
          <a:xfrm>
            <a:off x="4095750" y="1428750"/>
            <a:ext cx="3829050" cy="2724150"/>
          </a:xfrm>
          <a:prstGeom prst="roundRect">
            <a:avLst/>
          </a:prstGeom>
          <a:solidFill>
            <a:srgbClr val="FBF5EE"/>
          </a:solidFill>
          <a:ln w="9525">
            <a:solidFill>
              <a:srgbClr val="EEDA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4F8EFC7-51F1-1C03-6C46-F20C3A0E2B9C}"/>
              </a:ext>
            </a:extLst>
          </p:cNvPr>
          <p:cNvSpPr txBox="1"/>
          <p:nvPr/>
        </p:nvSpPr>
        <p:spPr>
          <a:xfrm>
            <a:off x="4305300" y="161925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900" b="1">
                <a:solidFill>
                  <a:srgbClr val="7C55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为什么这条闭环重要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83D2FD-8BE3-CED7-30DA-0309441E9F8B}"/>
              </a:ext>
            </a:extLst>
          </p:cNvPr>
          <p:cNvSpPr txBox="1"/>
          <p:nvPr/>
        </p:nvSpPr>
        <p:spPr>
          <a:xfrm>
            <a:off x="4305300" y="1962150"/>
            <a:ext cx="3162300" cy="1733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商家不需要自己做链上支付，只需要会返回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402 challenge</a:t>
            </a:r>
          </a:p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StablePay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客户端拦截、签名、支付、重试全部自动完成</a:t>
            </a:r>
          </a:p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商家只关心“这个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有没有买过”，而不是钱包细节</a:t>
            </a:r>
          </a:p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这证明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StablePay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可以作为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Skill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市场的支付底层被复用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649277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810156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最终成果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04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E066DE45-81C0-FC3C-EDEB-C21B19EB9DAE}"/>
              </a:ext>
            </a:extLst>
          </p:cNvPr>
          <p:cNvSpPr txBox="1"/>
          <p:nvPr/>
        </p:nvSpPr>
        <p:spPr>
          <a:xfrm>
            <a:off x="419100" y="552450"/>
            <a:ext cx="7429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3.3 </a:t>
            </a:r>
            <a:r>
              <a:rPr lang="zh-CN" altLang="en-US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后端与云上运行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FD30BB-8701-1E97-BE15-E4C6416A48C8}"/>
              </a:ext>
            </a:extLst>
          </p:cNvPr>
          <p:cNvSpPr txBox="1"/>
          <p:nvPr/>
        </p:nvSpPr>
        <p:spPr>
          <a:xfrm>
            <a:off x="457200" y="1028700"/>
            <a:ext cx="7810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这一页先为你的实拍图留坑位。建议后续补上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kubectl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ACK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控制台、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ACR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镜像列表和域名访问结果四类截图。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E61FCE-0362-31C2-7FA1-6F52E0E12CA9}"/>
              </a:ext>
            </a:extLst>
          </p:cNvPr>
          <p:cNvSpPr/>
          <p:nvPr/>
        </p:nvSpPr>
        <p:spPr>
          <a:xfrm>
            <a:off x="533400" y="1428750"/>
            <a:ext cx="2362200" cy="1485900"/>
          </a:xfrm>
          <a:prstGeom prst="roundRect">
            <a:avLst/>
          </a:prstGeom>
          <a:solidFill>
            <a:srgbClr val="EEF5F8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23707F0-F499-9C09-DB0B-15C6108E1A5B}"/>
              </a:ext>
            </a:extLst>
          </p:cNvPr>
          <p:cNvSpPr/>
          <p:nvPr/>
        </p:nvSpPr>
        <p:spPr>
          <a:xfrm>
            <a:off x="3067050" y="1428750"/>
            <a:ext cx="2362200" cy="1485900"/>
          </a:xfrm>
          <a:prstGeom prst="roundRect">
            <a:avLst/>
          </a:prstGeom>
          <a:solidFill>
            <a:srgbClr val="EEF5F8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DFBC68F-A6B4-1F32-70E2-C4BEBCEBA0AF}"/>
              </a:ext>
            </a:extLst>
          </p:cNvPr>
          <p:cNvSpPr/>
          <p:nvPr/>
        </p:nvSpPr>
        <p:spPr>
          <a:xfrm>
            <a:off x="5600700" y="1428750"/>
            <a:ext cx="2362200" cy="1485900"/>
          </a:xfrm>
          <a:prstGeom prst="roundRect">
            <a:avLst/>
          </a:prstGeom>
          <a:solidFill>
            <a:srgbClr val="EEF5F8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F91D49-2D01-5759-16F6-B78D9AB5A180}"/>
              </a:ext>
            </a:extLst>
          </p:cNvPr>
          <p:cNvSpPr txBox="1"/>
          <p:nvPr/>
        </p:nvSpPr>
        <p:spPr>
          <a:xfrm>
            <a:off x="914400" y="2076450"/>
            <a:ext cx="16002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700" b="1">
                <a:solidFill>
                  <a:srgbClr val="5D718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ACR </a:t>
            </a:r>
            <a:r>
              <a:rPr lang="zh-CN" altLang="en-US" sz="1700" b="1">
                <a:solidFill>
                  <a:srgbClr val="5D718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镜像列表截图位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CDC908-E5A7-0F49-71A1-5624F290DC35}"/>
              </a:ext>
            </a:extLst>
          </p:cNvPr>
          <p:cNvSpPr txBox="1"/>
          <p:nvPr/>
        </p:nvSpPr>
        <p:spPr>
          <a:xfrm>
            <a:off x="3448050" y="2076450"/>
            <a:ext cx="16002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700" b="1">
                <a:solidFill>
                  <a:srgbClr val="5D718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ACK Pod / Service </a:t>
            </a:r>
            <a:r>
              <a:rPr lang="zh-CN" altLang="en-US" sz="1700" b="1">
                <a:solidFill>
                  <a:srgbClr val="5D718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截图位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39FFB6-E73C-7503-0F04-16513394A2CE}"/>
              </a:ext>
            </a:extLst>
          </p:cNvPr>
          <p:cNvSpPr txBox="1"/>
          <p:nvPr/>
        </p:nvSpPr>
        <p:spPr>
          <a:xfrm>
            <a:off x="5981700" y="2076450"/>
            <a:ext cx="16002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700" b="1">
                <a:solidFill>
                  <a:srgbClr val="5D718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Ingress / </a:t>
            </a:r>
            <a:r>
              <a:rPr lang="zh-CN" altLang="en-US" sz="1700" b="1">
                <a:solidFill>
                  <a:srgbClr val="5D718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域名访问截图位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039D8E8-3598-103E-90B5-8E17CF67EB59}"/>
              </a:ext>
            </a:extLst>
          </p:cNvPr>
          <p:cNvSpPr/>
          <p:nvPr/>
        </p:nvSpPr>
        <p:spPr>
          <a:xfrm>
            <a:off x="742950" y="3181350"/>
            <a:ext cx="7010400" cy="11620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234048-BAC2-5B09-AC78-FC323313C614}"/>
              </a:ext>
            </a:extLst>
          </p:cNvPr>
          <p:cNvSpPr txBox="1"/>
          <p:nvPr/>
        </p:nvSpPr>
        <p:spPr>
          <a:xfrm>
            <a:off x="971550" y="3390900"/>
            <a:ext cx="6477000" cy="742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可以现场敲：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kubectl get pods -n zheda-agent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kubectl get ingress -n zheda-agent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kubectl rollout status deployment/&lt;svc&gt;</a:t>
            </a:r>
          </a:p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讲法重点不是命令本身，而是“服务在跑、入口可达、版本能滚动更新、异常能回滚”</a:t>
            </a:r>
          </a:p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如果时间紧，这页甚至只放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张全景截图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+ 3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条结果结论就够了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323627" y="0"/>
            <a:ext cx="168266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468336" y="215903"/>
            <a:ext cx="135744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08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025FA6F5-FF1E-786D-4E33-E4E70F7DE841}"/>
              </a:ext>
            </a:extLst>
          </p:cNvPr>
          <p:cNvSpPr txBox="1"/>
          <p:nvPr/>
        </p:nvSpPr>
        <p:spPr>
          <a:xfrm>
            <a:off x="419100" y="552450"/>
            <a:ext cx="7429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4. </a:t>
            </a:r>
            <a:r>
              <a:rPr lang="zh-CN" altLang="en-US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总结与展望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7C721A2-23D7-31E3-191A-E28964FB0212}"/>
              </a:ext>
            </a:extLst>
          </p:cNvPr>
          <p:cNvSpPr/>
          <p:nvPr/>
        </p:nvSpPr>
        <p:spPr>
          <a:xfrm>
            <a:off x="590550" y="1257300"/>
            <a:ext cx="1009650" cy="228600"/>
          </a:xfrm>
          <a:prstGeom prst="rect">
            <a:avLst/>
          </a:prstGeom>
          <a:solidFill>
            <a:srgbClr val="0B12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复盘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664FAB-C845-A5E0-1EA1-962A8104DEF0}"/>
              </a:ext>
            </a:extLst>
          </p:cNvPr>
          <p:cNvSpPr txBox="1"/>
          <p:nvPr/>
        </p:nvSpPr>
        <p:spPr>
          <a:xfrm>
            <a:off x="590550" y="1657350"/>
            <a:ext cx="72390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6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项目已经证明：</a:t>
            </a:r>
            <a:r>
              <a:rPr lang="en-US" altLang="zh-CN" sz="26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2600" b="1">
                <a:solidFill>
                  <a:srgbClr val="2F2F2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自主支付这件事，不只是概念，已经能被拆成可工程化落地的一整套系统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F7DB85-4C05-DC42-3F1D-A6ADE5FB9B87}"/>
              </a:ext>
            </a:extLst>
          </p:cNvPr>
          <p:cNvSpPr txBox="1"/>
          <p:nvPr/>
        </p:nvSpPr>
        <p:spPr>
          <a:xfrm>
            <a:off x="590550" y="2514600"/>
            <a:ext cx="72771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37445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最后部分建议讲三件事：我们验证了什么、用户卡在哪里、接下来最值得继续做什么。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2E6BEC9-903E-15CB-6FF9-D100997FEAD7}"/>
              </a:ext>
            </a:extLst>
          </p:cNvPr>
          <p:cNvSpPr/>
          <p:nvPr/>
        </p:nvSpPr>
        <p:spPr>
          <a:xfrm>
            <a:off x="685800" y="3219450"/>
            <a:ext cx="2247900" cy="102870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5BFF452-5E35-EEAE-C516-559EE583C6E2}"/>
              </a:ext>
            </a:extLst>
          </p:cNvPr>
          <p:cNvSpPr/>
          <p:nvPr/>
        </p:nvSpPr>
        <p:spPr>
          <a:xfrm>
            <a:off x="3219450" y="3219450"/>
            <a:ext cx="2247900" cy="102870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05954D7-C744-EA46-70F1-5E77C94BEDB3}"/>
              </a:ext>
            </a:extLst>
          </p:cNvPr>
          <p:cNvSpPr/>
          <p:nvPr/>
        </p:nvSpPr>
        <p:spPr>
          <a:xfrm>
            <a:off x="5753100" y="3219450"/>
            <a:ext cx="2247900" cy="102870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439B2A-A459-B56C-8D5D-795FD2CFBD89}"/>
              </a:ext>
            </a:extLst>
          </p:cNvPr>
          <p:cNvSpPr txBox="1"/>
          <p:nvPr/>
        </p:nvSpPr>
        <p:spPr>
          <a:xfrm>
            <a:off x="857250" y="3390900"/>
            <a:ext cx="1885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验证了方向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E57D83D-999D-4E82-CD05-2FB0615037AC}"/>
              </a:ext>
            </a:extLst>
          </p:cNvPr>
          <p:cNvSpPr txBox="1"/>
          <p:nvPr/>
        </p:nvSpPr>
        <p:spPr>
          <a:xfrm>
            <a:off x="857250" y="3695700"/>
            <a:ext cx="18859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402 + DID +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稳定币结算，确实能支撑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购买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Skill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0F96448-FE67-E956-BA1F-8C7EAA037C22}"/>
              </a:ext>
            </a:extLst>
          </p:cNvPr>
          <p:cNvSpPr txBox="1"/>
          <p:nvPr/>
        </p:nvSpPr>
        <p:spPr>
          <a:xfrm>
            <a:off x="3390900" y="3390900"/>
            <a:ext cx="1885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暴露了瓶颈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83ACAF7-659B-672F-91D2-537F727C4A41}"/>
              </a:ext>
            </a:extLst>
          </p:cNvPr>
          <p:cNvSpPr txBox="1"/>
          <p:nvPr/>
        </p:nvSpPr>
        <p:spPr>
          <a:xfrm>
            <a:off x="3390900" y="3695700"/>
            <a:ext cx="18859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新手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onboarding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、资金获取和客户端生态覆盖仍是门槛。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C84A8D2-B958-07CE-18E1-29F65C9017BD}"/>
              </a:ext>
            </a:extLst>
          </p:cNvPr>
          <p:cNvSpPr txBox="1"/>
          <p:nvPr/>
        </p:nvSpPr>
        <p:spPr>
          <a:xfrm>
            <a:off x="5924550" y="3390900"/>
            <a:ext cx="1885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指向了下一步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17DD25-549A-19D8-9857-D0CA2ED4F744}"/>
              </a:ext>
            </a:extLst>
          </p:cNvPr>
          <p:cNvSpPr txBox="1"/>
          <p:nvPr/>
        </p:nvSpPr>
        <p:spPr>
          <a:xfrm>
            <a:off x="5924550" y="3695700"/>
            <a:ext cx="18859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MCP SDK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capability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复用、更多商家场景会把它推向平台化。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323627" y="0"/>
            <a:ext cx="168266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468336" y="215903"/>
            <a:ext cx="135744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08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5E356783-C4A1-29A1-375F-427B6E37C313}"/>
              </a:ext>
            </a:extLst>
          </p:cNvPr>
          <p:cNvSpPr txBox="1"/>
          <p:nvPr/>
        </p:nvSpPr>
        <p:spPr>
          <a:xfrm>
            <a:off x="419100" y="552450"/>
            <a:ext cx="7429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4.1 </a:t>
            </a:r>
            <a:r>
              <a:rPr lang="zh-CN" altLang="en-US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用户测试反馈与改进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DE5339-0D50-B3CD-B78D-3F98948621AF}"/>
              </a:ext>
            </a:extLst>
          </p:cNvPr>
          <p:cNvSpPr txBox="1"/>
          <p:nvPr/>
        </p:nvSpPr>
        <p:spPr>
          <a:xfrm>
            <a:off x="457200" y="1028700"/>
            <a:ext cx="7810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我们一共做了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人测试，最有价值的不是“顺不顺”，而是看清楚不同用户在什么地方卡住。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7F3AB90-ADF5-B071-C55E-6F7DCCC4D70C}"/>
              </a:ext>
            </a:extLst>
          </p:cNvPr>
          <p:cNvSpPr/>
          <p:nvPr/>
        </p:nvSpPr>
        <p:spPr>
          <a:xfrm>
            <a:off x="514350" y="1428750"/>
            <a:ext cx="2438400" cy="26479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0E7691-FD0E-3F7B-C7D3-FC6F6226B6C0}"/>
              </a:ext>
            </a:extLst>
          </p:cNvPr>
          <p:cNvSpPr/>
          <p:nvPr/>
        </p:nvSpPr>
        <p:spPr>
          <a:xfrm>
            <a:off x="3086100" y="1428750"/>
            <a:ext cx="2438400" cy="26479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17FA6C1-5D27-C4A9-BAF2-1F6DBE315C5F}"/>
              </a:ext>
            </a:extLst>
          </p:cNvPr>
          <p:cNvSpPr/>
          <p:nvPr/>
        </p:nvSpPr>
        <p:spPr>
          <a:xfrm>
            <a:off x="5657850" y="1428750"/>
            <a:ext cx="2438400" cy="2647950"/>
          </a:xfrm>
          <a:prstGeom prst="roundRect">
            <a:avLst/>
          </a:prstGeom>
          <a:solidFill>
            <a:srgbClr val="FBF5EE"/>
          </a:solidFill>
          <a:ln w="9525">
            <a:solidFill>
              <a:srgbClr val="EEDA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EDCD902-986D-8E36-3F1F-F9A8B4312AF2}"/>
              </a:ext>
            </a:extLst>
          </p:cNvPr>
          <p:cNvSpPr txBox="1"/>
          <p:nvPr/>
        </p:nvSpPr>
        <p:spPr>
          <a:xfrm>
            <a:off x="685800" y="1619250"/>
            <a:ext cx="2095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用户画像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4CC082F-91F6-6AD1-2C78-BDB82F0523C8}"/>
              </a:ext>
            </a:extLst>
          </p:cNvPr>
          <p:cNvSpPr txBox="1"/>
          <p:nvPr/>
        </p:nvSpPr>
        <p:spPr>
          <a:xfrm>
            <a:off x="685800" y="1943100"/>
            <a:ext cx="2019300" cy="163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纯小白：文档与 </a:t>
            </a: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onboarding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是生死线</a:t>
            </a:r>
          </a:p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理工科 </a:t>
            </a: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Coding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用户：配置能过，但 </a:t>
            </a: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USDC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获取困难</a:t>
            </a:r>
          </a:p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已有 </a:t>
            </a: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OpenClaw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用户：整体最顺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D1D1306-9EE1-E620-8A43-C9CCD507CD31}"/>
              </a:ext>
            </a:extLst>
          </p:cNvPr>
          <p:cNvSpPr txBox="1"/>
          <p:nvPr/>
        </p:nvSpPr>
        <p:spPr>
          <a:xfrm>
            <a:off x="3257550" y="1619250"/>
            <a:ext cx="2095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主要痛点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7C3BCB5-A91C-AED3-A4E3-05ECF55A3F7B}"/>
              </a:ext>
            </a:extLst>
          </p:cNvPr>
          <p:cNvSpPr txBox="1"/>
          <p:nvPr/>
        </p:nvSpPr>
        <p:spPr>
          <a:xfrm>
            <a:off x="3257550" y="1943100"/>
            <a:ext cx="2019300" cy="163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onboarding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中会跳过 </a:t>
            </a: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验证</a:t>
            </a:r>
          </a:p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奖励到账感知弱，闭环不强</a:t>
            </a:r>
          </a:p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1 USDC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启动资金门槛仍偏高</a:t>
            </a:r>
          </a:p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文档对非技术用户不够友好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B023282-211B-CF79-8B6F-46B304AB7622}"/>
              </a:ext>
            </a:extLst>
          </p:cNvPr>
          <p:cNvSpPr txBox="1"/>
          <p:nvPr/>
        </p:nvSpPr>
        <p:spPr>
          <a:xfrm>
            <a:off x="5829300" y="1619250"/>
            <a:ext cx="2095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7C55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对应改进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ED60CEF-BC2C-6B36-5AA9-BC41AE48985F}"/>
              </a:ext>
            </a:extLst>
          </p:cNvPr>
          <p:cNvSpPr txBox="1"/>
          <p:nvPr/>
        </p:nvSpPr>
        <p:spPr>
          <a:xfrm>
            <a:off x="5829300" y="1943100"/>
            <a:ext cx="2019300" cy="163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新增 </a:t>
            </a: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x_verification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 </a:t>
            </a: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reward_claim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步骤</a:t>
            </a:r>
          </a:p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余额轮询确认奖励到账</a:t>
            </a:r>
          </a:p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手动水龙头 </a:t>
            </a: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礼品码页面增强激励</a:t>
            </a:r>
          </a:p>
          <a:p>
            <a:pPr>
              <a:spcAft>
                <a:spcPts val="400"/>
              </a:spcAft>
            </a:pP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 </a:t>
            </a:r>
            <a:r>
              <a:rPr lang="en-US" altLang="zh-CN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Mintlify + llms.txt + MCP </a:t>
            </a:r>
            <a:r>
              <a:rPr lang="zh-CN" altLang="en-US" sz="128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重写文档入口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9323627" y="0"/>
            <a:ext cx="168266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468336" y="215903"/>
            <a:ext cx="135744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08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2DB5A848-FC0A-2023-9EA4-205DD560817E}"/>
              </a:ext>
            </a:extLst>
          </p:cNvPr>
          <p:cNvSpPr txBox="1"/>
          <p:nvPr/>
        </p:nvSpPr>
        <p:spPr>
          <a:xfrm>
            <a:off x="419100" y="552450"/>
            <a:ext cx="7429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4.2 </a:t>
            </a:r>
            <a:r>
              <a:rPr lang="zh-CN" altLang="en-US" sz="2600" b="1">
                <a:solidFill>
                  <a:srgbClr val="933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技术栈收获与致谢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217832-87CC-2FC7-B340-7E2BF8D48288}"/>
              </a:ext>
            </a:extLst>
          </p:cNvPr>
          <p:cNvSpPr txBox="1"/>
          <p:nvPr/>
        </p:nvSpPr>
        <p:spPr>
          <a:xfrm>
            <a:off x="457200" y="1028700"/>
            <a:ext cx="7810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最后一页建议一半讲成长，一半讲感谢。这样既能收束技术价值，也能把合作支持清楚地交代出来。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DF42D3A-E031-A3B0-24F3-7D3482F224D9}"/>
              </a:ext>
            </a:extLst>
          </p:cNvPr>
          <p:cNvSpPr/>
          <p:nvPr/>
        </p:nvSpPr>
        <p:spPr>
          <a:xfrm>
            <a:off x="533400" y="1428750"/>
            <a:ext cx="3638550" cy="2724150"/>
          </a:xfrm>
          <a:prstGeom prst="roundRect">
            <a:avLst/>
          </a:prstGeom>
          <a:solidFill>
            <a:srgbClr val="EAF2F7"/>
          </a:solidFill>
          <a:ln w="9525">
            <a:solidFill>
              <a:srgbClr val="AEC7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C53041D-F6C1-07DE-3E68-7D1E80ACC75B}"/>
              </a:ext>
            </a:extLst>
          </p:cNvPr>
          <p:cNvSpPr/>
          <p:nvPr/>
        </p:nvSpPr>
        <p:spPr>
          <a:xfrm>
            <a:off x="4362450" y="1428750"/>
            <a:ext cx="3771900" cy="2724150"/>
          </a:xfrm>
          <a:prstGeom prst="roundRect">
            <a:avLst/>
          </a:prstGeom>
          <a:solidFill>
            <a:srgbClr val="FBF5EE"/>
          </a:solidFill>
          <a:ln w="9525">
            <a:solidFill>
              <a:srgbClr val="EEDA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0C0EFE-8310-3B25-EBE9-CAFFCB52E24B}"/>
              </a:ext>
            </a:extLst>
          </p:cNvPr>
          <p:cNvSpPr txBox="1"/>
          <p:nvPr/>
        </p:nvSpPr>
        <p:spPr>
          <a:xfrm>
            <a:off x="723900" y="1619250"/>
            <a:ext cx="1905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900" b="1">
                <a:solidFill>
                  <a:srgbClr val="2E415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技术栈与新体验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FA9561-8526-8EBA-071F-36C2B34FAF2E}"/>
              </a:ext>
            </a:extLst>
          </p:cNvPr>
          <p:cNvSpPr txBox="1"/>
          <p:nvPr/>
        </p:nvSpPr>
        <p:spPr>
          <a:xfrm>
            <a:off x="723900" y="1962150"/>
            <a:ext cx="3105150" cy="1771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第一次把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Kitex / Hertz / Thrift / RocketMQ / ACK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串成完整工程系统</a:t>
            </a:r>
          </a:p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学到的不是单点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API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，而是如何把支付、身份、链上、部署和客户端协作起来</a:t>
            </a:r>
          </a:p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真正体验了一次从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PRD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到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demo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再到上云运维的工程闭环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DB39606-8AC5-2867-32EA-3A34F9208A6E}"/>
              </a:ext>
            </a:extLst>
          </p:cNvPr>
          <p:cNvSpPr txBox="1"/>
          <p:nvPr/>
        </p:nvSpPr>
        <p:spPr>
          <a:xfrm>
            <a:off x="4552950" y="16192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900" b="1">
                <a:solidFill>
                  <a:srgbClr val="7C552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致谢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CAD0776-6951-78B6-7E30-318224196E0D}"/>
              </a:ext>
            </a:extLst>
          </p:cNvPr>
          <p:cNvSpPr txBox="1"/>
          <p:nvPr/>
        </p:nvSpPr>
        <p:spPr>
          <a:xfrm>
            <a:off x="4552950" y="1962150"/>
            <a:ext cx="3181350" cy="1771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感谢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StablePay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提供课题方向、技术方案支持与云资源</a:t>
            </a:r>
          </a:p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感谢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Jun Tan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在架构、排障与资源协调上的深度指导</a:t>
            </a:r>
          </a:p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感谢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X-Lab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提供真实项目实践机会</a:t>
            </a:r>
          </a:p>
          <a:p>
            <a:pPr>
              <a:spcAft>
                <a:spcPts val="400"/>
              </a:spcAft>
            </a:pP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感谢团队同学从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月到期末周持续投入，把 </a:t>
            </a:r>
            <a:r>
              <a:rPr lang="en-US" altLang="zh-CN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 </a:t>
            </a:r>
            <a:r>
              <a:rPr lang="zh-CN" altLang="en-US" sz="1300">
                <a:solidFill>
                  <a:srgbClr val="4C4C4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万行工程真正跑起来</a:t>
            </a:r>
          </a:p>
        </p:txBody>
      </p:sp>
    </p:spTree>
    <p:extLst>
      <p:ext uri="{BB962C8B-B14F-4D97-AF65-F5344CB8AC3E}">
        <p14:creationId xmlns:p14="http://schemas.microsoft.com/office/powerpoint/2010/main" val="856727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18475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5000000074505806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1457_1*m_h_i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1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1457_1*m_h_i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1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4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457_1*m_h_f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457_1*m_h_a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457_1*m_h_a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457_1*m_h_f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457_1*m_h_a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457_1*m_h_f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1457_1*m_h_i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4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9.45,&quot;left&quot;:39.95,&quot;top&quot;:306.4,&quot;width&quot;:182.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9.45,&quot;left&quot;:39.95,&quot;top&quot;:306.4,&quot;width&quot;:182.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9.45,&quot;left&quot;:39.95,&quot;top&quot;:306.4,&quot;width&quot;:182.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9.45,&quot;left&quot;:39.95,&quot;top&quot;:306.4,&quot;width&quot;:182.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9.45,&quot;left&quot;:39.95,&quot;top&quot;:306.4,&quot;width&quot;:182.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9.45,&quot;left&quot;:39.95,&quot;top&quot;:306.4,&quot;width&quot;:182.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9.45,&quot;left&quot;:39.95,&quot;top&quot;:306.4,&quot;width&quot;:182.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9.45,&quot;left&quot;:39.95,&quot;top&quot;:306.4,&quot;width&quot;:182.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9.45,&quot;left&quot;:39.95,&quot;top&quot;:306.4,&quot;width&quot;:182.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4472C4"/>
      </a:hlink>
      <a:folHlink>
        <a:srgbClr val="BFBFBF"/>
      </a:folHlink>
    </a:clrScheme>
    <a:fontScheme name="自定义 6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体母版">
  <a:themeElements>
    <a:clrScheme name="我给母校送模板配色1">
      <a:dk1>
        <a:sysClr val="windowText" lastClr="000000"/>
      </a:dk1>
      <a:lt1>
        <a:sysClr val="window" lastClr="FFFFFF"/>
      </a:lt1>
      <a:dk2>
        <a:srgbClr val="7F7F7F"/>
      </a:dk2>
      <a:lt2>
        <a:srgbClr val="FAFAFC"/>
      </a:lt2>
      <a:accent1>
        <a:srgbClr val="36456E"/>
      </a:accent1>
      <a:accent2>
        <a:srgbClr val="1D75AB"/>
      </a:accent2>
      <a:accent3>
        <a:srgbClr val="0EAEC4"/>
      </a:accent3>
      <a:accent4>
        <a:srgbClr val="EF5F2D"/>
      </a:accent4>
      <a:accent5>
        <a:srgbClr val="FBD533"/>
      </a:accent5>
      <a:accent6>
        <a:srgbClr val="D35AD2"/>
      </a:accent6>
      <a:hlink>
        <a:srgbClr val="7030A0"/>
      </a:hlink>
      <a:folHlink>
        <a:srgbClr val="FF0000"/>
      </a:folHlink>
    </a:clrScheme>
    <a:fontScheme name="我给母校送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F84D4D"/>
    </a:accent1>
    <a:accent2>
      <a:srgbClr val="FF6B42"/>
    </a:accent2>
    <a:accent3>
      <a:srgbClr val="5BA3EB"/>
    </a:accent3>
    <a:accent4>
      <a:srgbClr val="06BB9A"/>
    </a:accent4>
    <a:accent5>
      <a:srgbClr val="8E7EF0"/>
    </a:accent5>
    <a:accent6>
      <a:srgbClr val="F4B919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11975</Words>
  <Application>Microsoft Office PowerPoint</Application>
  <PresentationFormat>宽屏</PresentationFormat>
  <Paragraphs>733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Microsoft YaHei UI</vt:lpstr>
      <vt:lpstr>MicrosoftYaHei</vt:lpstr>
      <vt:lpstr>等线</vt:lpstr>
      <vt:lpstr>思源黑体 CN ExtraLight</vt:lpstr>
      <vt:lpstr>微软雅黑</vt:lpstr>
      <vt:lpstr>Arial</vt:lpstr>
      <vt:lpstr>Britannic Bold</vt:lpstr>
      <vt:lpstr>Calibri</vt:lpstr>
      <vt:lpstr>Consolas</vt:lpstr>
      <vt:lpstr>Georgia</vt:lpstr>
      <vt:lpstr>Segoe UI</vt:lpstr>
      <vt:lpstr>Times New Roman</vt:lpstr>
      <vt:lpstr>Wingdings</vt:lpstr>
      <vt:lpstr>Office 主题​​</vt:lpstr>
      <vt:lpstr>主体母版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Ge Biyan</dc:creator>
  <cp:lastModifiedBy>boen bao</cp:lastModifiedBy>
  <cp:revision>512</cp:revision>
  <dcterms:created xsi:type="dcterms:W3CDTF">2024-01-10T19:24:00Z</dcterms:created>
  <dcterms:modified xsi:type="dcterms:W3CDTF">2026-07-11T04:25:16Z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2052-12.1.0.26375</vt:lpwstr>
  </property>
</Properties>
</file>